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6.xml"/>
  <Override ContentType="application/vnd.openxmlformats-officedocument.presentationml.slide+xml" PartName="/ppt/slides/slide53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8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  <p:sldId id="306" r:id="rId56"/>
    <p:sldId id="307" r:id="rId57"/>
    <p:sldId id="308" r:id="rId58"/>
    <p:sldId id="309" r:id="rId59"/>
    <p:sldId id="310" r:id="rId60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slide" Target="slides/slide43.xml"/><Relationship Id="rId47" Type="http://schemas.openxmlformats.org/officeDocument/2006/relationships/slide" Target="slides/slide42.xml"/><Relationship Id="rId49" Type="http://schemas.openxmlformats.org/officeDocument/2006/relationships/slide" Target="slides/slide4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60" Type="http://schemas.openxmlformats.org/officeDocument/2006/relationships/slide" Target="slides/slide55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1" Type="http://schemas.openxmlformats.org/officeDocument/2006/relationships/slide" Target="slides/slide46.xml"/><Relationship Id="rId50" Type="http://schemas.openxmlformats.org/officeDocument/2006/relationships/slide" Target="slides/slide45.xml"/><Relationship Id="rId53" Type="http://schemas.openxmlformats.org/officeDocument/2006/relationships/slide" Target="slides/slide48.xml"/><Relationship Id="rId52" Type="http://schemas.openxmlformats.org/officeDocument/2006/relationships/slide" Target="slides/slide47.xml"/><Relationship Id="rId11" Type="http://schemas.openxmlformats.org/officeDocument/2006/relationships/slide" Target="slides/slide6.xml"/><Relationship Id="rId55" Type="http://schemas.openxmlformats.org/officeDocument/2006/relationships/slide" Target="slides/slide50.xml"/><Relationship Id="rId10" Type="http://schemas.openxmlformats.org/officeDocument/2006/relationships/slide" Target="slides/slide5.xml"/><Relationship Id="rId54" Type="http://schemas.openxmlformats.org/officeDocument/2006/relationships/slide" Target="slides/slide49.xml"/><Relationship Id="rId13" Type="http://schemas.openxmlformats.org/officeDocument/2006/relationships/slide" Target="slides/slide8.xml"/><Relationship Id="rId57" Type="http://schemas.openxmlformats.org/officeDocument/2006/relationships/slide" Target="slides/slide52.xml"/><Relationship Id="rId12" Type="http://schemas.openxmlformats.org/officeDocument/2006/relationships/slide" Target="slides/slide7.xml"/><Relationship Id="rId56" Type="http://schemas.openxmlformats.org/officeDocument/2006/relationships/slide" Target="slides/slide51.xml"/><Relationship Id="rId15" Type="http://schemas.openxmlformats.org/officeDocument/2006/relationships/slide" Target="slides/slide10.xml"/><Relationship Id="rId59" Type="http://schemas.openxmlformats.org/officeDocument/2006/relationships/slide" Target="slides/slide54.xml"/><Relationship Id="rId14" Type="http://schemas.openxmlformats.org/officeDocument/2006/relationships/slide" Target="slides/slide9.xml"/><Relationship Id="rId58" Type="http://schemas.openxmlformats.org/officeDocument/2006/relationships/slide" Target="slides/slide53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www.ifca.ai/pub/fc15/89750209.pdf" TargetMode="External"/><Relationship Id="rId3" Type="http://schemas.openxmlformats.org/officeDocument/2006/relationships/hyperlink" Target="https://github.com/facebookresearch/fbpcf" TargetMode="Externa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10d37c0233d_5_5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10d37c0233d_5_5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10854818530_0_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10854818530_0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“I can’t read this laptop without a key”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“Only John Hancock (or someone who stole his keys) could have produced this signature”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Also sometimes just verify that no cheating happened (no key)</a:t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10854818530_0_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10854818530_0_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10d37c0233d_5_2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10d37c0233d_5_2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108996a2ed5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108996a2ed5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10d37c0233d_3_2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10d37c0233d_3_2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This isn’t completely secret, for one simple reason and one complicated reason.  We’ll deal with both in a few slides.</a:t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10d37c0233d_3_2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Google Shape;134;g10d37c0233d_3_2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This isn’t completely secret, for one simple reason and one complicated reason.  We’ll deal with both in a few slides.</a:t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10d37c0233d_5_2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" name="Google Shape;148;g10d37c0233d_5_2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This isn’t completely secret, for one simple reason and one complicated reason.  We’ll deal with both in a few slides.</a:t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10d37c0233d_5_2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g10d37c0233d_5_2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This isn’t completely secret, for one simple reason and one complicated reason.  We’ll deal with both in a few slides.</a:t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10d37c0233d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4" name="Google Shape;184;g10d37c0233d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This isn’t completely secret, for one simple reason and one complicated reason.  We’ll deal with both in a few slides.</a:t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10d37c0233d_3_1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7" name="Google Shape;197;g10d37c0233d_3_1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g10d37c0233d_3_1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3" name="Google Shape;213;g10d37c0233d_3_1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10d37c0233d_3_1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2" name="Google Shape;232;g10d37c0233d_3_1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g10d37c0233d_5_3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4" name="Google Shape;254;g10d37c0233d_5_3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g10d37c0233d_3_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2" name="Google Shape;282;g10d37c0233d_3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g10d37c0233d_3_2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3" name="Google Shape;313;g10d37c0233d_3_2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g10d37c0233d_3_1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3" name="Google Shape;333;g10d37c0233d_3_1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But no additional info is leaked</a:t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g10d37c0233d_3_2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8" name="Google Shape;348;g10d37c0233d_3_2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g10d37c0233d_3_2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4" name="Google Shape;364;g10d37c0233d_3_2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g10d37c0233d_3_3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8" name="Google Shape;378;g10d37c0233d_3_3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g10d37c0233d_3_3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3" name="Google Shape;393;g10d37c0233d_3_3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g108996a2ed5_0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0" name="Google Shape;400;g108996a2ed5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7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g108996a2ed5_0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9" name="Google Shape;409;g108996a2ed5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8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g10d37c0233d_5_4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0" name="Google Shape;420;g10d37c0233d_5_4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0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g10d37c0233d_5_3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2" name="Google Shape;432;g10d37c0233d_5_3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7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g10d37c0233d_5_3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9" name="Google Shape;449;g10d37c0233d_5_3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4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g10d37c0233d_5_3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6" name="Google Shape;466;g10d37c0233d_5_3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2" name="Shape 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Google Shape;483;g10d37c0233d_5_3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4" name="Google Shape;484;g10d37c0233d_5_3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0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Google Shape;501;g10d37c0233d_4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2" name="Google Shape;502;g10d37c0233d_4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6" name="Shape 5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7" name="Google Shape;517;g10d37c0233d_5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8" name="Google Shape;518;g10d37c0233d_5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9" name="Shape 5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0" name="Google Shape;530;g10d37c0233d_5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1" name="Google Shape;531;g10d37c0233d_5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4" name="Shape 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Google Shape;555;g10d37c0233d_5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6" name="Google Shape;556;g10d37c0233d_5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6" name="Shape 5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7" name="Google Shape;577;g10d37c0233d_5_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8" name="Google Shape;578;g10d37c0233d_5_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9" name="Shape 5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0" name="Google Shape;590;g10d37c0233d_5_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1" name="Google Shape;591;g10d37c0233d_5_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This isn’t completely secret, for one simple reason and one complicated reason.  We’ll deal with both in a few slides.</a:t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2" name="Shape 6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3" name="Google Shape;603;g10d37c0233d_5_1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4" name="Google Shape;604;g10d37c0233d_5_1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This isn’t completely secret, for one simple reason and one complicated reason.  We’ll deal with both in a few slides.</a:t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6" name="Shape 6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7" name="Google Shape;617;g10d37c0233d_5_1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8" name="Google Shape;618;g10d37c0233d_5_1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This isn’t completely secret, for one simple reason and one complicated reason.  We’ll deal with both in a few slides.</a:t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4" name="Shape 6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5" name="Google Shape;635;g10d37c0233d_5_1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6" name="Google Shape;636;g10d37c0233d_5_1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This isn’t completely secret, for one simple reason and one complicated reason.  We’ll deal with both in a few slides.</a:t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2" name="Shape 6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3" name="Google Shape;653;g10d37c0233d_5_1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4" name="Google Shape;654;g10d37c0233d_5_1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This isn’t completely secret, for one simple reason and one complicated reason.  We’ll deal with both in a few slides.</a:t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0" name="Shape 6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1" name="Google Shape;671;g10d37c0233d_5_1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2" name="Google Shape;672;g10d37c0233d_5_1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This isn’t completely secret, for one simple reason and one complicated reason.  We’ll deal with both in a few slides.</a:t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8" name="Shape 6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9" name="Google Shape;689;g10d37c0233d_5_2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0" name="Google Shape;690;g10d37c0233d_5_2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8" name="Shape 7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9" name="Google Shape;709;g10d37c0233d_5_2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0" name="Google Shape;710;g10d37c0233d_5_2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4" name="Shape 7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5" name="Google Shape;715;g10d37c0233d_5_2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6" name="Google Shape;716;g10d37c0233d_5_2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Focusing on semi-honest for today</a:t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0" name="Shape 7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1" name="Google Shape;721;g10d37c0233d_5_2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2" name="Google Shape;722;g10d37c0233d_5_2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Focusing on semi-honest for today</a:t>
            </a: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6" name="Shape 7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" name="Google Shape;727;g10d37c0233d_5_2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8" name="Google Shape;728;g10d37c0233d_5_2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Sugar beet auctions: https://citeseerx.ist.psu.edu/viewdoc/download?doi=10.1.1.127.8954&amp;rep=rep1&amp;type=pdf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Estonia Tax Fraud: </a:t>
            </a:r>
            <a:r>
              <a:rPr lang="en" u="sng">
                <a:solidFill>
                  <a:schemeClr val="hlink"/>
                </a:solidFill>
                <a:hlinkClick r:id="rId2"/>
              </a:rPr>
              <a:t>https://www.ifca.ai/pub/fc15/89750209.pdf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Facebook link: </a:t>
            </a:r>
            <a:r>
              <a:rPr lang="en" u="sng">
                <a:solidFill>
                  <a:schemeClr val="hlink"/>
                </a:solidFill>
                <a:hlinkClick r:id="rId3"/>
              </a:rPr>
              <a:t>https://github.com/facebookresearch/fbpcf</a:t>
            </a:r>
            <a:r>
              <a:rPr lang="en"/>
              <a:t> </a:t>
            </a: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2" name="Shape 7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3" name="Google Shape;733;g10d37c0233d_5_4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4" name="Google Shape;734;g10d37c0233d_5_4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4" name="Shape 7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5" name="Google Shape;745;g10d37c0233d_5_4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6" name="Google Shape;746;g10d37c0233d_5_4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6" name="Shape 7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" name="Google Shape;757;g10d37c0233d_5_5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8" name="Google Shape;758;g10d37c0233d_5_5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0" name="Shape 7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1" name="Google Shape;771;g10d37c0233d_5_4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2" name="Google Shape;772;g10d37c0233d_5_4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4" name="Shape 7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5" name="Google Shape;785;g10d37c0233d_5_4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6" name="Google Shape;786;g10d37c0233d_5_4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9" name="Shape 7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0" name="Google Shape;800;g10d37c0233d_5_4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1" name="Google Shape;801;g10d37c0233d_5_4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4" name="Shape 8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5" name="Google Shape;815;g10d37c0233d_5_4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6" name="Google Shape;816;g10d37c0233d_5_4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0" name="Shape 8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1" name="Google Shape;821;g10d37c0233d_5_4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2" name="Google Shape;822;g10d37c0233d_5_4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6" name="Shape 8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7" name="Google Shape;827;g108996a2ed5_0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8" name="Google Shape;828;g108996a2ed5_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2" name="Shape 8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3" name="Google Shape;833;g10d37c0233d_3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4" name="Google Shape;834;g10d37c0233d_3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ines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FEFEF"/>
              </a:buClr>
              <a:buSzPts val="2800"/>
              <a:buNone/>
              <a:defRPr sz="2800">
                <a:solidFill>
                  <a:srgbClr val="EFEFEF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3" name="Google Shape;13;p2"/>
          <p:cNvSpPr/>
          <p:nvPr/>
        </p:nvSpPr>
        <p:spPr>
          <a:xfrm>
            <a:off x="-2775" y="2779600"/>
            <a:ext cx="9144000" cy="54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6" name="Google Shape;16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7" name="Google Shape;17;p3"/>
          <p:cNvSpPr/>
          <p:nvPr/>
        </p:nvSpPr>
        <p:spPr>
          <a:xfrm>
            <a:off x="0" y="2888550"/>
            <a:ext cx="9144000" cy="30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 txBox="1"/>
          <p:nvPr>
            <p:ph type="title"/>
          </p:nvPr>
        </p:nvSpPr>
        <p:spPr>
          <a:xfrm>
            <a:off x="0" y="0"/>
            <a:ext cx="914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" name="Google Shape;20;p4"/>
          <p:cNvSpPr txBox="1"/>
          <p:nvPr>
            <p:ph idx="1" type="body"/>
          </p:nvPr>
        </p:nvSpPr>
        <p:spPr>
          <a:xfrm>
            <a:off x="311700" y="822075"/>
            <a:ext cx="8520600" cy="416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rgbClr val="EFEFEF"/>
              </a:buClr>
              <a:buSzPts val="1800"/>
              <a:buChar char="●"/>
              <a:defRPr>
                <a:solidFill>
                  <a:srgbClr val="EFEFEF"/>
                </a:solidFill>
              </a:defRPr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Clr>
                <a:srgbClr val="EFEFEF"/>
              </a:buClr>
              <a:buSzPts val="1400"/>
              <a:buChar char="○"/>
              <a:defRPr>
                <a:solidFill>
                  <a:srgbClr val="EFEFEF"/>
                </a:solidFill>
              </a:defRPr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Clr>
                <a:srgbClr val="EFEFEF"/>
              </a:buClr>
              <a:buSzPts val="1400"/>
              <a:buChar char="■"/>
              <a:defRPr>
                <a:solidFill>
                  <a:srgbClr val="EFEFEF"/>
                </a:solidFill>
              </a:defRPr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Clr>
                <a:srgbClr val="EFEFEF"/>
              </a:buClr>
              <a:buSzPts val="1400"/>
              <a:buChar char="●"/>
              <a:defRPr>
                <a:solidFill>
                  <a:srgbClr val="EFEFEF"/>
                </a:solidFill>
              </a:defRPr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Clr>
                <a:srgbClr val="EFEFEF"/>
              </a:buClr>
              <a:buSzPts val="1400"/>
              <a:buChar char="○"/>
              <a:defRPr>
                <a:solidFill>
                  <a:srgbClr val="EFEFEF"/>
                </a:solidFill>
              </a:defRPr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Clr>
                <a:srgbClr val="EFEFEF"/>
              </a:buClr>
              <a:buSzPts val="1400"/>
              <a:buChar char="■"/>
              <a:defRPr>
                <a:solidFill>
                  <a:srgbClr val="EFEFEF"/>
                </a:solidFill>
              </a:defRPr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Clr>
                <a:srgbClr val="EFEFEF"/>
              </a:buClr>
              <a:buSzPts val="1400"/>
              <a:buChar char="●"/>
              <a:defRPr>
                <a:solidFill>
                  <a:srgbClr val="EFEFEF"/>
                </a:solidFill>
              </a:defRPr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Clr>
                <a:srgbClr val="EFEFEF"/>
              </a:buClr>
              <a:buSzPts val="1400"/>
              <a:buChar char="○"/>
              <a:defRPr>
                <a:solidFill>
                  <a:srgbClr val="EFEFEF"/>
                </a:solidFill>
              </a:defRPr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Clr>
                <a:srgbClr val="EFEFEF"/>
              </a:buClr>
              <a:buSzPts val="1400"/>
              <a:buChar char="■"/>
              <a:defRPr>
                <a:solidFill>
                  <a:srgbClr val="EFEFEF"/>
                </a:solidFill>
              </a:defRPr>
            </a:lvl9pPr>
          </a:lstStyle>
          <a:p/>
        </p:txBody>
      </p:sp>
      <p:sp>
        <p:nvSpPr>
          <p:cNvPr id="21" name="Google Shape;21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2" name="Google Shape;22;p4"/>
          <p:cNvSpPr/>
          <p:nvPr/>
        </p:nvSpPr>
        <p:spPr>
          <a:xfrm>
            <a:off x="0" y="583200"/>
            <a:ext cx="9144000" cy="30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"/>
          <p:cNvSpPr txBox="1"/>
          <p:nvPr>
            <p:ph idx="1" type="body"/>
          </p:nvPr>
        </p:nvSpPr>
        <p:spPr>
          <a:xfrm>
            <a:off x="311700" y="848875"/>
            <a:ext cx="3999900" cy="372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Clr>
                <a:srgbClr val="EFEFEF"/>
              </a:buClr>
              <a:buSzPts val="1400"/>
              <a:buChar char="●"/>
              <a:defRPr sz="1400">
                <a:solidFill>
                  <a:srgbClr val="EFEFEF"/>
                </a:solidFill>
              </a:defRPr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Clr>
                <a:srgbClr val="EFEFEF"/>
              </a:buClr>
              <a:buSzPts val="1200"/>
              <a:buChar char="○"/>
              <a:defRPr sz="1200">
                <a:solidFill>
                  <a:srgbClr val="EFEFEF"/>
                </a:solidFill>
              </a:defRPr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Clr>
                <a:srgbClr val="EFEFEF"/>
              </a:buClr>
              <a:buSzPts val="1200"/>
              <a:buChar char="■"/>
              <a:defRPr sz="1200">
                <a:solidFill>
                  <a:srgbClr val="EFEFEF"/>
                </a:solidFill>
              </a:defRPr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Clr>
                <a:srgbClr val="EFEFEF"/>
              </a:buClr>
              <a:buSzPts val="1200"/>
              <a:buChar char="●"/>
              <a:defRPr sz="1200">
                <a:solidFill>
                  <a:srgbClr val="EFEFEF"/>
                </a:solidFill>
              </a:defRPr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Clr>
                <a:srgbClr val="EFEFEF"/>
              </a:buClr>
              <a:buSzPts val="1200"/>
              <a:buChar char="○"/>
              <a:defRPr sz="1200">
                <a:solidFill>
                  <a:srgbClr val="EFEFEF"/>
                </a:solidFill>
              </a:defRPr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Clr>
                <a:srgbClr val="EFEFEF"/>
              </a:buClr>
              <a:buSzPts val="1200"/>
              <a:buChar char="■"/>
              <a:defRPr sz="1200">
                <a:solidFill>
                  <a:srgbClr val="EFEFEF"/>
                </a:solidFill>
              </a:defRPr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Clr>
                <a:srgbClr val="EFEFEF"/>
              </a:buClr>
              <a:buSzPts val="1200"/>
              <a:buChar char="●"/>
              <a:defRPr sz="1200">
                <a:solidFill>
                  <a:srgbClr val="EFEFEF"/>
                </a:solidFill>
              </a:defRPr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Clr>
                <a:srgbClr val="EFEFEF"/>
              </a:buClr>
              <a:buSzPts val="1200"/>
              <a:buChar char="○"/>
              <a:defRPr sz="1200">
                <a:solidFill>
                  <a:srgbClr val="EFEFEF"/>
                </a:solidFill>
              </a:defRPr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Clr>
                <a:srgbClr val="EFEFEF"/>
              </a:buClr>
              <a:buSzPts val="1200"/>
              <a:buChar char="■"/>
              <a:defRPr sz="1200">
                <a:solidFill>
                  <a:srgbClr val="EFEFEF"/>
                </a:solidFill>
              </a:defRPr>
            </a:lvl9pPr>
          </a:lstStyle>
          <a:p/>
        </p:txBody>
      </p:sp>
      <p:sp>
        <p:nvSpPr>
          <p:cNvPr id="25" name="Google Shape;25;p5"/>
          <p:cNvSpPr txBox="1"/>
          <p:nvPr>
            <p:ph idx="2" type="body"/>
          </p:nvPr>
        </p:nvSpPr>
        <p:spPr>
          <a:xfrm>
            <a:off x="4832400" y="848875"/>
            <a:ext cx="3999900" cy="372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Clr>
                <a:srgbClr val="EFEFEF"/>
              </a:buClr>
              <a:buSzPts val="1400"/>
              <a:buChar char="●"/>
              <a:defRPr sz="1400">
                <a:solidFill>
                  <a:srgbClr val="EFEFEF"/>
                </a:solidFill>
              </a:defRPr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Clr>
                <a:srgbClr val="EFEFEF"/>
              </a:buClr>
              <a:buSzPts val="1200"/>
              <a:buChar char="○"/>
              <a:defRPr sz="1200">
                <a:solidFill>
                  <a:srgbClr val="EFEFEF"/>
                </a:solidFill>
              </a:defRPr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Clr>
                <a:srgbClr val="EFEFEF"/>
              </a:buClr>
              <a:buSzPts val="1200"/>
              <a:buChar char="■"/>
              <a:defRPr sz="1200">
                <a:solidFill>
                  <a:srgbClr val="EFEFEF"/>
                </a:solidFill>
              </a:defRPr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Clr>
                <a:srgbClr val="EFEFEF"/>
              </a:buClr>
              <a:buSzPts val="1200"/>
              <a:buChar char="●"/>
              <a:defRPr sz="1200">
                <a:solidFill>
                  <a:srgbClr val="EFEFEF"/>
                </a:solidFill>
              </a:defRPr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Clr>
                <a:srgbClr val="EFEFEF"/>
              </a:buClr>
              <a:buSzPts val="1200"/>
              <a:buChar char="○"/>
              <a:defRPr sz="1200">
                <a:solidFill>
                  <a:srgbClr val="EFEFEF"/>
                </a:solidFill>
              </a:defRPr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Clr>
                <a:srgbClr val="EFEFEF"/>
              </a:buClr>
              <a:buSzPts val="1200"/>
              <a:buChar char="■"/>
              <a:defRPr sz="1200">
                <a:solidFill>
                  <a:srgbClr val="EFEFEF"/>
                </a:solidFill>
              </a:defRPr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Clr>
                <a:srgbClr val="EFEFEF"/>
              </a:buClr>
              <a:buSzPts val="1200"/>
              <a:buChar char="●"/>
              <a:defRPr sz="1200">
                <a:solidFill>
                  <a:srgbClr val="EFEFEF"/>
                </a:solidFill>
              </a:defRPr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Clr>
                <a:srgbClr val="EFEFEF"/>
              </a:buClr>
              <a:buSzPts val="1200"/>
              <a:buChar char="○"/>
              <a:defRPr sz="1200">
                <a:solidFill>
                  <a:srgbClr val="EFEFEF"/>
                </a:solidFill>
              </a:defRPr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Clr>
                <a:srgbClr val="EFEFEF"/>
              </a:buClr>
              <a:buSzPts val="1200"/>
              <a:buChar char="■"/>
              <a:defRPr sz="1200">
                <a:solidFill>
                  <a:srgbClr val="EFEFEF"/>
                </a:solidFill>
              </a:defRPr>
            </a:lvl9pPr>
          </a:lstStyle>
          <a:p/>
        </p:txBody>
      </p:sp>
      <p:sp>
        <p:nvSpPr>
          <p:cNvPr id="26" name="Google Shape;26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7" name="Google Shape;27;p5"/>
          <p:cNvSpPr txBox="1"/>
          <p:nvPr>
            <p:ph type="title"/>
          </p:nvPr>
        </p:nvSpPr>
        <p:spPr>
          <a:xfrm>
            <a:off x="0" y="0"/>
            <a:ext cx="914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8" name="Google Shape;28;p5"/>
          <p:cNvSpPr/>
          <p:nvPr/>
        </p:nvSpPr>
        <p:spPr>
          <a:xfrm>
            <a:off x="0" y="583200"/>
            <a:ext cx="9144000" cy="30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1" name="Google Shape;31;p6"/>
          <p:cNvSpPr txBox="1"/>
          <p:nvPr>
            <p:ph type="title"/>
          </p:nvPr>
        </p:nvSpPr>
        <p:spPr>
          <a:xfrm>
            <a:off x="0" y="0"/>
            <a:ext cx="914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2" name="Google Shape;32;p6"/>
          <p:cNvSpPr/>
          <p:nvPr/>
        </p:nvSpPr>
        <p:spPr>
          <a:xfrm>
            <a:off x="0" y="583200"/>
            <a:ext cx="9144000" cy="30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5" name="Google Shape;35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rgbClr val="EFEFEF"/>
              </a:buClr>
              <a:buSzPts val="1200"/>
              <a:buChar char="●"/>
              <a:defRPr sz="1200">
                <a:solidFill>
                  <a:srgbClr val="EFEFEF"/>
                </a:solidFill>
              </a:defRPr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Clr>
                <a:srgbClr val="EFEFEF"/>
              </a:buClr>
              <a:buSzPts val="1200"/>
              <a:buChar char="○"/>
              <a:defRPr sz="1200">
                <a:solidFill>
                  <a:srgbClr val="EFEFEF"/>
                </a:solidFill>
              </a:defRPr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Clr>
                <a:srgbClr val="EFEFEF"/>
              </a:buClr>
              <a:buSzPts val="1200"/>
              <a:buChar char="■"/>
              <a:defRPr sz="1200">
                <a:solidFill>
                  <a:srgbClr val="EFEFEF"/>
                </a:solidFill>
              </a:defRPr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Clr>
                <a:srgbClr val="EFEFEF"/>
              </a:buClr>
              <a:buSzPts val="1200"/>
              <a:buChar char="●"/>
              <a:defRPr sz="1200">
                <a:solidFill>
                  <a:srgbClr val="EFEFEF"/>
                </a:solidFill>
              </a:defRPr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Clr>
                <a:srgbClr val="EFEFEF"/>
              </a:buClr>
              <a:buSzPts val="1200"/>
              <a:buChar char="○"/>
              <a:defRPr sz="1200">
                <a:solidFill>
                  <a:srgbClr val="EFEFEF"/>
                </a:solidFill>
              </a:defRPr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Clr>
                <a:srgbClr val="EFEFEF"/>
              </a:buClr>
              <a:buSzPts val="1200"/>
              <a:buChar char="■"/>
              <a:defRPr sz="1200">
                <a:solidFill>
                  <a:srgbClr val="EFEFEF"/>
                </a:solidFill>
              </a:defRPr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Clr>
                <a:srgbClr val="EFEFEF"/>
              </a:buClr>
              <a:buSzPts val="1200"/>
              <a:buChar char="●"/>
              <a:defRPr sz="1200">
                <a:solidFill>
                  <a:srgbClr val="EFEFEF"/>
                </a:solidFill>
              </a:defRPr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Clr>
                <a:srgbClr val="EFEFEF"/>
              </a:buClr>
              <a:buSzPts val="1200"/>
              <a:buChar char="○"/>
              <a:defRPr sz="1200">
                <a:solidFill>
                  <a:srgbClr val="EFEFEF"/>
                </a:solidFill>
              </a:defRPr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Clr>
                <a:srgbClr val="EFEFEF"/>
              </a:buClr>
              <a:buSzPts val="1200"/>
              <a:buChar char="■"/>
              <a:defRPr sz="1200">
                <a:solidFill>
                  <a:srgbClr val="EFEFEF"/>
                </a:solidFill>
              </a:defRPr>
            </a:lvl9pPr>
          </a:lstStyle>
          <a:p/>
        </p:txBody>
      </p:sp>
      <p:sp>
        <p:nvSpPr>
          <p:cNvPr id="36" name="Google Shape;36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9" name="Google Shape;39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9"/>
          <p:cNvSpPr/>
          <p:nvPr/>
        </p:nvSpPr>
        <p:spPr>
          <a:xfrm>
            <a:off x="4572000" y="25"/>
            <a:ext cx="45720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" name="Google Shape;42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3" name="Google Shape;43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2100"/>
              <a:buNone/>
              <a:defRPr sz="2100">
                <a:solidFill>
                  <a:srgbClr val="D9D9D9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4" name="Google Shape;44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>
                <a:solidFill>
                  <a:schemeClr val="dk1"/>
                </a:solidFill>
              </a:defRPr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5" name="Google Shape;45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FEFEF"/>
              </a:buClr>
              <a:buSzPts val="1800"/>
              <a:buNone/>
              <a:defRPr>
                <a:solidFill>
                  <a:srgbClr val="EFEFEF"/>
                </a:solidFill>
              </a:defRPr>
            </a:lvl1pPr>
          </a:lstStyle>
          <a:p/>
        </p:txBody>
      </p:sp>
      <p:sp>
        <p:nvSpPr>
          <p:cNvPr id="48" name="Google Shape;48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1" name="Google Shape;51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Clr>
                <a:srgbClr val="EFEFEF"/>
              </a:buClr>
              <a:buSzPts val="1800"/>
              <a:buChar char="●"/>
              <a:defRPr>
                <a:solidFill>
                  <a:srgbClr val="EFEFEF"/>
                </a:solidFill>
              </a:defRPr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Clr>
                <a:srgbClr val="EFEFEF"/>
              </a:buClr>
              <a:buSzPts val="1400"/>
              <a:buChar char="○"/>
              <a:defRPr>
                <a:solidFill>
                  <a:srgbClr val="EFEFEF"/>
                </a:solidFill>
              </a:defRPr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Clr>
                <a:srgbClr val="EFEFEF"/>
              </a:buClr>
              <a:buSzPts val="1400"/>
              <a:buChar char="■"/>
              <a:defRPr>
                <a:solidFill>
                  <a:srgbClr val="EFEFEF"/>
                </a:solidFill>
              </a:defRPr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Clr>
                <a:srgbClr val="EFEFEF"/>
              </a:buClr>
              <a:buSzPts val="1400"/>
              <a:buChar char="●"/>
              <a:defRPr>
                <a:solidFill>
                  <a:srgbClr val="EFEFEF"/>
                </a:solidFill>
              </a:defRPr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Clr>
                <a:srgbClr val="EFEFEF"/>
              </a:buClr>
              <a:buSzPts val="1400"/>
              <a:buChar char="○"/>
              <a:defRPr>
                <a:solidFill>
                  <a:srgbClr val="EFEFEF"/>
                </a:solidFill>
              </a:defRPr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Clr>
                <a:srgbClr val="EFEFEF"/>
              </a:buClr>
              <a:buSzPts val="1400"/>
              <a:buChar char="■"/>
              <a:defRPr>
                <a:solidFill>
                  <a:srgbClr val="EFEFEF"/>
                </a:solidFill>
              </a:defRPr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Clr>
                <a:srgbClr val="EFEFEF"/>
              </a:buClr>
              <a:buSzPts val="1400"/>
              <a:buChar char="●"/>
              <a:defRPr>
                <a:solidFill>
                  <a:srgbClr val="EFEFEF"/>
                </a:solidFill>
              </a:defRPr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Clr>
                <a:srgbClr val="EFEFEF"/>
              </a:buClr>
              <a:buSzPts val="1400"/>
              <a:buChar char="○"/>
              <a:defRPr>
                <a:solidFill>
                  <a:srgbClr val="EFEFEF"/>
                </a:solidFill>
              </a:defRPr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Clr>
                <a:srgbClr val="EFEFEF"/>
              </a:buClr>
              <a:buSzPts val="1400"/>
              <a:buChar char="■"/>
              <a:defRPr>
                <a:solidFill>
                  <a:srgbClr val="EFEFEF"/>
                </a:solidFill>
              </a:defRPr>
            </a:lvl9pPr>
          </a:lstStyle>
          <a:p/>
        </p:txBody>
      </p:sp>
      <p:sp>
        <p:nvSpPr>
          <p:cNvPr id="52" name="Google Shape;52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dark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FEFEF"/>
              </a:buClr>
              <a:buSzPts val="1800"/>
              <a:buChar char="●"/>
              <a:defRPr sz="1800">
                <a:solidFill>
                  <a:srgbClr val="EFEFEF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EFEFEF"/>
              </a:buClr>
              <a:buSzPts val="1400"/>
              <a:buChar char="○"/>
              <a:defRPr>
                <a:solidFill>
                  <a:srgbClr val="EFEFEF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EFEFEF"/>
              </a:buClr>
              <a:buSzPts val="1400"/>
              <a:buChar char="■"/>
              <a:defRPr>
                <a:solidFill>
                  <a:srgbClr val="EFEFEF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EFEFEF"/>
              </a:buClr>
              <a:buSzPts val="1400"/>
              <a:buChar char="●"/>
              <a:defRPr>
                <a:solidFill>
                  <a:srgbClr val="EFEFEF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EFEFEF"/>
              </a:buClr>
              <a:buSzPts val="1400"/>
              <a:buChar char="○"/>
              <a:defRPr>
                <a:solidFill>
                  <a:srgbClr val="EFEFEF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EFEFEF"/>
              </a:buClr>
              <a:buSzPts val="1400"/>
              <a:buChar char="■"/>
              <a:defRPr>
                <a:solidFill>
                  <a:srgbClr val="EFEFEF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EFEFEF"/>
              </a:buClr>
              <a:buSzPts val="1400"/>
              <a:buChar char="●"/>
              <a:defRPr>
                <a:solidFill>
                  <a:srgbClr val="EFEFEF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EFEFEF"/>
              </a:buClr>
              <a:buSzPts val="1400"/>
              <a:buChar char="○"/>
              <a:defRPr>
                <a:solidFill>
                  <a:srgbClr val="EFEFEF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EFEFEF"/>
              </a:buClr>
              <a:buSzPts val="1400"/>
              <a:buChar char="■"/>
              <a:defRPr>
                <a:solidFill>
                  <a:srgbClr val="EFEFEF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lt2"/>
                </a:solidFill>
              </a:defRPr>
            </a:lvl1pPr>
            <a:lvl2pPr lvl="1" algn="r">
              <a:buNone/>
              <a:defRPr sz="1000">
                <a:solidFill>
                  <a:schemeClr val="lt2"/>
                </a:solidFill>
              </a:defRPr>
            </a:lvl2pPr>
            <a:lvl3pPr lvl="2" algn="r">
              <a:buNone/>
              <a:defRPr sz="1000">
                <a:solidFill>
                  <a:schemeClr val="lt2"/>
                </a:solidFill>
              </a:defRPr>
            </a:lvl3pPr>
            <a:lvl4pPr lvl="3" algn="r">
              <a:buNone/>
              <a:defRPr sz="1000">
                <a:solidFill>
                  <a:schemeClr val="lt2"/>
                </a:solidFill>
              </a:defRPr>
            </a:lvl4pPr>
            <a:lvl5pPr lvl="4" algn="r">
              <a:buNone/>
              <a:defRPr sz="1000">
                <a:solidFill>
                  <a:schemeClr val="lt2"/>
                </a:solidFill>
              </a:defRPr>
            </a:lvl5pPr>
            <a:lvl6pPr lvl="5" algn="r">
              <a:buNone/>
              <a:defRPr sz="1000">
                <a:solidFill>
                  <a:schemeClr val="lt2"/>
                </a:solidFill>
              </a:defRPr>
            </a:lvl6pPr>
            <a:lvl7pPr lvl="6" algn="r">
              <a:buNone/>
              <a:defRPr sz="1000">
                <a:solidFill>
                  <a:schemeClr val="lt2"/>
                </a:solidFill>
              </a:defRPr>
            </a:lvl7pPr>
            <a:lvl8pPr lvl="7" algn="r">
              <a:buNone/>
              <a:defRPr sz="1000">
                <a:solidFill>
                  <a:schemeClr val="lt2"/>
                </a:solidFill>
              </a:defRPr>
            </a:lvl8pPr>
            <a:lvl9pPr lvl="8" algn="r">
              <a:buNone/>
              <a:defRPr sz="1000">
                <a:solidFill>
                  <a:schemeClr val="lt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png"/><Relationship Id="rId4" Type="http://schemas.openxmlformats.org/officeDocument/2006/relationships/image" Target="../media/image8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png"/><Relationship Id="rId4" Type="http://schemas.openxmlformats.org/officeDocument/2006/relationships/image" Target="../media/image8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4.png"/><Relationship Id="rId6" Type="http://schemas.openxmlformats.org/officeDocument/2006/relationships/image" Target="../media/image2.png"/><Relationship Id="rId7" Type="http://schemas.openxmlformats.org/officeDocument/2006/relationships/image" Target="../media/image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4.png"/><Relationship Id="rId4" Type="http://schemas.openxmlformats.org/officeDocument/2006/relationships/image" Target="../media/image16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0.png"/><Relationship Id="rId4" Type="http://schemas.openxmlformats.org/officeDocument/2006/relationships/image" Target="../media/image5.png"/><Relationship Id="rId5" Type="http://schemas.openxmlformats.org/officeDocument/2006/relationships/image" Target="../media/image7.png"/><Relationship Id="rId6" Type="http://schemas.openxmlformats.org/officeDocument/2006/relationships/image" Target="../media/image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0.png"/><Relationship Id="rId4" Type="http://schemas.openxmlformats.org/officeDocument/2006/relationships/image" Target="../media/image5.png"/><Relationship Id="rId5" Type="http://schemas.openxmlformats.org/officeDocument/2006/relationships/image" Target="../media/image7.png"/><Relationship Id="rId6" Type="http://schemas.openxmlformats.org/officeDocument/2006/relationships/image" Target="../media/image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0.png"/><Relationship Id="rId4" Type="http://schemas.openxmlformats.org/officeDocument/2006/relationships/image" Target="../media/image5.png"/><Relationship Id="rId5" Type="http://schemas.openxmlformats.org/officeDocument/2006/relationships/image" Target="../media/image7.png"/><Relationship Id="rId6" Type="http://schemas.openxmlformats.org/officeDocument/2006/relationships/image" Target="../media/image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0.png"/><Relationship Id="rId4" Type="http://schemas.openxmlformats.org/officeDocument/2006/relationships/image" Target="../media/image5.png"/><Relationship Id="rId5" Type="http://schemas.openxmlformats.org/officeDocument/2006/relationships/image" Target="../media/image7.png"/><Relationship Id="rId6" Type="http://schemas.openxmlformats.org/officeDocument/2006/relationships/image" Target="../media/image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0.png"/><Relationship Id="rId4" Type="http://schemas.openxmlformats.org/officeDocument/2006/relationships/image" Target="../media/image5.png"/><Relationship Id="rId5" Type="http://schemas.openxmlformats.org/officeDocument/2006/relationships/image" Target="../media/image7.png"/><Relationship Id="rId6" Type="http://schemas.openxmlformats.org/officeDocument/2006/relationships/image" Target="../media/image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0.png"/><Relationship Id="rId4" Type="http://schemas.openxmlformats.org/officeDocument/2006/relationships/image" Target="../media/image5.png"/><Relationship Id="rId5" Type="http://schemas.openxmlformats.org/officeDocument/2006/relationships/image" Target="../media/image7.png"/><Relationship Id="rId6" Type="http://schemas.openxmlformats.org/officeDocument/2006/relationships/image" Target="../media/image4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0.png"/><Relationship Id="rId4" Type="http://schemas.openxmlformats.org/officeDocument/2006/relationships/image" Target="../media/image5.png"/><Relationship Id="rId5" Type="http://schemas.openxmlformats.org/officeDocument/2006/relationships/image" Target="../media/image7.png"/><Relationship Id="rId6" Type="http://schemas.openxmlformats.org/officeDocument/2006/relationships/image" Target="../media/image4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0.png"/><Relationship Id="rId4" Type="http://schemas.openxmlformats.org/officeDocument/2006/relationships/image" Target="../media/image5.png"/><Relationship Id="rId5" Type="http://schemas.openxmlformats.org/officeDocument/2006/relationships/image" Target="../media/image7.png"/><Relationship Id="rId6" Type="http://schemas.openxmlformats.org/officeDocument/2006/relationships/image" Target="../media/image4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0.png"/><Relationship Id="rId4" Type="http://schemas.openxmlformats.org/officeDocument/2006/relationships/image" Target="../media/image5.png"/><Relationship Id="rId5" Type="http://schemas.openxmlformats.org/officeDocument/2006/relationships/image" Target="../media/image7.png"/><Relationship Id="rId6" Type="http://schemas.openxmlformats.org/officeDocument/2006/relationships/image" Target="../media/image4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0.png"/><Relationship Id="rId4" Type="http://schemas.openxmlformats.org/officeDocument/2006/relationships/image" Target="../media/image5.png"/><Relationship Id="rId5" Type="http://schemas.openxmlformats.org/officeDocument/2006/relationships/image" Target="../media/image7.png"/><Relationship Id="rId6" Type="http://schemas.openxmlformats.org/officeDocument/2006/relationships/image" Target="../media/image4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0.png"/><Relationship Id="rId4" Type="http://schemas.openxmlformats.org/officeDocument/2006/relationships/image" Target="../media/image5.png"/><Relationship Id="rId5" Type="http://schemas.openxmlformats.org/officeDocument/2006/relationships/image" Target="../media/image7.png"/><Relationship Id="rId6" Type="http://schemas.openxmlformats.org/officeDocument/2006/relationships/image" Target="../media/image4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0.png"/><Relationship Id="rId4" Type="http://schemas.openxmlformats.org/officeDocument/2006/relationships/image" Target="../media/image5.png"/><Relationship Id="rId5" Type="http://schemas.openxmlformats.org/officeDocument/2006/relationships/image" Target="../media/image7.png"/><Relationship Id="rId6" Type="http://schemas.openxmlformats.org/officeDocument/2006/relationships/image" Target="../media/image4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0.png"/><Relationship Id="rId4" Type="http://schemas.openxmlformats.org/officeDocument/2006/relationships/image" Target="../media/image5.png"/><Relationship Id="rId5" Type="http://schemas.openxmlformats.org/officeDocument/2006/relationships/image" Target="../media/image7.png"/><Relationship Id="rId6" Type="http://schemas.openxmlformats.org/officeDocument/2006/relationships/image" Target="../media/image4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0.png"/><Relationship Id="rId4" Type="http://schemas.openxmlformats.org/officeDocument/2006/relationships/image" Target="../media/image5.png"/><Relationship Id="rId5" Type="http://schemas.openxmlformats.org/officeDocument/2006/relationships/image" Target="../media/image7.png"/><Relationship Id="rId6" Type="http://schemas.openxmlformats.org/officeDocument/2006/relationships/image" Target="../media/image4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0.png"/><Relationship Id="rId4" Type="http://schemas.openxmlformats.org/officeDocument/2006/relationships/image" Target="../media/image5.png"/><Relationship Id="rId5" Type="http://schemas.openxmlformats.org/officeDocument/2006/relationships/image" Target="../media/image7.png"/><Relationship Id="rId6" Type="http://schemas.openxmlformats.org/officeDocument/2006/relationships/image" Target="../media/image4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0.png"/><Relationship Id="rId4" Type="http://schemas.openxmlformats.org/officeDocument/2006/relationships/image" Target="../media/image7.png"/><Relationship Id="rId5" Type="http://schemas.openxmlformats.org/officeDocument/2006/relationships/image" Target="../media/image4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0.png"/><Relationship Id="rId4" Type="http://schemas.openxmlformats.org/officeDocument/2006/relationships/image" Target="../media/image7.png"/><Relationship Id="rId5" Type="http://schemas.openxmlformats.org/officeDocument/2006/relationships/image" Target="../media/image4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0.png"/><Relationship Id="rId4" Type="http://schemas.openxmlformats.org/officeDocument/2006/relationships/image" Target="../media/image7.png"/><Relationship Id="rId5" Type="http://schemas.openxmlformats.org/officeDocument/2006/relationships/image" Target="../media/image4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0.png"/><Relationship Id="rId4" Type="http://schemas.openxmlformats.org/officeDocument/2006/relationships/image" Target="../media/image7.png"/><Relationship Id="rId5" Type="http://schemas.openxmlformats.org/officeDocument/2006/relationships/image" Target="../media/image4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0.png"/><Relationship Id="rId4" Type="http://schemas.openxmlformats.org/officeDocument/2006/relationships/image" Target="../media/image7.png"/><Relationship Id="rId5" Type="http://schemas.openxmlformats.org/officeDocument/2006/relationships/image" Target="../media/image4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0.png"/><Relationship Id="rId4" Type="http://schemas.openxmlformats.org/officeDocument/2006/relationships/image" Target="../media/image7.png"/><Relationship Id="rId5" Type="http://schemas.openxmlformats.org/officeDocument/2006/relationships/image" Target="../media/image4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10.png"/><Relationship Id="rId4" Type="http://schemas.openxmlformats.org/officeDocument/2006/relationships/image" Target="../media/image7.png"/><Relationship Id="rId5" Type="http://schemas.openxmlformats.org/officeDocument/2006/relationships/image" Target="../media/image4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10.png"/><Relationship Id="rId4" Type="http://schemas.openxmlformats.org/officeDocument/2006/relationships/image" Target="../media/image7.png"/><Relationship Id="rId5" Type="http://schemas.openxmlformats.org/officeDocument/2006/relationships/image" Target="../media/image4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10.png"/><Relationship Id="rId4" Type="http://schemas.openxmlformats.org/officeDocument/2006/relationships/image" Target="../media/image7.png"/><Relationship Id="rId5" Type="http://schemas.openxmlformats.org/officeDocument/2006/relationships/image" Target="../media/image4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10.png"/><Relationship Id="rId4" Type="http://schemas.openxmlformats.org/officeDocument/2006/relationships/image" Target="../media/image7.png"/><Relationship Id="rId5" Type="http://schemas.openxmlformats.org/officeDocument/2006/relationships/image" Target="../media/image4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10.png"/><Relationship Id="rId4" Type="http://schemas.openxmlformats.org/officeDocument/2006/relationships/image" Target="../media/image7.png"/><Relationship Id="rId5" Type="http://schemas.openxmlformats.org/officeDocument/2006/relationships/image" Target="../media/image4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10.png"/><Relationship Id="rId4" Type="http://schemas.openxmlformats.org/officeDocument/2006/relationships/image" Target="../media/image5.png"/><Relationship Id="rId5" Type="http://schemas.openxmlformats.org/officeDocument/2006/relationships/image" Target="../media/image7.png"/><Relationship Id="rId6" Type="http://schemas.openxmlformats.org/officeDocument/2006/relationships/image" Target="../media/image4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10.png"/><Relationship Id="rId4" Type="http://schemas.openxmlformats.org/officeDocument/2006/relationships/image" Target="../media/image5.png"/><Relationship Id="rId5" Type="http://schemas.openxmlformats.org/officeDocument/2006/relationships/image" Target="../media/image7.png"/><Relationship Id="rId6" Type="http://schemas.openxmlformats.org/officeDocument/2006/relationships/image" Target="../media/image4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10.png"/><Relationship Id="rId4" Type="http://schemas.openxmlformats.org/officeDocument/2006/relationships/image" Target="../media/image5.png"/><Relationship Id="rId5" Type="http://schemas.openxmlformats.org/officeDocument/2006/relationships/image" Target="../media/image7.png"/><Relationship Id="rId6" Type="http://schemas.openxmlformats.org/officeDocument/2006/relationships/image" Target="../media/image4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10.png"/><Relationship Id="rId4" Type="http://schemas.openxmlformats.org/officeDocument/2006/relationships/image" Target="../media/image5.png"/><Relationship Id="rId5" Type="http://schemas.openxmlformats.org/officeDocument/2006/relationships/image" Target="../media/image7.png"/><Relationship Id="rId6" Type="http://schemas.openxmlformats.org/officeDocument/2006/relationships/image" Target="../media/image4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10.png"/><Relationship Id="rId4" Type="http://schemas.openxmlformats.org/officeDocument/2006/relationships/image" Target="../media/image5.png"/><Relationship Id="rId5" Type="http://schemas.openxmlformats.org/officeDocument/2006/relationships/image" Target="../media/image7.png"/><Relationship Id="rId6" Type="http://schemas.openxmlformats.org/officeDocument/2006/relationships/image" Target="../media/image4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10.png"/><Relationship Id="rId4" Type="http://schemas.openxmlformats.org/officeDocument/2006/relationships/image" Target="../media/image5.png"/><Relationship Id="rId5" Type="http://schemas.openxmlformats.org/officeDocument/2006/relationships/image" Target="../media/image7.png"/><Relationship Id="rId6" Type="http://schemas.openxmlformats.org/officeDocument/2006/relationships/image" Target="../media/image4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10.png"/><Relationship Id="rId4" Type="http://schemas.openxmlformats.org/officeDocument/2006/relationships/image" Target="../media/image7.png"/><Relationship Id="rId5" Type="http://schemas.openxmlformats.org/officeDocument/2006/relationships/image" Target="../media/image4.png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10.png"/><Relationship Id="rId4" Type="http://schemas.openxmlformats.org/officeDocument/2006/relationships/image" Target="../media/image7.png"/><Relationship Id="rId5" Type="http://schemas.openxmlformats.org/officeDocument/2006/relationships/image" Target="../media/image4.png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10.png"/><Relationship Id="rId4" Type="http://schemas.openxmlformats.org/officeDocument/2006/relationships/image" Target="../media/image7.png"/><Relationship Id="rId5" Type="http://schemas.openxmlformats.org/officeDocument/2006/relationships/image" Target="../media/image4.png"/><Relationship Id="rId6" Type="http://schemas.openxmlformats.org/officeDocument/2006/relationships/image" Target="../media/image17.png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9.xml"/><Relationship Id="rId3" Type="http://schemas.openxmlformats.org/officeDocument/2006/relationships/image" Target="../media/image10.png"/><Relationship Id="rId4" Type="http://schemas.openxmlformats.org/officeDocument/2006/relationships/image" Target="../media/image7.png"/><Relationship Id="rId5" Type="http://schemas.openxmlformats.org/officeDocument/2006/relationships/image" Target="../media/image4.png"/><Relationship Id="rId6" Type="http://schemas.openxmlformats.org/officeDocument/2006/relationships/image" Target="../media/image17.png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0.xml"/><Relationship Id="rId3" Type="http://schemas.openxmlformats.org/officeDocument/2006/relationships/image" Target="../media/image10.png"/><Relationship Id="rId4" Type="http://schemas.openxmlformats.org/officeDocument/2006/relationships/image" Target="../media/image7.png"/><Relationship Id="rId5" Type="http://schemas.openxmlformats.org/officeDocument/2006/relationships/image" Target="../media/image4.png"/><Relationship Id="rId6" Type="http://schemas.openxmlformats.org/officeDocument/2006/relationships/image" Target="../media/image17.png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1.xml"/><Relationship Id="rId3" Type="http://schemas.openxmlformats.org/officeDocument/2006/relationships/image" Target="../media/image10.png"/><Relationship Id="rId4" Type="http://schemas.openxmlformats.org/officeDocument/2006/relationships/image" Target="../media/image7.png"/><Relationship Id="rId5" Type="http://schemas.openxmlformats.org/officeDocument/2006/relationships/image" Target="../media/image4.png"/><Relationship Id="rId6" Type="http://schemas.openxmlformats.org/officeDocument/2006/relationships/image" Target="../media/image17.png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2.xml"/><Relationship Id="rId3" Type="http://schemas.openxmlformats.org/officeDocument/2006/relationships/hyperlink" Target="https://github.com/kennysong/tinysmpc" TargetMode="External"/><Relationship Id="rId4" Type="http://schemas.openxmlformats.org/officeDocument/2006/relationships/hyperlink" Target="https://github.com/sarahscheffler/tinysmpc" TargetMode="External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3.xml"/><Relationship Id="rId3" Type="http://schemas.openxmlformats.org/officeDocument/2006/relationships/hyperlink" Target="https://github.com/rdragos/awesome-mpc" TargetMode="External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5.xml"/><Relationship Id="rId3" Type="http://schemas.openxmlformats.org/officeDocument/2006/relationships/image" Target="../media/image11.png"/><Relationship Id="rId4" Type="http://schemas.openxmlformats.org/officeDocument/2006/relationships/image" Target="../media/image2.png"/><Relationship Id="rId5" Type="http://schemas.openxmlformats.org/officeDocument/2006/relationships/image" Target="../media/image10.png"/><Relationship Id="rId6" Type="http://schemas.openxmlformats.org/officeDocument/2006/relationships/image" Target="../media/image5.png"/><Relationship Id="rId7" Type="http://schemas.openxmlformats.org/officeDocument/2006/relationships/image" Target="../media/image7.png"/><Relationship Id="rId8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3"/>
          <p:cNvSpPr txBox="1"/>
          <p:nvPr>
            <p:ph type="ctrTitle"/>
          </p:nvPr>
        </p:nvSpPr>
        <p:spPr>
          <a:xfrm>
            <a:off x="311696" y="744575"/>
            <a:ext cx="57654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/>
              <a:t>Private Computing with MPC</a:t>
            </a:r>
            <a:endParaRPr sz="4800"/>
          </a:p>
        </p:txBody>
      </p:sp>
      <p:sp>
        <p:nvSpPr>
          <p:cNvPr id="60" name="Google Shape;60;p13"/>
          <p:cNvSpPr txBox="1"/>
          <p:nvPr>
            <p:ph idx="1" type="subTitle"/>
          </p:nvPr>
        </p:nvSpPr>
        <p:spPr>
          <a:xfrm>
            <a:off x="311700" y="2834125"/>
            <a:ext cx="32295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Day 1</a:t>
            </a:r>
            <a:br>
              <a:rPr lang="en"/>
            </a:br>
            <a:r>
              <a:rPr lang="en"/>
              <a:t>1/11/2022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We’ll start at 9:05</a:t>
            </a:r>
            <a:endParaRPr/>
          </a:p>
        </p:txBody>
      </p:sp>
      <p:pic>
        <p:nvPicPr>
          <p:cNvPr id="61" name="Google Shape;61;p13"/>
          <p:cNvPicPr preferRelativeResize="0"/>
          <p:nvPr/>
        </p:nvPicPr>
        <p:blipFill rotWithShape="1">
          <a:blip r:embed="rId3">
            <a:alphaModFix/>
          </a:blip>
          <a:srcRect b="0" l="0" r="46541" t="0"/>
          <a:stretch/>
        </p:blipFill>
        <p:spPr>
          <a:xfrm>
            <a:off x="6181152" y="187650"/>
            <a:ext cx="2832174" cy="4768200"/>
          </a:xfrm>
          <a:prstGeom prst="rect">
            <a:avLst/>
          </a:prstGeom>
          <a:noFill/>
          <a:ln>
            <a:noFill/>
          </a:ln>
        </p:spPr>
      </p:pic>
      <p:sp>
        <p:nvSpPr>
          <p:cNvPr id="62" name="Google Shape;62;p13"/>
          <p:cNvSpPr txBox="1"/>
          <p:nvPr/>
        </p:nvSpPr>
        <p:spPr>
          <a:xfrm>
            <a:off x="4109125" y="3172000"/>
            <a:ext cx="2038800" cy="12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Please either check in with this QR code or type your name in the chat for me to check you in :) 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4"/>
          <p:cNvSpPr txBox="1"/>
          <p:nvPr>
            <p:ph type="title"/>
          </p:nvPr>
        </p:nvSpPr>
        <p:spPr>
          <a:xfrm>
            <a:off x="0" y="0"/>
            <a:ext cx="914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About me and this talk</a:t>
            </a:r>
            <a:endParaRPr/>
          </a:p>
        </p:txBody>
      </p:sp>
      <p:sp>
        <p:nvSpPr>
          <p:cNvPr id="68" name="Google Shape;68;p14"/>
          <p:cNvSpPr txBox="1"/>
          <p:nvPr>
            <p:ph idx="1" type="body"/>
          </p:nvPr>
        </p:nvSpPr>
        <p:spPr>
          <a:xfrm>
            <a:off x="3160650" y="759600"/>
            <a:ext cx="5497800" cy="416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 study </a:t>
            </a:r>
            <a:r>
              <a:rPr b="1" i="1" lang="en"/>
              <a:t>cryptography</a:t>
            </a:r>
            <a:r>
              <a:rPr lang="en"/>
              <a:t>, the art of hiding and verifying information.</a:t>
            </a:r>
            <a:br>
              <a:rPr lang="en"/>
            </a:b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Multi party computation (MPC) is cool but not my main research focus.</a:t>
            </a:r>
            <a:br>
              <a:rPr lang="en"/>
            </a:b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n"/>
              <a:t>But, I think many kinds of cryptography, like MPC, are severely underused!  My goal here is to spread the word, so that if you face a situation where you would like to compute some function without revealing secret/private inputs, you remember MPC!</a:t>
            </a:r>
            <a:endParaRPr/>
          </a:p>
        </p:txBody>
      </p:sp>
      <p:pic>
        <p:nvPicPr>
          <p:cNvPr id="69" name="Google Shape;69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3900" y="1241925"/>
            <a:ext cx="2321976" cy="309596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5"/>
          <p:cNvSpPr txBox="1"/>
          <p:nvPr>
            <p:ph idx="1" type="body"/>
          </p:nvPr>
        </p:nvSpPr>
        <p:spPr>
          <a:xfrm>
            <a:off x="311700" y="1156515"/>
            <a:ext cx="3999900" cy="372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2200"/>
              <a:t>Hide information</a:t>
            </a:r>
            <a:endParaRPr sz="2200"/>
          </a:p>
        </p:txBody>
      </p:sp>
      <p:sp>
        <p:nvSpPr>
          <p:cNvPr id="75" name="Google Shape;75;p15"/>
          <p:cNvSpPr txBox="1"/>
          <p:nvPr>
            <p:ph idx="2" type="body"/>
          </p:nvPr>
        </p:nvSpPr>
        <p:spPr>
          <a:xfrm>
            <a:off x="4832400" y="1156515"/>
            <a:ext cx="3999900" cy="372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2200"/>
              <a:t>Detect/prevent “cheating”</a:t>
            </a:r>
            <a:endParaRPr sz="2200"/>
          </a:p>
        </p:txBody>
      </p:sp>
      <p:sp>
        <p:nvSpPr>
          <p:cNvPr id="76" name="Google Shape;76;p15"/>
          <p:cNvSpPr txBox="1"/>
          <p:nvPr>
            <p:ph type="title"/>
          </p:nvPr>
        </p:nvSpPr>
        <p:spPr>
          <a:xfrm>
            <a:off x="0" y="0"/>
            <a:ext cx="914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Cryptography lets you do two things:</a:t>
            </a:r>
            <a:endParaRPr/>
          </a:p>
        </p:txBody>
      </p:sp>
      <p:pic>
        <p:nvPicPr>
          <p:cNvPr id="77" name="Google Shape;77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59950" y="2255537"/>
            <a:ext cx="1650175" cy="1650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78" name="Google Shape;78;p15"/>
          <p:cNvPicPr preferRelativeResize="0"/>
          <p:nvPr/>
        </p:nvPicPr>
        <p:blipFill rotWithShape="1">
          <a:blip r:embed="rId4">
            <a:alphaModFix/>
          </a:blip>
          <a:srcRect b="0" l="17876" r="12674" t="15768"/>
          <a:stretch/>
        </p:blipFill>
        <p:spPr>
          <a:xfrm>
            <a:off x="5487675" y="2156700"/>
            <a:ext cx="2588576" cy="1749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6"/>
          <p:cNvSpPr txBox="1"/>
          <p:nvPr>
            <p:ph idx="1" type="body"/>
          </p:nvPr>
        </p:nvSpPr>
        <p:spPr>
          <a:xfrm>
            <a:off x="311700" y="848875"/>
            <a:ext cx="8463900" cy="143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600"/>
              </a:spcAft>
              <a:buNone/>
            </a:pPr>
            <a:r>
              <a:rPr b="1" i="1" lang="en" sz="2200"/>
              <a:t>Multi-party computation</a:t>
            </a:r>
            <a:r>
              <a:rPr lang="en" sz="2200"/>
              <a:t> accomplishes</a:t>
            </a:r>
            <a:r>
              <a:rPr lang="en" sz="2200"/>
              <a:t> both of these things by </a:t>
            </a:r>
            <a:r>
              <a:rPr lang="en" sz="2200"/>
              <a:t>splitting</a:t>
            </a:r>
            <a:r>
              <a:rPr lang="en" sz="2200"/>
              <a:t> up data among multiple parties</a:t>
            </a:r>
            <a:endParaRPr sz="2200"/>
          </a:p>
        </p:txBody>
      </p:sp>
      <p:sp>
        <p:nvSpPr>
          <p:cNvPr id="84" name="Google Shape;84;p16"/>
          <p:cNvSpPr txBox="1"/>
          <p:nvPr>
            <p:ph type="title"/>
          </p:nvPr>
        </p:nvSpPr>
        <p:spPr>
          <a:xfrm>
            <a:off x="0" y="0"/>
            <a:ext cx="914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Multi-party computation</a:t>
            </a:r>
            <a:endParaRPr/>
          </a:p>
        </p:txBody>
      </p:sp>
      <p:pic>
        <p:nvPicPr>
          <p:cNvPr id="85" name="Google Shape;85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59950" y="2255537"/>
            <a:ext cx="1650175" cy="1650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6" name="Google Shape;86;p16"/>
          <p:cNvPicPr preferRelativeResize="0"/>
          <p:nvPr/>
        </p:nvPicPr>
        <p:blipFill rotWithShape="1">
          <a:blip r:embed="rId4">
            <a:alphaModFix/>
          </a:blip>
          <a:srcRect b="0" l="17876" r="12674" t="15768"/>
          <a:stretch/>
        </p:blipFill>
        <p:spPr>
          <a:xfrm>
            <a:off x="5487675" y="2156700"/>
            <a:ext cx="2588576" cy="1749000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6"/>
          <p:cNvSpPr txBox="1"/>
          <p:nvPr/>
        </p:nvSpPr>
        <p:spPr>
          <a:xfrm>
            <a:off x="513475" y="3851225"/>
            <a:ext cx="36861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</a:rPr>
              <a:t>Today: focus on </a:t>
            </a:r>
            <a:r>
              <a:rPr b="1" lang="en">
                <a:solidFill>
                  <a:schemeClr val="accent2"/>
                </a:solidFill>
              </a:rPr>
              <a:t>hiding information </a:t>
            </a:r>
            <a:r>
              <a:rPr lang="en">
                <a:solidFill>
                  <a:schemeClr val="accent2"/>
                </a:solidFill>
              </a:rPr>
              <a:t>assuming all parties play by the rules</a:t>
            </a:r>
            <a:endParaRPr>
              <a:solidFill>
                <a:schemeClr val="accent2"/>
              </a:solidFill>
            </a:endParaRPr>
          </a:p>
        </p:txBody>
      </p:sp>
      <p:sp>
        <p:nvSpPr>
          <p:cNvPr id="88" name="Google Shape;88;p16"/>
          <p:cNvSpPr txBox="1"/>
          <p:nvPr/>
        </p:nvSpPr>
        <p:spPr>
          <a:xfrm>
            <a:off x="5404775" y="3944950"/>
            <a:ext cx="30231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</a:rPr>
              <a:t>Other resources: how to </a:t>
            </a:r>
            <a:br>
              <a:rPr lang="en">
                <a:solidFill>
                  <a:schemeClr val="accent2"/>
                </a:solidFill>
              </a:rPr>
            </a:br>
            <a:r>
              <a:rPr b="1" lang="en">
                <a:solidFill>
                  <a:schemeClr val="accent2"/>
                </a:solidFill>
              </a:rPr>
              <a:t>ensure no one cheats</a:t>
            </a:r>
            <a:endParaRPr b="1">
              <a:solidFill>
                <a:schemeClr val="accent2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7"/>
          <p:cNvSpPr txBox="1"/>
          <p:nvPr>
            <p:ph idx="1" type="body"/>
          </p:nvPr>
        </p:nvSpPr>
        <p:spPr>
          <a:xfrm>
            <a:off x="311700" y="2905075"/>
            <a:ext cx="3915900" cy="194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Many parties work together to compute something about their secrets, while:</a:t>
            </a:r>
            <a:endParaRPr/>
          </a:p>
          <a:p>
            <a:pPr indent="-317500" lvl="0" marL="457200" rtl="0" algn="l">
              <a:spcBef>
                <a:spcPts val="160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No* info is learned about their inputs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They check each other’s work to make sure no </a:t>
            </a:r>
            <a:r>
              <a:rPr lang="en"/>
              <a:t>one</a:t>
            </a:r>
            <a:r>
              <a:rPr lang="en"/>
              <a:t> cheated (not today)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(Extra efficiency goal: communicate as little as possible)</a:t>
            </a:r>
            <a:endParaRPr/>
          </a:p>
        </p:txBody>
      </p:sp>
      <p:sp>
        <p:nvSpPr>
          <p:cNvPr id="94" name="Google Shape;94;p17"/>
          <p:cNvSpPr txBox="1"/>
          <p:nvPr>
            <p:ph idx="2" type="body"/>
          </p:nvPr>
        </p:nvSpPr>
        <p:spPr>
          <a:xfrm>
            <a:off x="4926975" y="865900"/>
            <a:ext cx="3915900" cy="372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/>
              <a:t>Also known as:</a:t>
            </a:r>
            <a:endParaRPr b="1" sz="2100"/>
          </a:p>
          <a:p>
            <a:pPr indent="-317500" lvl="0" marL="457200" rtl="0" algn="l">
              <a:spcBef>
                <a:spcPts val="160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Multi Party Computation (MPC)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Secure Multi Party Computation (SMPC)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Secure Multiparty Computation (SMC)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D5A6BD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b="1" lang="en" sz="2100">
                <a:solidFill>
                  <a:srgbClr val="D5A6BD"/>
                </a:solidFill>
              </a:rPr>
              <a:t>NOT the same as:</a:t>
            </a:r>
            <a:endParaRPr b="1" sz="2100">
              <a:solidFill>
                <a:srgbClr val="D5A6BD"/>
              </a:solidFill>
            </a:endParaRPr>
          </a:p>
          <a:p>
            <a:pPr indent="-317500" lvl="0" marL="457200" rtl="0" algn="l">
              <a:spcBef>
                <a:spcPts val="1600"/>
              </a:spcBef>
              <a:spcAft>
                <a:spcPts val="0"/>
              </a:spcAft>
              <a:buClr>
                <a:srgbClr val="D5A6BD"/>
              </a:buClr>
              <a:buSzPts val="1400"/>
              <a:buChar char="●"/>
            </a:pPr>
            <a:r>
              <a:rPr lang="en">
                <a:solidFill>
                  <a:srgbClr val="D5A6BD"/>
                </a:solidFill>
              </a:rPr>
              <a:t>Homomorphic Encryption</a:t>
            </a:r>
            <a:endParaRPr>
              <a:solidFill>
                <a:srgbClr val="D5A6BD"/>
              </a:solidFill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rgbClr val="D5A6BD"/>
              </a:buClr>
              <a:buSzPts val="1200"/>
              <a:buChar char="○"/>
            </a:pPr>
            <a:r>
              <a:rPr lang="en">
                <a:solidFill>
                  <a:srgbClr val="D5A6BD"/>
                </a:solidFill>
              </a:rPr>
              <a:t>Single party computes on specially- encrypted data</a:t>
            </a:r>
            <a:endParaRPr>
              <a:solidFill>
                <a:srgbClr val="D5A6BD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D5A6BD"/>
              </a:buClr>
              <a:buSzPts val="1400"/>
              <a:buChar char="●"/>
            </a:pPr>
            <a:r>
              <a:rPr lang="en">
                <a:solidFill>
                  <a:srgbClr val="D5A6BD"/>
                </a:solidFill>
              </a:rPr>
              <a:t>Differential Privacy</a:t>
            </a:r>
            <a:endParaRPr>
              <a:solidFill>
                <a:srgbClr val="D5A6BD"/>
              </a:solidFill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rgbClr val="D5A6BD"/>
              </a:buClr>
              <a:buSzPts val="1200"/>
              <a:buChar char="○"/>
            </a:pPr>
            <a:r>
              <a:rPr lang="en">
                <a:solidFill>
                  <a:srgbClr val="D5A6BD"/>
                </a:solidFill>
              </a:rPr>
              <a:t>Make sure output doesn’t reveal any private info about individuals</a:t>
            </a:r>
            <a:endParaRPr>
              <a:solidFill>
                <a:srgbClr val="D5A6BD"/>
              </a:solidFill>
            </a:endParaRPr>
          </a:p>
        </p:txBody>
      </p:sp>
      <p:sp>
        <p:nvSpPr>
          <p:cNvPr id="95" name="Google Shape;95;p17"/>
          <p:cNvSpPr txBox="1"/>
          <p:nvPr>
            <p:ph type="title"/>
          </p:nvPr>
        </p:nvSpPr>
        <p:spPr>
          <a:xfrm>
            <a:off x="0" y="0"/>
            <a:ext cx="914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/>
              <a:t>Multi Party Computation</a:t>
            </a:r>
            <a:endParaRPr b="1" i="1"/>
          </a:p>
        </p:txBody>
      </p:sp>
      <p:pic>
        <p:nvPicPr>
          <p:cNvPr id="96" name="Google Shape;96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71221" y="896113"/>
            <a:ext cx="554130" cy="554131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Google Shape;97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871221" y="2175781"/>
            <a:ext cx="554130" cy="554131"/>
          </a:xfrm>
          <a:prstGeom prst="rect">
            <a:avLst/>
          </a:prstGeom>
          <a:noFill/>
          <a:ln>
            <a:noFill/>
          </a:ln>
        </p:spPr>
      </p:pic>
      <p:pic>
        <p:nvPicPr>
          <p:cNvPr id="98" name="Google Shape;98;p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010250" y="1164168"/>
            <a:ext cx="554130" cy="554131"/>
          </a:xfrm>
          <a:prstGeom prst="rect">
            <a:avLst/>
          </a:prstGeom>
          <a:noFill/>
          <a:ln>
            <a:noFill/>
          </a:ln>
        </p:spPr>
      </p:pic>
      <p:pic>
        <p:nvPicPr>
          <p:cNvPr id="99" name="Google Shape;99;p1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010250" y="1846766"/>
            <a:ext cx="554130" cy="55413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00" name="Google Shape;100;p17"/>
          <p:cNvCxnSpPr/>
          <p:nvPr/>
        </p:nvCxnSpPr>
        <p:spPr>
          <a:xfrm flipH="1" rot="10800000">
            <a:off x="2425351" y="1992826"/>
            <a:ext cx="288000" cy="255600"/>
          </a:xfrm>
          <a:prstGeom prst="straightConnector1">
            <a:avLst/>
          </a:prstGeom>
          <a:noFill/>
          <a:ln cap="flat" cmpd="sng" w="9525">
            <a:solidFill>
              <a:srgbClr val="EEEEEE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01" name="Google Shape;101;p17"/>
          <p:cNvCxnSpPr>
            <a:endCxn id="97" idx="0"/>
          </p:cNvCxnSpPr>
          <p:nvPr/>
        </p:nvCxnSpPr>
        <p:spPr>
          <a:xfrm flipH="1">
            <a:off x="2148286" y="1457281"/>
            <a:ext cx="29100" cy="718500"/>
          </a:xfrm>
          <a:prstGeom prst="straightConnector1">
            <a:avLst/>
          </a:prstGeom>
          <a:noFill/>
          <a:ln cap="flat" cmpd="sng" w="9525">
            <a:solidFill>
              <a:srgbClr val="EEEEEE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02" name="Google Shape;102;p17"/>
          <p:cNvCxnSpPr/>
          <p:nvPr/>
        </p:nvCxnSpPr>
        <p:spPr>
          <a:xfrm>
            <a:off x="2487297" y="1293972"/>
            <a:ext cx="266400" cy="163500"/>
          </a:xfrm>
          <a:prstGeom prst="straightConnector1">
            <a:avLst/>
          </a:prstGeom>
          <a:noFill/>
          <a:ln cap="flat" cmpd="sng" w="9525">
            <a:solidFill>
              <a:srgbClr val="EEEEEE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03" name="Google Shape;103;p17"/>
          <p:cNvCxnSpPr/>
          <p:nvPr/>
        </p:nvCxnSpPr>
        <p:spPr>
          <a:xfrm>
            <a:off x="1606686" y="1494028"/>
            <a:ext cx="1026600" cy="130500"/>
          </a:xfrm>
          <a:prstGeom prst="straightConnector1">
            <a:avLst/>
          </a:prstGeom>
          <a:noFill/>
          <a:ln cap="flat" cmpd="sng" w="9525">
            <a:solidFill>
              <a:srgbClr val="EEEEEE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04" name="Google Shape;104;p17"/>
          <p:cNvCxnSpPr/>
          <p:nvPr/>
        </p:nvCxnSpPr>
        <p:spPr>
          <a:xfrm flipH="1">
            <a:off x="1589386" y="1464041"/>
            <a:ext cx="387600" cy="454800"/>
          </a:xfrm>
          <a:prstGeom prst="straightConnector1">
            <a:avLst/>
          </a:prstGeom>
          <a:noFill/>
          <a:ln cap="flat" cmpd="sng" w="9525">
            <a:solidFill>
              <a:srgbClr val="EEEEEE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05" name="Google Shape;105;p17"/>
          <p:cNvCxnSpPr>
            <a:stCxn id="98" idx="3"/>
          </p:cNvCxnSpPr>
          <p:nvPr/>
        </p:nvCxnSpPr>
        <p:spPr>
          <a:xfrm flipH="1" rot="10800000">
            <a:off x="1564380" y="1250433"/>
            <a:ext cx="239100" cy="190800"/>
          </a:xfrm>
          <a:prstGeom prst="straightConnector1">
            <a:avLst/>
          </a:prstGeom>
          <a:noFill/>
          <a:ln cap="flat" cmpd="sng" w="9525">
            <a:solidFill>
              <a:srgbClr val="EEEEEE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06" name="Google Shape;106;p17"/>
          <p:cNvCxnSpPr/>
          <p:nvPr/>
        </p:nvCxnSpPr>
        <p:spPr>
          <a:xfrm rot="10800000">
            <a:off x="1564475" y="1617350"/>
            <a:ext cx="466200" cy="550200"/>
          </a:xfrm>
          <a:prstGeom prst="straightConnector1">
            <a:avLst/>
          </a:prstGeom>
          <a:noFill/>
          <a:ln cap="flat" cmpd="sng" w="9525">
            <a:solidFill>
              <a:srgbClr val="EEEEEE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07" name="Google Shape;107;p17"/>
          <p:cNvCxnSpPr/>
          <p:nvPr/>
        </p:nvCxnSpPr>
        <p:spPr>
          <a:xfrm>
            <a:off x="1278446" y="1671699"/>
            <a:ext cx="17700" cy="289800"/>
          </a:xfrm>
          <a:prstGeom prst="straightConnector1">
            <a:avLst/>
          </a:prstGeom>
          <a:noFill/>
          <a:ln cap="flat" cmpd="sng" w="9525">
            <a:solidFill>
              <a:srgbClr val="EEEEEE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08" name="Google Shape;108;p17"/>
          <p:cNvCxnSpPr/>
          <p:nvPr/>
        </p:nvCxnSpPr>
        <p:spPr>
          <a:xfrm>
            <a:off x="1621169" y="2151584"/>
            <a:ext cx="255900" cy="142200"/>
          </a:xfrm>
          <a:prstGeom prst="straightConnector1">
            <a:avLst/>
          </a:prstGeom>
          <a:noFill/>
          <a:ln cap="flat" cmpd="sng" w="9525">
            <a:solidFill>
              <a:srgbClr val="EEEEEE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09" name="Google Shape;109;p17"/>
          <p:cNvCxnSpPr/>
          <p:nvPr/>
        </p:nvCxnSpPr>
        <p:spPr>
          <a:xfrm flipH="1" rot="10800000">
            <a:off x="1621187" y="1751050"/>
            <a:ext cx="1054200" cy="298200"/>
          </a:xfrm>
          <a:prstGeom prst="straightConnector1">
            <a:avLst/>
          </a:prstGeom>
          <a:noFill/>
          <a:ln cap="flat" cmpd="sng" w="9525">
            <a:solidFill>
              <a:srgbClr val="EEEEEE"/>
            </a:solidFill>
            <a:prstDash val="solid"/>
            <a:round/>
            <a:headEnd len="med" w="med" type="triangle"/>
            <a:tailEnd len="med" w="med" type="triangle"/>
          </a:ln>
        </p:spPr>
      </p:cxnSp>
      <p:pic>
        <p:nvPicPr>
          <p:cNvPr id="110" name="Google Shape;110;p17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777700" y="1464049"/>
            <a:ext cx="554125" cy="554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8"/>
          <p:cNvSpPr txBox="1"/>
          <p:nvPr>
            <p:ph type="title"/>
          </p:nvPr>
        </p:nvSpPr>
        <p:spPr>
          <a:xfrm>
            <a:off x="0" y="0"/>
            <a:ext cx="914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Two common paradigms</a:t>
            </a:r>
            <a:endParaRPr/>
          </a:p>
        </p:txBody>
      </p:sp>
      <p:sp>
        <p:nvSpPr>
          <p:cNvPr id="116" name="Google Shape;116;p18"/>
          <p:cNvSpPr txBox="1"/>
          <p:nvPr>
            <p:ph idx="1" type="body"/>
          </p:nvPr>
        </p:nvSpPr>
        <p:spPr>
          <a:xfrm>
            <a:off x="242100" y="674550"/>
            <a:ext cx="4971000" cy="416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(And lots of other setups too!)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160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Many “computationally weak” parties want to compute private results</a:t>
            </a:r>
            <a:endParaRPr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160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Data holder wants to share/compute on data without breaking privacy regulations, having liability, violating trust.  Hire a few “computationally strong” parties.</a:t>
            </a:r>
            <a:endParaRPr/>
          </a:p>
        </p:txBody>
      </p:sp>
      <p:pic>
        <p:nvPicPr>
          <p:cNvPr id="117" name="Google Shape;117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53225" y="1353050"/>
            <a:ext cx="2854500" cy="1569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" name="Google Shape;118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928350" y="3175650"/>
            <a:ext cx="2410088" cy="1606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9"/>
          <p:cNvSpPr txBox="1"/>
          <p:nvPr>
            <p:ph type="title"/>
          </p:nvPr>
        </p:nvSpPr>
        <p:spPr>
          <a:xfrm>
            <a:off x="0" y="0"/>
            <a:ext cx="914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Example 0: Really simplified voting</a:t>
            </a:r>
            <a:endParaRPr/>
          </a:p>
        </p:txBody>
      </p:sp>
      <p:pic>
        <p:nvPicPr>
          <p:cNvPr id="124" name="Google Shape;124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02696" y="1106363"/>
            <a:ext cx="554130" cy="554131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" name="Google Shape;125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47071" y="1106375"/>
            <a:ext cx="554125" cy="554132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19"/>
          <p:cNvSpPr txBox="1"/>
          <p:nvPr/>
        </p:nvSpPr>
        <p:spPr>
          <a:xfrm>
            <a:off x="890338" y="679600"/>
            <a:ext cx="867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Sarah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27" name="Google Shape;127;p19"/>
          <p:cNvSpPr txBox="1"/>
          <p:nvPr/>
        </p:nvSpPr>
        <p:spPr>
          <a:xfrm>
            <a:off x="3048138" y="598475"/>
            <a:ext cx="867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Alice</a:t>
            </a:r>
            <a:br>
              <a:rPr lang="en">
                <a:solidFill>
                  <a:schemeClr val="dk1"/>
                </a:solidFill>
              </a:rPr>
            </a:br>
            <a:r>
              <a:rPr lang="en">
                <a:solidFill>
                  <a:schemeClr val="accent6"/>
                </a:solidFill>
              </a:rPr>
              <a:t>Yes</a:t>
            </a:r>
            <a:endParaRPr>
              <a:solidFill>
                <a:schemeClr val="accent6"/>
              </a:solidFill>
            </a:endParaRPr>
          </a:p>
        </p:txBody>
      </p:sp>
      <p:sp>
        <p:nvSpPr>
          <p:cNvPr id="128" name="Google Shape;128;p19"/>
          <p:cNvSpPr txBox="1"/>
          <p:nvPr/>
        </p:nvSpPr>
        <p:spPr>
          <a:xfrm>
            <a:off x="5540400" y="614325"/>
            <a:ext cx="867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Bob</a:t>
            </a:r>
            <a:br>
              <a:rPr lang="en">
                <a:solidFill>
                  <a:schemeClr val="dk1"/>
                </a:solidFill>
              </a:rPr>
            </a:br>
            <a:r>
              <a:rPr lang="en">
                <a:solidFill>
                  <a:schemeClr val="accent6"/>
                </a:solidFill>
              </a:rPr>
              <a:t>No</a:t>
            </a:r>
            <a:endParaRPr>
              <a:solidFill>
                <a:schemeClr val="accent6"/>
              </a:solidFill>
            </a:endParaRPr>
          </a:p>
        </p:txBody>
      </p:sp>
      <p:pic>
        <p:nvPicPr>
          <p:cNvPr id="129" name="Google Shape;129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107500" y="1106374"/>
            <a:ext cx="554125" cy="554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0" name="Google Shape;130;p1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697150" y="1106368"/>
            <a:ext cx="554130" cy="554131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19"/>
          <p:cNvSpPr txBox="1"/>
          <p:nvPr/>
        </p:nvSpPr>
        <p:spPr>
          <a:xfrm>
            <a:off x="7941075" y="614325"/>
            <a:ext cx="867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Carlos</a:t>
            </a:r>
            <a:br>
              <a:rPr lang="en">
                <a:solidFill>
                  <a:schemeClr val="dk1"/>
                </a:solidFill>
              </a:rPr>
            </a:br>
            <a:r>
              <a:rPr lang="en">
                <a:solidFill>
                  <a:schemeClr val="accent6"/>
                </a:solidFill>
              </a:rPr>
              <a:t>Yes</a:t>
            </a:r>
            <a:endParaRPr>
              <a:solidFill>
                <a:schemeClr val="accent6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0"/>
          <p:cNvSpPr txBox="1"/>
          <p:nvPr>
            <p:ph type="title"/>
          </p:nvPr>
        </p:nvSpPr>
        <p:spPr>
          <a:xfrm>
            <a:off x="0" y="0"/>
            <a:ext cx="914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Example 0: Really simplified voting</a:t>
            </a:r>
            <a:endParaRPr/>
          </a:p>
        </p:txBody>
      </p:sp>
      <p:pic>
        <p:nvPicPr>
          <p:cNvPr id="137" name="Google Shape;137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02696" y="1106363"/>
            <a:ext cx="554130" cy="554131"/>
          </a:xfrm>
          <a:prstGeom prst="rect">
            <a:avLst/>
          </a:prstGeom>
          <a:noFill/>
          <a:ln>
            <a:noFill/>
          </a:ln>
        </p:spPr>
      </p:pic>
      <p:pic>
        <p:nvPicPr>
          <p:cNvPr id="138" name="Google Shape;138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47071" y="1106375"/>
            <a:ext cx="554125" cy="554132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20"/>
          <p:cNvSpPr txBox="1"/>
          <p:nvPr/>
        </p:nvSpPr>
        <p:spPr>
          <a:xfrm>
            <a:off x="890338" y="679600"/>
            <a:ext cx="867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Sarah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40" name="Google Shape;140;p20"/>
          <p:cNvSpPr txBox="1"/>
          <p:nvPr/>
        </p:nvSpPr>
        <p:spPr>
          <a:xfrm>
            <a:off x="3048138" y="598475"/>
            <a:ext cx="867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Alice</a:t>
            </a:r>
            <a:br>
              <a:rPr lang="en">
                <a:solidFill>
                  <a:schemeClr val="dk1"/>
                </a:solidFill>
              </a:rPr>
            </a:br>
            <a:r>
              <a:rPr lang="en">
                <a:solidFill>
                  <a:schemeClr val="accent6"/>
                </a:solidFill>
              </a:rPr>
              <a:t>Yes</a:t>
            </a:r>
            <a:endParaRPr>
              <a:solidFill>
                <a:schemeClr val="accent6"/>
              </a:solidFill>
            </a:endParaRPr>
          </a:p>
        </p:txBody>
      </p:sp>
      <p:sp>
        <p:nvSpPr>
          <p:cNvPr id="141" name="Google Shape;141;p20"/>
          <p:cNvSpPr txBox="1"/>
          <p:nvPr/>
        </p:nvSpPr>
        <p:spPr>
          <a:xfrm>
            <a:off x="5540400" y="614325"/>
            <a:ext cx="867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Bob</a:t>
            </a:r>
            <a:br>
              <a:rPr lang="en">
                <a:solidFill>
                  <a:schemeClr val="dk1"/>
                </a:solidFill>
              </a:rPr>
            </a:br>
            <a:r>
              <a:rPr lang="en">
                <a:solidFill>
                  <a:schemeClr val="accent6"/>
                </a:solidFill>
              </a:rPr>
              <a:t>No</a:t>
            </a:r>
            <a:endParaRPr>
              <a:solidFill>
                <a:schemeClr val="accent6"/>
              </a:solidFill>
            </a:endParaRPr>
          </a:p>
        </p:txBody>
      </p:sp>
      <p:pic>
        <p:nvPicPr>
          <p:cNvPr id="142" name="Google Shape;142;p2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107500" y="1106374"/>
            <a:ext cx="554125" cy="554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" name="Google Shape;143;p2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697150" y="1106368"/>
            <a:ext cx="554130" cy="554131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20"/>
          <p:cNvSpPr txBox="1"/>
          <p:nvPr/>
        </p:nvSpPr>
        <p:spPr>
          <a:xfrm>
            <a:off x="7941075" y="614325"/>
            <a:ext cx="867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Carlos</a:t>
            </a:r>
            <a:br>
              <a:rPr lang="en">
                <a:solidFill>
                  <a:schemeClr val="dk1"/>
                </a:solidFill>
              </a:rPr>
            </a:br>
            <a:r>
              <a:rPr lang="en">
                <a:solidFill>
                  <a:schemeClr val="accent6"/>
                </a:solidFill>
              </a:rPr>
              <a:t>Yes</a:t>
            </a:r>
            <a:endParaRPr>
              <a:solidFill>
                <a:schemeClr val="accent6"/>
              </a:solidFill>
            </a:endParaRPr>
          </a:p>
        </p:txBody>
      </p:sp>
      <p:sp>
        <p:nvSpPr>
          <p:cNvPr id="145" name="Google Shape;145;p20"/>
          <p:cNvSpPr txBox="1"/>
          <p:nvPr>
            <p:ph idx="1" type="body"/>
          </p:nvPr>
        </p:nvSpPr>
        <p:spPr>
          <a:xfrm>
            <a:off x="311700" y="2007700"/>
            <a:ext cx="8733000" cy="298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Goals: </a:t>
            </a:r>
            <a:endParaRPr b="1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Learn number of Yes votes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Keep everyone’s individual votes secret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1"/>
          <p:cNvSpPr txBox="1"/>
          <p:nvPr>
            <p:ph type="title"/>
          </p:nvPr>
        </p:nvSpPr>
        <p:spPr>
          <a:xfrm>
            <a:off x="0" y="0"/>
            <a:ext cx="914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Example 0: Really simplified voting</a:t>
            </a:r>
            <a:endParaRPr/>
          </a:p>
        </p:txBody>
      </p:sp>
      <p:pic>
        <p:nvPicPr>
          <p:cNvPr id="151" name="Google Shape;151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02696" y="1106363"/>
            <a:ext cx="554130" cy="554131"/>
          </a:xfrm>
          <a:prstGeom prst="rect">
            <a:avLst/>
          </a:prstGeom>
          <a:noFill/>
          <a:ln>
            <a:noFill/>
          </a:ln>
        </p:spPr>
      </p:pic>
      <p:pic>
        <p:nvPicPr>
          <p:cNvPr id="152" name="Google Shape;152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47071" y="1106375"/>
            <a:ext cx="554125" cy="554132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Google Shape;153;p21"/>
          <p:cNvSpPr txBox="1"/>
          <p:nvPr/>
        </p:nvSpPr>
        <p:spPr>
          <a:xfrm>
            <a:off x="890338" y="679600"/>
            <a:ext cx="867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Sarah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54" name="Google Shape;154;p21"/>
          <p:cNvSpPr txBox="1"/>
          <p:nvPr/>
        </p:nvSpPr>
        <p:spPr>
          <a:xfrm>
            <a:off x="3048138" y="598475"/>
            <a:ext cx="867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Alice</a:t>
            </a:r>
            <a:br>
              <a:rPr lang="en">
                <a:solidFill>
                  <a:schemeClr val="dk1"/>
                </a:solidFill>
              </a:rPr>
            </a:br>
            <a:r>
              <a:rPr lang="en">
                <a:solidFill>
                  <a:schemeClr val="accent6"/>
                </a:solidFill>
              </a:rPr>
              <a:t>Yes</a:t>
            </a:r>
            <a:endParaRPr>
              <a:solidFill>
                <a:schemeClr val="accent6"/>
              </a:solidFill>
            </a:endParaRPr>
          </a:p>
        </p:txBody>
      </p:sp>
      <p:sp>
        <p:nvSpPr>
          <p:cNvPr id="155" name="Google Shape;155;p21"/>
          <p:cNvSpPr txBox="1"/>
          <p:nvPr/>
        </p:nvSpPr>
        <p:spPr>
          <a:xfrm>
            <a:off x="5540400" y="614325"/>
            <a:ext cx="867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Bob</a:t>
            </a:r>
            <a:br>
              <a:rPr lang="en">
                <a:solidFill>
                  <a:schemeClr val="dk1"/>
                </a:solidFill>
              </a:rPr>
            </a:br>
            <a:r>
              <a:rPr lang="en">
                <a:solidFill>
                  <a:schemeClr val="accent6"/>
                </a:solidFill>
              </a:rPr>
              <a:t>No</a:t>
            </a:r>
            <a:endParaRPr>
              <a:solidFill>
                <a:schemeClr val="accent6"/>
              </a:solidFill>
            </a:endParaRPr>
          </a:p>
        </p:txBody>
      </p:sp>
      <p:pic>
        <p:nvPicPr>
          <p:cNvPr id="156" name="Google Shape;156;p2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107500" y="1106374"/>
            <a:ext cx="554125" cy="554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7" name="Google Shape;157;p2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697150" y="1106368"/>
            <a:ext cx="554130" cy="554131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21"/>
          <p:cNvSpPr txBox="1"/>
          <p:nvPr/>
        </p:nvSpPr>
        <p:spPr>
          <a:xfrm>
            <a:off x="7941075" y="614325"/>
            <a:ext cx="867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Carlos</a:t>
            </a:r>
            <a:br>
              <a:rPr lang="en">
                <a:solidFill>
                  <a:schemeClr val="dk1"/>
                </a:solidFill>
              </a:rPr>
            </a:br>
            <a:r>
              <a:rPr lang="en">
                <a:solidFill>
                  <a:schemeClr val="accent6"/>
                </a:solidFill>
              </a:rPr>
              <a:t>Yes</a:t>
            </a:r>
            <a:endParaRPr>
              <a:solidFill>
                <a:schemeClr val="accent6"/>
              </a:solidFill>
            </a:endParaRPr>
          </a:p>
        </p:txBody>
      </p:sp>
      <p:sp>
        <p:nvSpPr>
          <p:cNvPr id="159" name="Google Shape;159;p21"/>
          <p:cNvSpPr txBox="1"/>
          <p:nvPr>
            <p:ph idx="1" type="body"/>
          </p:nvPr>
        </p:nvSpPr>
        <p:spPr>
          <a:xfrm>
            <a:off x="311700" y="2007700"/>
            <a:ext cx="8733000" cy="298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Goals: </a:t>
            </a:r>
            <a:endParaRPr b="1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Learn number of Yes votes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Keep everyone’s individual votes secret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b="1" lang="en"/>
              <a:t>Tools:</a:t>
            </a:r>
            <a:endParaRPr b="1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Each party is allowed to communicate in secret with each other party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Everyone follows the rules (no one “cheats”) 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22"/>
          <p:cNvSpPr txBox="1"/>
          <p:nvPr>
            <p:ph type="title"/>
          </p:nvPr>
        </p:nvSpPr>
        <p:spPr>
          <a:xfrm>
            <a:off x="0" y="0"/>
            <a:ext cx="914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Example 0: Really simplified voting</a:t>
            </a:r>
            <a:endParaRPr/>
          </a:p>
        </p:txBody>
      </p:sp>
      <p:pic>
        <p:nvPicPr>
          <p:cNvPr id="165" name="Google Shape;165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02696" y="1106363"/>
            <a:ext cx="554130" cy="554131"/>
          </a:xfrm>
          <a:prstGeom prst="rect">
            <a:avLst/>
          </a:prstGeom>
          <a:noFill/>
          <a:ln>
            <a:noFill/>
          </a:ln>
        </p:spPr>
      </p:pic>
      <p:pic>
        <p:nvPicPr>
          <p:cNvPr id="166" name="Google Shape;166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47071" y="1106375"/>
            <a:ext cx="554125" cy="554132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22"/>
          <p:cNvSpPr txBox="1"/>
          <p:nvPr/>
        </p:nvSpPr>
        <p:spPr>
          <a:xfrm>
            <a:off x="890338" y="679600"/>
            <a:ext cx="867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Sarah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68" name="Google Shape;168;p22"/>
          <p:cNvSpPr txBox="1"/>
          <p:nvPr/>
        </p:nvSpPr>
        <p:spPr>
          <a:xfrm>
            <a:off x="3048138" y="598475"/>
            <a:ext cx="867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Alice</a:t>
            </a:r>
            <a:br>
              <a:rPr lang="en">
                <a:solidFill>
                  <a:schemeClr val="dk1"/>
                </a:solidFill>
              </a:rPr>
            </a:br>
            <a:r>
              <a:rPr lang="en">
                <a:solidFill>
                  <a:schemeClr val="accent6"/>
                </a:solidFill>
              </a:rPr>
              <a:t>Yes</a:t>
            </a:r>
            <a:endParaRPr>
              <a:solidFill>
                <a:schemeClr val="accent6"/>
              </a:solidFill>
            </a:endParaRPr>
          </a:p>
        </p:txBody>
      </p:sp>
      <p:sp>
        <p:nvSpPr>
          <p:cNvPr id="169" name="Google Shape;169;p22"/>
          <p:cNvSpPr txBox="1"/>
          <p:nvPr/>
        </p:nvSpPr>
        <p:spPr>
          <a:xfrm>
            <a:off x="5540400" y="614325"/>
            <a:ext cx="867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Bob</a:t>
            </a:r>
            <a:br>
              <a:rPr lang="en">
                <a:solidFill>
                  <a:schemeClr val="dk1"/>
                </a:solidFill>
              </a:rPr>
            </a:br>
            <a:r>
              <a:rPr lang="en">
                <a:solidFill>
                  <a:schemeClr val="accent6"/>
                </a:solidFill>
              </a:rPr>
              <a:t>No</a:t>
            </a:r>
            <a:endParaRPr>
              <a:solidFill>
                <a:schemeClr val="accent6"/>
              </a:solidFill>
            </a:endParaRPr>
          </a:p>
        </p:txBody>
      </p:sp>
      <p:pic>
        <p:nvPicPr>
          <p:cNvPr id="170" name="Google Shape;170;p2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107500" y="1106374"/>
            <a:ext cx="554125" cy="554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p2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697150" y="1106368"/>
            <a:ext cx="554130" cy="554131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p22"/>
          <p:cNvSpPr txBox="1"/>
          <p:nvPr/>
        </p:nvSpPr>
        <p:spPr>
          <a:xfrm>
            <a:off x="7941075" y="614325"/>
            <a:ext cx="867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Carlos</a:t>
            </a:r>
            <a:br>
              <a:rPr lang="en">
                <a:solidFill>
                  <a:schemeClr val="dk1"/>
                </a:solidFill>
              </a:rPr>
            </a:br>
            <a:r>
              <a:rPr lang="en">
                <a:solidFill>
                  <a:schemeClr val="accent6"/>
                </a:solidFill>
              </a:rPr>
              <a:t>Yes</a:t>
            </a:r>
            <a:endParaRPr>
              <a:solidFill>
                <a:schemeClr val="accent6"/>
              </a:solidFill>
            </a:endParaRPr>
          </a:p>
        </p:txBody>
      </p:sp>
      <p:sp>
        <p:nvSpPr>
          <p:cNvPr id="173" name="Google Shape;173;p22"/>
          <p:cNvSpPr txBox="1"/>
          <p:nvPr>
            <p:ph idx="1" type="body"/>
          </p:nvPr>
        </p:nvSpPr>
        <p:spPr>
          <a:xfrm>
            <a:off x="311700" y="3881950"/>
            <a:ext cx="8733000" cy="110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"/>
              <a:t>If you all trust some third party, this would be easy… but we can get the same effect without anyone revealing their individual vote to anyone else.</a:t>
            </a:r>
            <a:endParaRPr/>
          </a:p>
        </p:txBody>
      </p:sp>
      <p:cxnSp>
        <p:nvCxnSpPr>
          <p:cNvPr id="174" name="Google Shape;174;p22"/>
          <p:cNvCxnSpPr/>
          <p:nvPr/>
        </p:nvCxnSpPr>
        <p:spPr>
          <a:xfrm rot="10800000">
            <a:off x="1596050" y="2041875"/>
            <a:ext cx="1629900" cy="0"/>
          </a:xfrm>
          <a:prstGeom prst="straightConnector1">
            <a:avLst/>
          </a:prstGeom>
          <a:noFill/>
          <a:ln cap="flat" cmpd="sng" w="38100">
            <a:solidFill>
              <a:schemeClr val="accent6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75" name="Google Shape;175;p22"/>
          <p:cNvSpPr txBox="1"/>
          <p:nvPr>
            <p:ph idx="1" type="body"/>
          </p:nvPr>
        </p:nvSpPr>
        <p:spPr>
          <a:xfrm>
            <a:off x="2166450" y="1619650"/>
            <a:ext cx="1019700" cy="44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">
                <a:solidFill>
                  <a:schemeClr val="accent6"/>
                </a:solidFill>
              </a:rPr>
              <a:t>Yes</a:t>
            </a:r>
            <a:endParaRPr>
              <a:solidFill>
                <a:schemeClr val="accent6"/>
              </a:solidFill>
            </a:endParaRPr>
          </a:p>
        </p:txBody>
      </p:sp>
      <p:cxnSp>
        <p:nvCxnSpPr>
          <p:cNvPr id="176" name="Google Shape;176;p22"/>
          <p:cNvCxnSpPr/>
          <p:nvPr/>
        </p:nvCxnSpPr>
        <p:spPr>
          <a:xfrm rot="10800000">
            <a:off x="1601150" y="2410100"/>
            <a:ext cx="4331100" cy="0"/>
          </a:xfrm>
          <a:prstGeom prst="straightConnector1">
            <a:avLst/>
          </a:prstGeom>
          <a:noFill/>
          <a:ln cap="flat" cmpd="sng" w="38100">
            <a:solidFill>
              <a:schemeClr val="accent6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77" name="Google Shape;177;p22"/>
          <p:cNvSpPr txBox="1"/>
          <p:nvPr>
            <p:ph idx="1" type="body"/>
          </p:nvPr>
        </p:nvSpPr>
        <p:spPr>
          <a:xfrm>
            <a:off x="3552300" y="1987875"/>
            <a:ext cx="1019700" cy="44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">
                <a:solidFill>
                  <a:schemeClr val="accent6"/>
                </a:solidFill>
              </a:rPr>
              <a:t>No</a:t>
            </a:r>
            <a:endParaRPr>
              <a:solidFill>
                <a:schemeClr val="accent6"/>
              </a:solidFill>
            </a:endParaRPr>
          </a:p>
        </p:txBody>
      </p:sp>
      <p:cxnSp>
        <p:nvCxnSpPr>
          <p:cNvPr id="178" name="Google Shape;178;p22"/>
          <p:cNvCxnSpPr/>
          <p:nvPr/>
        </p:nvCxnSpPr>
        <p:spPr>
          <a:xfrm rot="10800000">
            <a:off x="1601050" y="2790625"/>
            <a:ext cx="6847200" cy="0"/>
          </a:xfrm>
          <a:prstGeom prst="straightConnector1">
            <a:avLst/>
          </a:prstGeom>
          <a:noFill/>
          <a:ln cap="flat" cmpd="sng" w="38100">
            <a:solidFill>
              <a:schemeClr val="accent6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79" name="Google Shape;179;p22"/>
          <p:cNvSpPr txBox="1"/>
          <p:nvPr>
            <p:ph idx="1" type="body"/>
          </p:nvPr>
        </p:nvSpPr>
        <p:spPr>
          <a:xfrm>
            <a:off x="4677450" y="2376650"/>
            <a:ext cx="1019700" cy="44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">
                <a:solidFill>
                  <a:schemeClr val="accent6"/>
                </a:solidFill>
              </a:rPr>
              <a:t>Yes</a:t>
            </a:r>
            <a:endParaRPr>
              <a:solidFill>
                <a:schemeClr val="accent6"/>
              </a:solidFill>
            </a:endParaRPr>
          </a:p>
        </p:txBody>
      </p:sp>
      <p:sp>
        <p:nvSpPr>
          <p:cNvPr id="180" name="Google Shape;180;p22"/>
          <p:cNvSpPr/>
          <p:nvPr/>
        </p:nvSpPr>
        <p:spPr>
          <a:xfrm>
            <a:off x="908725" y="3018675"/>
            <a:ext cx="1121700" cy="554100"/>
          </a:xfrm>
          <a:prstGeom prst="wedgeRectCallout">
            <a:avLst>
              <a:gd fmla="val -20886" name="adj1"/>
              <a:gd fmla="val -87417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 Yes votes</a:t>
            </a:r>
            <a:endParaRPr/>
          </a:p>
        </p:txBody>
      </p:sp>
      <p:sp>
        <p:nvSpPr>
          <p:cNvPr id="181" name="Google Shape;181;p22"/>
          <p:cNvSpPr/>
          <p:nvPr/>
        </p:nvSpPr>
        <p:spPr>
          <a:xfrm>
            <a:off x="2812800" y="1147575"/>
            <a:ext cx="3518400" cy="2570100"/>
          </a:xfrm>
          <a:prstGeom prst="noSmoking">
            <a:avLst>
              <a:gd fmla="val 6290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23"/>
          <p:cNvSpPr txBox="1"/>
          <p:nvPr>
            <p:ph type="title"/>
          </p:nvPr>
        </p:nvSpPr>
        <p:spPr>
          <a:xfrm>
            <a:off x="0" y="0"/>
            <a:ext cx="914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Example 1: Simple voting</a:t>
            </a:r>
            <a:endParaRPr/>
          </a:p>
        </p:txBody>
      </p:sp>
      <p:pic>
        <p:nvPicPr>
          <p:cNvPr id="187" name="Google Shape;187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02696" y="1106363"/>
            <a:ext cx="554130" cy="554131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Google Shape;188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47071" y="1106375"/>
            <a:ext cx="554125" cy="554132"/>
          </a:xfrm>
          <a:prstGeom prst="rect">
            <a:avLst/>
          </a:prstGeom>
          <a:noFill/>
          <a:ln>
            <a:noFill/>
          </a:ln>
        </p:spPr>
      </p:pic>
      <p:sp>
        <p:nvSpPr>
          <p:cNvPr id="189" name="Google Shape;189;p23"/>
          <p:cNvSpPr txBox="1"/>
          <p:nvPr/>
        </p:nvSpPr>
        <p:spPr>
          <a:xfrm>
            <a:off x="890338" y="679600"/>
            <a:ext cx="867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Sarah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90" name="Google Shape;190;p23"/>
          <p:cNvSpPr txBox="1"/>
          <p:nvPr/>
        </p:nvSpPr>
        <p:spPr>
          <a:xfrm>
            <a:off x="3048138" y="598475"/>
            <a:ext cx="867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Alice</a:t>
            </a:r>
            <a:br>
              <a:rPr lang="en">
                <a:solidFill>
                  <a:schemeClr val="dk1"/>
                </a:solidFill>
              </a:rPr>
            </a:br>
            <a:r>
              <a:rPr lang="en">
                <a:solidFill>
                  <a:schemeClr val="accent6"/>
                </a:solidFill>
              </a:rPr>
              <a:t>Yes</a:t>
            </a:r>
            <a:endParaRPr>
              <a:solidFill>
                <a:schemeClr val="accent6"/>
              </a:solidFill>
            </a:endParaRPr>
          </a:p>
        </p:txBody>
      </p:sp>
      <p:sp>
        <p:nvSpPr>
          <p:cNvPr id="191" name="Google Shape;191;p23"/>
          <p:cNvSpPr txBox="1"/>
          <p:nvPr/>
        </p:nvSpPr>
        <p:spPr>
          <a:xfrm>
            <a:off x="5540400" y="614325"/>
            <a:ext cx="867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Bob</a:t>
            </a:r>
            <a:br>
              <a:rPr lang="en">
                <a:solidFill>
                  <a:schemeClr val="dk1"/>
                </a:solidFill>
              </a:rPr>
            </a:br>
            <a:r>
              <a:rPr lang="en">
                <a:solidFill>
                  <a:schemeClr val="accent6"/>
                </a:solidFill>
              </a:rPr>
              <a:t>No</a:t>
            </a:r>
            <a:endParaRPr>
              <a:solidFill>
                <a:schemeClr val="accent6"/>
              </a:solidFill>
            </a:endParaRPr>
          </a:p>
        </p:txBody>
      </p:sp>
      <p:pic>
        <p:nvPicPr>
          <p:cNvPr id="192" name="Google Shape;192;p2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107500" y="1106374"/>
            <a:ext cx="554125" cy="554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" name="Google Shape;193;p2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697150" y="1106368"/>
            <a:ext cx="554130" cy="554131"/>
          </a:xfrm>
          <a:prstGeom prst="rect">
            <a:avLst/>
          </a:prstGeom>
          <a:noFill/>
          <a:ln>
            <a:noFill/>
          </a:ln>
        </p:spPr>
      </p:pic>
      <p:sp>
        <p:nvSpPr>
          <p:cNvPr id="194" name="Google Shape;194;p23"/>
          <p:cNvSpPr txBox="1"/>
          <p:nvPr/>
        </p:nvSpPr>
        <p:spPr>
          <a:xfrm>
            <a:off x="7941075" y="614325"/>
            <a:ext cx="867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Carlos</a:t>
            </a:r>
            <a:br>
              <a:rPr lang="en">
                <a:solidFill>
                  <a:schemeClr val="dk1"/>
                </a:solidFill>
              </a:rPr>
            </a:br>
            <a:r>
              <a:rPr lang="en">
                <a:solidFill>
                  <a:schemeClr val="accent6"/>
                </a:solidFill>
              </a:rPr>
              <a:t>Yes</a:t>
            </a:r>
            <a:endParaRPr>
              <a:solidFill>
                <a:schemeClr val="accent6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24"/>
          <p:cNvSpPr txBox="1"/>
          <p:nvPr>
            <p:ph type="title"/>
          </p:nvPr>
        </p:nvSpPr>
        <p:spPr>
          <a:xfrm>
            <a:off x="0" y="0"/>
            <a:ext cx="914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Example 1: Simple voting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00" name="Google Shape;200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02696" y="1106363"/>
            <a:ext cx="554130" cy="554131"/>
          </a:xfrm>
          <a:prstGeom prst="rect">
            <a:avLst/>
          </a:prstGeom>
          <a:noFill/>
          <a:ln>
            <a:noFill/>
          </a:ln>
        </p:spPr>
      </p:pic>
      <p:pic>
        <p:nvPicPr>
          <p:cNvPr id="201" name="Google Shape;201;p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47071" y="1106375"/>
            <a:ext cx="554125" cy="554132"/>
          </a:xfrm>
          <a:prstGeom prst="rect">
            <a:avLst/>
          </a:prstGeom>
          <a:noFill/>
          <a:ln>
            <a:noFill/>
          </a:ln>
        </p:spPr>
      </p:pic>
      <p:sp>
        <p:nvSpPr>
          <p:cNvPr id="202" name="Google Shape;202;p24"/>
          <p:cNvSpPr txBox="1"/>
          <p:nvPr/>
        </p:nvSpPr>
        <p:spPr>
          <a:xfrm>
            <a:off x="890338" y="679600"/>
            <a:ext cx="867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Sarah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203" name="Google Shape;203;p24"/>
          <p:cNvSpPr txBox="1"/>
          <p:nvPr/>
        </p:nvSpPr>
        <p:spPr>
          <a:xfrm>
            <a:off x="3048138" y="598475"/>
            <a:ext cx="867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Alice</a:t>
            </a:r>
            <a:br>
              <a:rPr lang="en">
                <a:solidFill>
                  <a:schemeClr val="dk1"/>
                </a:solidFill>
              </a:rPr>
            </a:br>
            <a:r>
              <a:rPr lang="en">
                <a:solidFill>
                  <a:schemeClr val="accent6"/>
                </a:solidFill>
              </a:rPr>
              <a:t>Yes</a:t>
            </a:r>
            <a:endParaRPr>
              <a:solidFill>
                <a:schemeClr val="accent6"/>
              </a:solidFill>
            </a:endParaRPr>
          </a:p>
        </p:txBody>
      </p:sp>
      <p:sp>
        <p:nvSpPr>
          <p:cNvPr id="204" name="Google Shape;204;p24"/>
          <p:cNvSpPr txBox="1"/>
          <p:nvPr/>
        </p:nvSpPr>
        <p:spPr>
          <a:xfrm>
            <a:off x="5540400" y="614325"/>
            <a:ext cx="867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Bob</a:t>
            </a:r>
            <a:br>
              <a:rPr lang="en">
                <a:solidFill>
                  <a:schemeClr val="dk1"/>
                </a:solidFill>
              </a:rPr>
            </a:br>
            <a:r>
              <a:rPr lang="en">
                <a:solidFill>
                  <a:schemeClr val="accent6"/>
                </a:solidFill>
              </a:rPr>
              <a:t>No</a:t>
            </a:r>
            <a:endParaRPr>
              <a:solidFill>
                <a:schemeClr val="accent6"/>
              </a:solidFill>
            </a:endParaRPr>
          </a:p>
        </p:txBody>
      </p:sp>
      <p:pic>
        <p:nvPicPr>
          <p:cNvPr id="205" name="Google Shape;205;p2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107500" y="1106374"/>
            <a:ext cx="554125" cy="554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6" name="Google Shape;206;p2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697150" y="1106368"/>
            <a:ext cx="554130" cy="554131"/>
          </a:xfrm>
          <a:prstGeom prst="rect">
            <a:avLst/>
          </a:prstGeom>
          <a:noFill/>
          <a:ln>
            <a:noFill/>
          </a:ln>
        </p:spPr>
      </p:pic>
      <p:sp>
        <p:nvSpPr>
          <p:cNvPr id="207" name="Google Shape;207;p24"/>
          <p:cNvSpPr txBox="1"/>
          <p:nvPr/>
        </p:nvSpPr>
        <p:spPr>
          <a:xfrm>
            <a:off x="7941075" y="614325"/>
            <a:ext cx="867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Carlos</a:t>
            </a:r>
            <a:br>
              <a:rPr lang="en">
                <a:solidFill>
                  <a:schemeClr val="dk1"/>
                </a:solidFill>
              </a:rPr>
            </a:br>
            <a:r>
              <a:rPr lang="en">
                <a:solidFill>
                  <a:schemeClr val="accent6"/>
                </a:solidFill>
              </a:rPr>
              <a:t>Yes</a:t>
            </a:r>
            <a:endParaRPr>
              <a:solidFill>
                <a:schemeClr val="accent6"/>
              </a:solidFill>
            </a:endParaRPr>
          </a:p>
        </p:txBody>
      </p:sp>
      <p:sp>
        <p:nvSpPr>
          <p:cNvPr id="208" name="Google Shape;208;p24"/>
          <p:cNvSpPr txBox="1"/>
          <p:nvPr>
            <p:ph idx="1" type="body"/>
          </p:nvPr>
        </p:nvSpPr>
        <p:spPr>
          <a:xfrm>
            <a:off x="169100" y="1559275"/>
            <a:ext cx="2583000" cy="95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171450" lvl="0" marL="457200" rtl="0" algn="l">
              <a:spcBef>
                <a:spcPts val="0"/>
              </a:spcBef>
              <a:spcAft>
                <a:spcPts val="0"/>
              </a:spcAft>
              <a:buSzPts val="1500"/>
              <a:buAutoNum type="arabicPeriod"/>
            </a:pPr>
            <a:r>
              <a:rPr lang="en" sz="1500"/>
              <a:t>I write secret “s”</a:t>
            </a:r>
            <a:br>
              <a:rPr lang="en" sz="1500"/>
            </a:br>
            <a:r>
              <a:rPr lang="en" sz="1500"/>
              <a:t>and give to Alice</a:t>
            </a:r>
            <a:br>
              <a:rPr lang="en" sz="1500"/>
            </a:br>
            <a:r>
              <a:rPr lang="en" sz="1500"/>
              <a:t>(no one else sees)</a:t>
            </a:r>
            <a:endParaRPr sz="1500"/>
          </a:p>
        </p:txBody>
      </p:sp>
      <p:cxnSp>
        <p:nvCxnSpPr>
          <p:cNvPr id="209" name="Google Shape;209;p24"/>
          <p:cNvCxnSpPr/>
          <p:nvPr/>
        </p:nvCxnSpPr>
        <p:spPr>
          <a:xfrm>
            <a:off x="2278450" y="2041875"/>
            <a:ext cx="924000" cy="0"/>
          </a:xfrm>
          <a:prstGeom prst="straightConnector1">
            <a:avLst/>
          </a:prstGeom>
          <a:noFill/>
          <a:ln cap="flat" cmpd="sng" w="38100">
            <a:solidFill>
              <a:schemeClr val="accent6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10" name="Google Shape;210;p24"/>
          <p:cNvSpPr txBox="1"/>
          <p:nvPr>
            <p:ph idx="1" type="body"/>
          </p:nvPr>
        </p:nvSpPr>
        <p:spPr>
          <a:xfrm>
            <a:off x="2478825" y="1560000"/>
            <a:ext cx="406500" cy="44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">
                <a:solidFill>
                  <a:schemeClr val="accent6"/>
                </a:solidFill>
              </a:rPr>
              <a:t>5</a:t>
            </a:r>
            <a:endParaRPr>
              <a:solidFill>
                <a:schemeClr val="accent6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25"/>
          <p:cNvSpPr txBox="1"/>
          <p:nvPr>
            <p:ph type="title"/>
          </p:nvPr>
        </p:nvSpPr>
        <p:spPr>
          <a:xfrm>
            <a:off x="0" y="0"/>
            <a:ext cx="914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Example 1: Simple voting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16" name="Google Shape;216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02696" y="1106363"/>
            <a:ext cx="554130" cy="554131"/>
          </a:xfrm>
          <a:prstGeom prst="rect">
            <a:avLst/>
          </a:prstGeom>
          <a:noFill/>
          <a:ln>
            <a:noFill/>
          </a:ln>
        </p:spPr>
      </p:pic>
      <p:pic>
        <p:nvPicPr>
          <p:cNvPr id="217" name="Google Shape;217;p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47071" y="1106375"/>
            <a:ext cx="554125" cy="554132"/>
          </a:xfrm>
          <a:prstGeom prst="rect">
            <a:avLst/>
          </a:prstGeom>
          <a:noFill/>
          <a:ln>
            <a:noFill/>
          </a:ln>
        </p:spPr>
      </p:pic>
      <p:sp>
        <p:nvSpPr>
          <p:cNvPr id="218" name="Google Shape;218;p25"/>
          <p:cNvSpPr txBox="1"/>
          <p:nvPr/>
        </p:nvSpPr>
        <p:spPr>
          <a:xfrm>
            <a:off x="890338" y="679600"/>
            <a:ext cx="867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Sarah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219" name="Google Shape;219;p25"/>
          <p:cNvSpPr txBox="1"/>
          <p:nvPr/>
        </p:nvSpPr>
        <p:spPr>
          <a:xfrm>
            <a:off x="3048138" y="598475"/>
            <a:ext cx="867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Alice</a:t>
            </a:r>
            <a:br>
              <a:rPr lang="en">
                <a:solidFill>
                  <a:schemeClr val="dk1"/>
                </a:solidFill>
              </a:rPr>
            </a:br>
            <a:r>
              <a:rPr lang="en">
                <a:solidFill>
                  <a:schemeClr val="accent6"/>
                </a:solidFill>
              </a:rPr>
              <a:t>Yes</a:t>
            </a:r>
            <a:endParaRPr>
              <a:solidFill>
                <a:schemeClr val="accent6"/>
              </a:solidFill>
            </a:endParaRPr>
          </a:p>
        </p:txBody>
      </p:sp>
      <p:sp>
        <p:nvSpPr>
          <p:cNvPr id="220" name="Google Shape;220;p25"/>
          <p:cNvSpPr txBox="1"/>
          <p:nvPr/>
        </p:nvSpPr>
        <p:spPr>
          <a:xfrm>
            <a:off x="5540400" y="614325"/>
            <a:ext cx="867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Bob</a:t>
            </a:r>
            <a:br>
              <a:rPr lang="en">
                <a:solidFill>
                  <a:schemeClr val="dk1"/>
                </a:solidFill>
              </a:rPr>
            </a:br>
            <a:r>
              <a:rPr lang="en">
                <a:solidFill>
                  <a:schemeClr val="accent6"/>
                </a:solidFill>
              </a:rPr>
              <a:t>No</a:t>
            </a:r>
            <a:endParaRPr>
              <a:solidFill>
                <a:schemeClr val="accent6"/>
              </a:solidFill>
            </a:endParaRPr>
          </a:p>
        </p:txBody>
      </p:sp>
      <p:pic>
        <p:nvPicPr>
          <p:cNvPr id="221" name="Google Shape;221;p2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107500" y="1106374"/>
            <a:ext cx="554125" cy="554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2" name="Google Shape;222;p2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697150" y="1106368"/>
            <a:ext cx="554130" cy="554131"/>
          </a:xfrm>
          <a:prstGeom prst="rect">
            <a:avLst/>
          </a:prstGeom>
          <a:noFill/>
          <a:ln>
            <a:noFill/>
          </a:ln>
        </p:spPr>
      </p:pic>
      <p:sp>
        <p:nvSpPr>
          <p:cNvPr id="223" name="Google Shape;223;p25"/>
          <p:cNvSpPr txBox="1"/>
          <p:nvPr/>
        </p:nvSpPr>
        <p:spPr>
          <a:xfrm>
            <a:off x="7941075" y="614325"/>
            <a:ext cx="867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Carlos</a:t>
            </a:r>
            <a:br>
              <a:rPr lang="en">
                <a:solidFill>
                  <a:schemeClr val="dk1"/>
                </a:solidFill>
              </a:rPr>
            </a:br>
            <a:r>
              <a:rPr lang="en">
                <a:solidFill>
                  <a:schemeClr val="accent6"/>
                </a:solidFill>
              </a:rPr>
              <a:t>Yes</a:t>
            </a:r>
            <a:endParaRPr>
              <a:solidFill>
                <a:schemeClr val="accent6"/>
              </a:solidFill>
            </a:endParaRPr>
          </a:p>
        </p:txBody>
      </p:sp>
      <p:sp>
        <p:nvSpPr>
          <p:cNvPr id="224" name="Google Shape;224;p25"/>
          <p:cNvSpPr txBox="1"/>
          <p:nvPr>
            <p:ph idx="1" type="body"/>
          </p:nvPr>
        </p:nvSpPr>
        <p:spPr>
          <a:xfrm>
            <a:off x="169100" y="1559275"/>
            <a:ext cx="2583000" cy="95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171450" lvl="0" marL="457200" rtl="0" algn="l">
              <a:spcBef>
                <a:spcPts val="0"/>
              </a:spcBef>
              <a:spcAft>
                <a:spcPts val="0"/>
              </a:spcAft>
              <a:buSzPts val="1500"/>
              <a:buAutoNum type="arabicPeriod"/>
            </a:pPr>
            <a:r>
              <a:rPr lang="en" sz="1500"/>
              <a:t>I write secret “s”</a:t>
            </a:r>
            <a:br>
              <a:rPr lang="en" sz="1500"/>
            </a:br>
            <a:r>
              <a:rPr lang="en" sz="1500"/>
              <a:t>and give to Alice</a:t>
            </a:r>
            <a:br>
              <a:rPr lang="en" sz="1500"/>
            </a:br>
            <a:r>
              <a:rPr lang="en" sz="1500"/>
              <a:t>(no one else sees)</a:t>
            </a:r>
            <a:endParaRPr sz="1500"/>
          </a:p>
        </p:txBody>
      </p:sp>
      <p:sp>
        <p:nvSpPr>
          <p:cNvPr id="225" name="Google Shape;225;p25"/>
          <p:cNvSpPr txBox="1"/>
          <p:nvPr>
            <p:ph idx="1" type="body"/>
          </p:nvPr>
        </p:nvSpPr>
        <p:spPr>
          <a:xfrm>
            <a:off x="2647025" y="2289175"/>
            <a:ext cx="2963100" cy="65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66700" lvl="0" marL="26670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500"/>
              <a:t>2. If Alice votes Yes,   </a:t>
            </a:r>
            <a:br>
              <a:rPr lang="en" sz="1500"/>
            </a:br>
            <a:r>
              <a:rPr lang="en" sz="1500"/>
              <a:t>send x=s+1 to Bob.  </a:t>
            </a:r>
            <a:br>
              <a:rPr lang="en" sz="1500"/>
            </a:br>
            <a:r>
              <a:rPr lang="en" sz="1500"/>
              <a:t>Else, send x=s to Bob.</a:t>
            </a:r>
            <a:endParaRPr sz="1500"/>
          </a:p>
        </p:txBody>
      </p:sp>
      <p:cxnSp>
        <p:nvCxnSpPr>
          <p:cNvPr id="226" name="Google Shape;226;p25"/>
          <p:cNvCxnSpPr/>
          <p:nvPr/>
        </p:nvCxnSpPr>
        <p:spPr>
          <a:xfrm>
            <a:off x="2278450" y="2041875"/>
            <a:ext cx="924000" cy="0"/>
          </a:xfrm>
          <a:prstGeom prst="straightConnector1">
            <a:avLst/>
          </a:prstGeom>
          <a:noFill/>
          <a:ln cap="flat" cmpd="sng" w="38100">
            <a:solidFill>
              <a:schemeClr val="accent6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27" name="Google Shape;227;p25"/>
          <p:cNvSpPr txBox="1"/>
          <p:nvPr>
            <p:ph idx="1" type="body"/>
          </p:nvPr>
        </p:nvSpPr>
        <p:spPr>
          <a:xfrm>
            <a:off x="2478825" y="1560000"/>
            <a:ext cx="406500" cy="44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">
                <a:solidFill>
                  <a:schemeClr val="accent6"/>
                </a:solidFill>
              </a:rPr>
              <a:t>5</a:t>
            </a:r>
            <a:endParaRPr>
              <a:solidFill>
                <a:schemeClr val="accent6"/>
              </a:solidFill>
            </a:endParaRPr>
          </a:p>
        </p:txBody>
      </p:sp>
      <p:cxnSp>
        <p:nvCxnSpPr>
          <p:cNvPr id="228" name="Google Shape;228;p25"/>
          <p:cNvCxnSpPr/>
          <p:nvPr/>
        </p:nvCxnSpPr>
        <p:spPr>
          <a:xfrm>
            <a:off x="4891525" y="2627013"/>
            <a:ext cx="924000" cy="0"/>
          </a:xfrm>
          <a:prstGeom prst="straightConnector1">
            <a:avLst/>
          </a:prstGeom>
          <a:noFill/>
          <a:ln cap="flat" cmpd="sng" w="38100">
            <a:solidFill>
              <a:schemeClr val="accent6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29" name="Google Shape;229;p25"/>
          <p:cNvSpPr txBox="1"/>
          <p:nvPr>
            <p:ph idx="1" type="body"/>
          </p:nvPr>
        </p:nvSpPr>
        <p:spPr>
          <a:xfrm>
            <a:off x="5091900" y="2145138"/>
            <a:ext cx="406500" cy="44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">
                <a:solidFill>
                  <a:schemeClr val="accent6"/>
                </a:solidFill>
              </a:rPr>
              <a:t>6</a:t>
            </a:r>
            <a:endParaRPr>
              <a:solidFill>
                <a:schemeClr val="accent6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26"/>
          <p:cNvSpPr txBox="1"/>
          <p:nvPr>
            <p:ph type="title"/>
          </p:nvPr>
        </p:nvSpPr>
        <p:spPr>
          <a:xfrm>
            <a:off x="0" y="0"/>
            <a:ext cx="914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Example 1: Simple voting</a:t>
            </a:r>
            <a:endParaRPr/>
          </a:p>
        </p:txBody>
      </p:sp>
      <p:pic>
        <p:nvPicPr>
          <p:cNvPr id="235" name="Google Shape;235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02696" y="1106363"/>
            <a:ext cx="554130" cy="554131"/>
          </a:xfrm>
          <a:prstGeom prst="rect">
            <a:avLst/>
          </a:prstGeom>
          <a:noFill/>
          <a:ln>
            <a:noFill/>
          </a:ln>
        </p:spPr>
      </p:pic>
      <p:pic>
        <p:nvPicPr>
          <p:cNvPr id="236" name="Google Shape;236;p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47071" y="1106375"/>
            <a:ext cx="554125" cy="554132"/>
          </a:xfrm>
          <a:prstGeom prst="rect">
            <a:avLst/>
          </a:prstGeom>
          <a:noFill/>
          <a:ln>
            <a:noFill/>
          </a:ln>
        </p:spPr>
      </p:pic>
      <p:sp>
        <p:nvSpPr>
          <p:cNvPr id="237" name="Google Shape;237;p26"/>
          <p:cNvSpPr txBox="1"/>
          <p:nvPr/>
        </p:nvSpPr>
        <p:spPr>
          <a:xfrm>
            <a:off x="890338" y="679600"/>
            <a:ext cx="867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Sarah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238" name="Google Shape;238;p26"/>
          <p:cNvSpPr txBox="1"/>
          <p:nvPr/>
        </p:nvSpPr>
        <p:spPr>
          <a:xfrm>
            <a:off x="3048138" y="598475"/>
            <a:ext cx="867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Alice</a:t>
            </a:r>
            <a:br>
              <a:rPr lang="en">
                <a:solidFill>
                  <a:schemeClr val="dk1"/>
                </a:solidFill>
              </a:rPr>
            </a:br>
            <a:r>
              <a:rPr lang="en">
                <a:solidFill>
                  <a:schemeClr val="accent6"/>
                </a:solidFill>
              </a:rPr>
              <a:t>Yes</a:t>
            </a:r>
            <a:endParaRPr>
              <a:solidFill>
                <a:schemeClr val="accent6"/>
              </a:solidFill>
            </a:endParaRPr>
          </a:p>
        </p:txBody>
      </p:sp>
      <p:sp>
        <p:nvSpPr>
          <p:cNvPr id="239" name="Google Shape;239;p26"/>
          <p:cNvSpPr txBox="1"/>
          <p:nvPr/>
        </p:nvSpPr>
        <p:spPr>
          <a:xfrm>
            <a:off x="5540400" y="614325"/>
            <a:ext cx="867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Bob</a:t>
            </a:r>
            <a:br>
              <a:rPr lang="en">
                <a:solidFill>
                  <a:schemeClr val="dk1"/>
                </a:solidFill>
              </a:rPr>
            </a:br>
            <a:r>
              <a:rPr lang="en">
                <a:solidFill>
                  <a:schemeClr val="accent6"/>
                </a:solidFill>
              </a:rPr>
              <a:t>No</a:t>
            </a:r>
            <a:endParaRPr>
              <a:solidFill>
                <a:schemeClr val="accent6"/>
              </a:solidFill>
            </a:endParaRPr>
          </a:p>
        </p:txBody>
      </p:sp>
      <p:pic>
        <p:nvPicPr>
          <p:cNvPr id="240" name="Google Shape;240;p2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107500" y="1106374"/>
            <a:ext cx="554125" cy="554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1" name="Google Shape;241;p2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697150" y="1106368"/>
            <a:ext cx="554130" cy="554131"/>
          </a:xfrm>
          <a:prstGeom prst="rect">
            <a:avLst/>
          </a:prstGeom>
          <a:noFill/>
          <a:ln>
            <a:noFill/>
          </a:ln>
        </p:spPr>
      </p:pic>
      <p:sp>
        <p:nvSpPr>
          <p:cNvPr id="242" name="Google Shape;242;p26"/>
          <p:cNvSpPr txBox="1"/>
          <p:nvPr/>
        </p:nvSpPr>
        <p:spPr>
          <a:xfrm>
            <a:off x="7941075" y="614325"/>
            <a:ext cx="867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Carlos</a:t>
            </a:r>
            <a:br>
              <a:rPr lang="en">
                <a:solidFill>
                  <a:schemeClr val="dk1"/>
                </a:solidFill>
              </a:rPr>
            </a:br>
            <a:r>
              <a:rPr lang="en">
                <a:solidFill>
                  <a:schemeClr val="accent6"/>
                </a:solidFill>
              </a:rPr>
              <a:t>Yes</a:t>
            </a:r>
            <a:endParaRPr>
              <a:solidFill>
                <a:schemeClr val="accent6"/>
              </a:solidFill>
            </a:endParaRPr>
          </a:p>
        </p:txBody>
      </p:sp>
      <p:sp>
        <p:nvSpPr>
          <p:cNvPr id="243" name="Google Shape;243;p26"/>
          <p:cNvSpPr txBox="1"/>
          <p:nvPr>
            <p:ph idx="1" type="body"/>
          </p:nvPr>
        </p:nvSpPr>
        <p:spPr>
          <a:xfrm>
            <a:off x="169100" y="1559275"/>
            <a:ext cx="2583000" cy="95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171450" lvl="0" marL="457200" rtl="0" algn="l">
              <a:spcBef>
                <a:spcPts val="0"/>
              </a:spcBef>
              <a:spcAft>
                <a:spcPts val="0"/>
              </a:spcAft>
              <a:buSzPts val="1500"/>
              <a:buAutoNum type="arabicPeriod"/>
            </a:pPr>
            <a:r>
              <a:rPr lang="en" sz="1500"/>
              <a:t>I write </a:t>
            </a:r>
            <a:r>
              <a:rPr lang="en" sz="1500"/>
              <a:t>secret “s”</a:t>
            </a:r>
            <a:br>
              <a:rPr lang="en" sz="1500"/>
            </a:br>
            <a:r>
              <a:rPr lang="en" sz="1500"/>
              <a:t>and give to Alice</a:t>
            </a:r>
            <a:br>
              <a:rPr lang="en" sz="1500"/>
            </a:br>
            <a:r>
              <a:rPr lang="en" sz="1500"/>
              <a:t>(no one else sees)</a:t>
            </a:r>
            <a:endParaRPr sz="1500"/>
          </a:p>
        </p:txBody>
      </p:sp>
      <p:sp>
        <p:nvSpPr>
          <p:cNvPr id="244" name="Google Shape;244;p26"/>
          <p:cNvSpPr txBox="1"/>
          <p:nvPr>
            <p:ph idx="1" type="body"/>
          </p:nvPr>
        </p:nvSpPr>
        <p:spPr>
          <a:xfrm>
            <a:off x="2647025" y="2289175"/>
            <a:ext cx="2963100" cy="65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66700" lvl="0" marL="26670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500"/>
              <a:t>2. If Alice votes Yes,   </a:t>
            </a:r>
            <a:br>
              <a:rPr lang="en" sz="1500"/>
            </a:br>
            <a:r>
              <a:rPr lang="en" sz="1500"/>
              <a:t>send x=s+1 to Bob.  </a:t>
            </a:r>
            <a:br>
              <a:rPr lang="en" sz="1500"/>
            </a:br>
            <a:r>
              <a:rPr lang="en" sz="1500"/>
              <a:t>Else, send x=s to Bob.</a:t>
            </a:r>
            <a:endParaRPr sz="1500"/>
          </a:p>
        </p:txBody>
      </p:sp>
      <p:cxnSp>
        <p:nvCxnSpPr>
          <p:cNvPr id="245" name="Google Shape;245;p26"/>
          <p:cNvCxnSpPr/>
          <p:nvPr/>
        </p:nvCxnSpPr>
        <p:spPr>
          <a:xfrm>
            <a:off x="2278450" y="2041875"/>
            <a:ext cx="924000" cy="0"/>
          </a:xfrm>
          <a:prstGeom prst="straightConnector1">
            <a:avLst/>
          </a:prstGeom>
          <a:noFill/>
          <a:ln cap="flat" cmpd="sng" w="38100">
            <a:solidFill>
              <a:schemeClr val="accent6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46" name="Google Shape;246;p26"/>
          <p:cNvSpPr txBox="1"/>
          <p:nvPr>
            <p:ph idx="1" type="body"/>
          </p:nvPr>
        </p:nvSpPr>
        <p:spPr>
          <a:xfrm>
            <a:off x="2478825" y="1560000"/>
            <a:ext cx="406500" cy="44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">
                <a:solidFill>
                  <a:schemeClr val="accent6"/>
                </a:solidFill>
              </a:rPr>
              <a:t>5</a:t>
            </a:r>
            <a:endParaRPr>
              <a:solidFill>
                <a:schemeClr val="accent6"/>
              </a:solidFill>
            </a:endParaRPr>
          </a:p>
        </p:txBody>
      </p:sp>
      <p:cxnSp>
        <p:nvCxnSpPr>
          <p:cNvPr id="247" name="Google Shape;247;p26"/>
          <p:cNvCxnSpPr/>
          <p:nvPr/>
        </p:nvCxnSpPr>
        <p:spPr>
          <a:xfrm>
            <a:off x="4891525" y="2627013"/>
            <a:ext cx="924000" cy="0"/>
          </a:xfrm>
          <a:prstGeom prst="straightConnector1">
            <a:avLst/>
          </a:prstGeom>
          <a:noFill/>
          <a:ln cap="flat" cmpd="sng" w="38100">
            <a:solidFill>
              <a:schemeClr val="accent6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48" name="Google Shape;248;p26"/>
          <p:cNvSpPr txBox="1"/>
          <p:nvPr>
            <p:ph idx="1" type="body"/>
          </p:nvPr>
        </p:nvSpPr>
        <p:spPr>
          <a:xfrm>
            <a:off x="5091900" y="2145138"/>
            <a:ext cx="406500" cy="44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">
                <a:solidFill>
                  <a:schemeClr val="accent6"/>
                </a:solidFill>
              </a:rPr>
              <a:t>6</a:t>
            </a:r>
            <a:endParaRPr>
              <a:solidFill>
                <a:schemeClr val="accent6"/>
              </a:solidFill>
            </a:endParaRPr>
          </a:p>
        </p:txBody>
      </p:sp>
      <p:sp>
        <p:nvSpPr>
          <p:cNvPr id="249" name="Google Shape;249;p26"/>
          <p:cNvSpPr txBox="1"/>
          <p:nvPr>
            <p:ph idx="1" type="body"/>
          </p:nvPr>
        </p:nvSpPr>
        <p:spPr>
          <a:xfrm>
            <a:off x="5074400" y="3078600"/>
            <a:ext cx="2963100" cy="65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66700" lvl="0" marL="26670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500"/>
              <a:t>3. If Bob votes Yes,   </a:t>
            </a:r>
            <a:br>
              <a:rPr lang="en" sz="1500"/>
            </a:br>
            <a:r>
              <a:rPr lang="en" sz="1500"/>
              <a:t>send y=x+1 to Carlos.  </a:t>
            </a:r>
            <a:br>
              <a:rPr lang="en" sz="1500"/>
            </a:br>
            <a:r>
              <a:rPr lang="en" sz="1500"/>
              <a:t>Else, send y=x to Carlos.</a:t>
            </a:r>
            <a:endParaRPr sz="1500"/>
          </a:p>
        </p:txBody>
      </p:sp>
      <p:cxnSp>
        <p:nvCxnSpPr>
          <p:cNvPr id="250" name="Google Shape;250;p26"/>
          <p:cNvCxnSpPr/>
          <p:nvPr/>
        </p:nvCxnSpPr>
        <p:spPr>
          <a:xfrm>
            <a:off x="7116700" y="3337463"/>
            <a:ext cx="924000" cy="0"/>
          </a:xfrm>
          <a:prstGeom prst="straightConnector1">
            <a:avLst/>
          </a:prstGeom>
          <a:noFill/>
          <a:ln cap="flat" cmpd="sng" w="38100">
            <a:solidFill>
              <a:schemeClr val="accent6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51" name="Google Shape;251;p26"/>
          <p:cNvSpPr txBox="1"/>
          <p:nvPr>
            <p:ph idx="1" type="body"/>
          </p:nvPr>
        </p:nvSpPr>
        <p:spPr>
          <a:xfrm>
            <a:off x="7309500" y="2858338"/>
            <a:ext cx="406500" cy="44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">
                <a:solidFill>
                  <a:schemeClr val="accent6"/>
                </a:solidFill>
              </a:rPr>
              <a:t>6</a:t>
            </a:r>
            <a:endParaRPr>
              <a:solidFill>
                <a:schemeClr val="accent6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27"/>
          <p:cNvSpPr txBox="1"/>
          <p:nvPr>
            <p:ph type="title"/>
          </p:nvPr>
        </p:nvSpPr>
        <p:spPr>
          <a:xfrm>
            <a:off x="0" y="0"/>
            <a:ext cx="914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Example 1: Simple voting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57" name="Google Shape;257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02696" y="1106363"/>
            <a:ext cx="554130" cy="554131"/>
          </a:xfrm>
          <a:prstGeom prst="rect">
            <a:avLst/>
          </a:prstGeom>
          <a:noFill/>
          <a:ln>
            <a:noFill/>
          </a:ln>
        </p:spPr>
      </p:pic>
      <p:pic>
        <p:nvPicPr>
          <p:cNvPr id="258" name="Google Shape;258;p2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47071" y="1106375"/>
            <a:ext cx="554125" cy="554132"/>
          </a:xfrm>
          <a:prstGeom prst="rect">
            <a:avLst/>
          </a:prstGeom>
          <a:noFill/>
          <a:ln>
            <a:noFill/>
          </a:ln>
        </p:spPr>
      </p:pic>
      <p:sp>
        <p:nvSpPr>
          <p:cNvPr id="259" name="Google Shape;259;p27"/>
          <p:cNvSpPr txBox="1"/>
          <p:nvPr/>
        </p:nvSpPr>
        <p:spPr>
          <a:xfrm>
            <a:off x="890338" y="679600"/>
            <a:ext cx="867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Sarah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260" name="Google Shape;260;p27"/>
          <p:cNvSpPr txBox="1"/>
          <p:nvPr/>
        </p:nvSpPr>
        <p:spPr>
          <a:xfrm>
            <a:off x="3048138" y="598475"/>
            <a:ext cx="867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Alice</a:t>
            </a:r>
            <a:br>
              <a:rPr lang="en">
                <a:solidFill>
                  <a:schemeClr val="dk1"/>
                </a:solidFill>
              </a:rPr>
            </a:br>
            <a:r>
              <a:rPr lang="en">
                <a:solidFill>
                  <a:schemeClr val="accent6"/>
                </a:solidFill>
              </a:rPr>
              <a:t>Yes</a:t>
            </a:r>
            <a:endParaRPr>
              <a:solidFill>
                <a:schemeClr val="accent6"/>
              </a:solidFill>
            </a:endParaRPr>
          </a:p>
        </p:txBody>
      </p:sp>
      <p:sp>
        <p:nvSpPr>
          <p:cNvPr id="261" name="Google Shape;261;p27"/>
          <p:cNvSpPr txBox="1"/>
          <p:nvPr/>
        </p:nvSpPr>
        <p:spPr>
          <a:xfrm>
            <a:off x="5540400" y="614325"/>
            <a:ext cx="867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Bob</a:t>
            </a:r>
            <a:br>
              <a:rPr lang="en">
                <a:solidFill>
                  <a:schemeClr val="dk1"/>
                </a:solidFill>
              </a:rPr>
            </a:br>
            <a:r>
              <a:rPr lang="en">
                <a:solidFill>
                  <a:schemeClr val="accent6"/>
                </a:solidFill>
              </a:rPr>
              <a:t>No</a:t>
            </a:r>
            <a:endParaRPr>
              <a:solidFill>
                <a:schemeClr val="accent6"/>
              </a:solidFill>
            </a:endParaRPr>
          </a:p>
        </p:txBody>
      </p:sp>
      <p:pic>
        <p:nvPicPr>
          <p:cNvPr id="262" name="Google Shape;262;p2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107500" y="1106374"/>
            <a:ext cx="554125" cy="554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63" name="Google Shape;263;p2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697150" y="1106368"/>
            <a:ext cx="554130" cy="554131"/>
          </a:xfrm>
          <a:prstGeom prst="rect">
            <a:avLst/>
          </a:prstGeom>
          <a:noFill/>
          <a:ln>
            <a:noFill/>
          </a:ln>
        </p:spPr>
      </p:pic>
      <p:sp>
        <p:nvSpPr>
          <p:cNvPr id="264" name="Google Shape;264;p27"/>
          <p:cNvSpPr txBox="1"/>
          <p:nvPr/>
        </p:nvSpPr>
        <p:spPr>
          <a:xfrm>
            <a:off x="7941075" y="614325"/>
            <a:ext cx="867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Carlos</a:t>
            </a:r>
            <a:br>
              <a:rPr lang="en">
                <a:solidFill>
                  <a:schemeClr val="dk1"/>
                </a:solidFill>
              </a:rPr>
            </a:br>
            <a:r>
              <a:rPr lang="en">
                <a:solidFill>
                  <a:schemeClr val="accent6"/>
                </a:solidFill>
              </a:rPr>
              <a:t>Yes</a:t>
            </a:r>
            <a:endParaRPr>
              <a:solidFill>
                <a:schemeClr val="accent6"/>
              </a:solidFill>
            </a:endParaRPr>
          </a:p>
        </p:txBody>
      </p:sp>
      <p:sp>
        <p:nvSpPr>
          <p:cNvPr id="265" name="Google Shape;265;p27"/>
          <p:cNvSpPr txBox="1"/>
          <p:nvPr>
            <p:ph idx="1" type="body"/>
          </p:nvPr>
        </p:nvSpPr>
        <p:spPr>
          <a:xfrm>
            <a:off x="169100" y="1559275"/>
            <a:ext cx="2583000" cy="95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171450" lvl="0" marL="457200" rtl="0" algn="l">
              <a:spcBef>
                <a:spcPts val="0"/>
              </a:spcBef>
              <a:spcAft>
                <a:spcPts val="0"/>
              </a:spcAft>
              <a:buSzPts val="1500"/>
              <a:buAutoNum type="arabicPeriod"/>
            </a:pPr>
            <a:r>
              <a:rPr lang="en" sz="1500"/>
              <a:t>I write secret “s”</a:t>
            </a:r>
            <a:br>
              <a:rPr lang="en" sz="1500"/>
            </a:br>
            <a:r>
              <a:rPr lang="en" sz="1500"/>
              <a:t>and give to Alice</a:t>
            </a:r>
            <a:br>
              <a:rPr lang="en" sz="1500"/>
            </a:br>
            <a:r>
              <a:rPr lang="en" sz="1500"/>
              <a:t>(no one else sees)</a:t>
            </a:r>
            <a:endParaRPr sz="1500"/>
          </a:p>
        </p:txBody>
      </p:sp>
      <p:sp>
        <p:nvSpPr>
          <p:cNvPr id="266" name="Google Shape;266;p27"/>
          <p:cNvSpPr txBox="1"/>
          <p:nvPr>
            <p:ph idx="1" type="body"/>
          </p:nvPr>
        </p:nvSpPr>
        <p:spPr>
          <a:xfrm>
            <a:off x="2647025" y="2289175"/>
            <a:ext cx="2963100" cy="65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66700" lvl="0" marL="26670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500"/>
              <a:t>2. If Alice votes Yes,   </a:t>
            </a:r>
            <a:br>
              <a:rPr lang="en" sz="1500"/>
            </a:br>
            <a:r>
              <a:rPr lang="en" sz="1500"/>
              <a:t>send x=s+1 to Bob.  </a:t>
            </a:r>
            <a:br>
              <a:rPr lang="en" sz="1500"/>
            </a:br>
            <a:r>
              <a:rPr lang="en" sz="1500"/>
              <a:t>Else, send x=s to Bob.</a:t>
            </a:r>
            <a:endParaRPr sz="1500"/>
          </a:p>
        </p:txBody>
      </p:sp>
      <p:cxnSp>
        <p:nvCxnSpPr>
          <p:cNvPr id="267" name="Google Shape;267;p27"/>
          <p:cNvCxnSpPr/>
          <p:nvPr/>
        </p:nvCxnSpPr>
        <p:spPr>
          <a:xfrm>
            <a:off x="2278450" y="2041875"/>
            <a:ext cx="924000" cy="0"/>
          </a:xfrm>
          <a:prstGeom prst="straightConnector1">
            <a:avLst/>
          </a:prstGeom>
          <a:noFill/>
          <a:ln cap="flat" cmpd="sng" w="38100">
            <a:solidFill>
              <a:schemeClr val="accent6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68" name="Google Shape;268;p27"/>
          <p:cNvSpPr txBox="1"/>
          <p:nvPr>
            <p:ph idx="1" type="body"/>
          </p:nvPr>
        </p:nvSpPr>
        <p:spPr>
          <a:xfrm>
            <a:off x="2478825" y="1560000"/>
            <a:ext cx="406500" cy="44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">
                <a:solidFill>
                  <a:schemeClr val="accent6"/>
                </a:solidFill>
              </a:rPr>
              <a:t>5</a:t>
            </a:r>
            <a:endParaRPr>
              <a:solidFill>
                <a:schemeClr val="accent6"/>
              </a:solidFill>
            </a:endParaRPr>
          </a:p>
        </p:txBody>
      </p:sp>
      <p:cxnSp>
        <p:nvCxnSpPr>
          <p:cNvPr id="269" name="Google Shape;269;p27"/>
          <p:cNvCxnSpPr/>
          <p:nvPr/>
        </p:nvCxnSpPr>
        <p:spPr>
          <a:xfrm>
            <a:off x="4891525" y="2627013"/>
            <a:ext cx="924000" cy="0"/>
          </a:xfrm>
          <a:prstGeom prst="straightConnector1">
            <a:avLst/>
          </a:prstGeom>
          <a:noFill/>
          <a:ln cap="flat" cmpd="sng" w="38100">
            <a:solidFill>
              <a:schemeClr val="accent6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70" name="Google Shape;270;p27"/>
          <p:cNvSpPr txBox="1"/>
          <p:nvPr>
            <p:ph idx="1" type="body"/>
          </p:nvPr>
        </p:nvSpPr>
        <p:spPr>
          <a:xfrm>
            <a:off x="5091900" y="2145138"/>
            <a:ext cx="406500" cy="44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">
                <a:solidFill>
                  <a:schemeClr val="accent6"/>
                </a:solidFill>
              </a:rPr>
              <a:t>6</a:t>
            </a:r>
            <a:endParaRPr>
              <a:solidFill>
                <a:schemeClr val="accent6"/>
              </a:solidFill>
            </a:endParaRPr>
          </a:p>
        </p:txBody>
      </p:sp>
      <p:sp>
        <p:nvSpPr>
          <p:cNvPr id="271" name="Google Shape;271;p27"/>
          <p:cNvSpPr txBox="1"/>
          <p:nvPr>
            <p:ph idx="1" type="body"/>
          </p:nvPr>
        </p:nvSpPr>
        <p:spPr>
          <a:xfrm>
            <a:off x="5074400" y="3078600"/>
            <a:ext cx="2963100" cy="65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66700" lvl="0" marL="26670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500"/>
              <a:t>3. If Bob votes Yes,   </a:t>
            </a:r>
            <a:br>
              <a:rPr lang="en" sz="1500"/>
            </a:br>
            <a:r>
              <a:rPr lang="en" sz="1500"/>
              <a:t>send y=x+1 to Carlos.  </a:t>
            </a:r>
            <a:br>
              <a:rPr lang="en" sz="1500"/>
            </a:br>
            <a:r>
              <a:rPr lang="en" sz="1500"/>
              <a:t>Else, send y=x to Carlos.</a:t>
            </a:r>
            <a:endParaRPr sz="1500"/>
          </a:p>
        </p:txBody>
      </p:sp>
      <p:cxnSp>
        <p:nvCxnSpPr>
          <p:cNvPr id="272" name="Google Shape;272;p27"/>
          <p:cNvCxnSpPr/>
          <p:nvPr/>
        </p:nvCxnSpPr>
        <p:spPr>
          <a:xfrm>
            <a:off x="7116700" y="3337463"/>
            <a:ext cx="924000" cy="0"/>
          </a:xfrm>
          <a:prstGeom prst="straightConnector1">
            <a:avLst/>
          </a:prstGeom>
          <a:noFill/>
          <a:ln cap="flat" cmpd="sng" w="38100">
            <a:solidFill>
              <a:schemeClr val="accent6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73" name="Google Shape;273;p27"/>
          <p:cNvSpPr txBox="1"/>
          <p:nvPr>
            <p:ph idx="1" type="body"/>
          </p:nvPr>
        </p:nvSpPr>
        <p:spPr>
          <a:xfrm>
            <a:off x="7309500" y="2858338"/>
            <a:ext cx="406500" cy="44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">
                <a:solidFill>
                  <a:schemeClr val="accent6"/>
                </a:solidFill>
              </a:rPr>
              <a:t>6</a:t>
            </a:r>
            <a:endParaRPr>
              <a:solidFill>
                <a:schemeClr val="accent6"/>
              </a:solidFill>
            </a:endParaRPr>
          </a:p>
        </p:txBody>
      </p:sp>
      <p:sp>
        <p:nvSpPr>
          <p:cNvPr id="274" name="Google Shape;274;p27"/>
          <p:cNvSpPr txBox="1"/>
          <p:nvPr>
            <p:ph idx="1" type="body"/>
          </p:nvPr>
        </p:nvSpPr>
        <p:spPr>
          <a:xfrm>
            <a:off x="6657600" y="3976925"/>
            <a:ext cx="2660700" cy="65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66700" lvl="0" marL="26670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500"/>
              <a:t>4. If Carlos votes Yes,</a:t>
            </a:r>
            <a:br>
              <a:rPr lang="en" sz="1500"/>
            </a:br>
            <a:r>
              <a:rPr lang="en" sz="1500"/>
              <a:t>send z=y+1 to Sarah.</a:t>
            </a:r>
            <a:br>
              <a:rPr lang="en" sz="1500"/>
            </a:br>
            <a:r>
              <a:rPr lang="en" sz="1500"/>
              <a:t>Else, send z=y to Sarah.</a:t>
            </a:r>
            <a:endParaRPr sz="1500"/>
          </a:p>
        </p:txBody>
      </p:sp>
      <p:cxnSp>
        <p:nvCxnSpPr>
          <p:cNvPr id="275" name="Google Shape;275;p27"/>
          <p:cNvCxnSpPr/>
          <p:nvPr/>
        </p:nvCxnSpPr>
        <p:spPr>
          <a:xfrm>
            <a:off x="133475" y="4296975"/>
            <a:ext cx="369300" cy="0"/>
          </a:xfrm>
          <a:prstGeom prst="straightConnector1">
            <a:avLst/>
          </a:prstGeom>
          <a:noFill/>
          <a:ln cap="flat" cmpd="sng" w="38100">
            <a:solidFill>
              <a:schemeClr val="accent6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76" name="Google Shape;276;p27"/>
          <p:cNvSpPr txBox="1"/>
          <p:nvPr>
            <p:ph idx="1" type="body"/>
          </p:nvPr>
        </p:nvSpPr>
        <p:spPr>
          <a:xfrm>
            <a:off x="74675" y="3792413"/>
            <a:ext cx="406500" cy="44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">
                <a:solidFill>
                  <a:schemeClr val="accent6"/>
                </a:solidFill>
              </a:rPr>
              <a:t>7</a:t>
            </a:r>
            <a:endParaRPr>
              <a:solidFill>
                <a:schemeClr val="accent6"/>
              </a:solidFill>
            </a:endParaRPr>
          </a:p>
        </p:txBody>
      </p:sp>
      <p:cxnSp>
        <p:nvCxnSpPr>
          <p:cNvPr id="277" name="Google Shape;277;p27"/>
          <p:cNvCxnSpPr/>
          <p:nvPr/>
        </p:nvCxnSpPr>
        <p:spPr>
          <a:xfrm>
            <a:off x="125750" y="4296975"/>
            <a:ext cx="0" cy="704100"/>
          </a:xfrm>
          <a:prstGeom prst="straightConnector1">
            <a:avLst/>
          </a:prstGeom>
          <a:noFill/>
          <a:ln cap="flat" cmpd="sng" w="38100">
            <a:solidFill>
              <a:schemeClr val="accent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78" name="Google Shape;278;p27"/>
          <p:cNvCxnSpPr/>
          <p:nvPr/>
        </p:nvCxnSpPr>
        <p:spPr>
          <a:xfrm rot="10800000">
            <a:off x="124925" y="5004275"/>
            <a:ext cx="8611800" cy="0"/>
          </a:xfrm>
          <a:prstGeom prst="straightConnector1">
            <a:avLst/>
          </a:prstGeom>
          <a:noFill/>
          <a:ln cap="flat" cmpd="sng" w="38100">
            <a:solidFill>
              <a:schemeClr val="accent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79" name="Google Shape;279;p27"/>
          <p:cNvCxnSpPr/>
          <p:nvPr/>
        </p:nvCxnSpPr>
        <p:spPr>
          <a:xfrm rot="10800000">
            <a:off x="8736725" y="4888175"/>
            <a:ext cx="0" cy="116100"/>
          </a:xfrm>
          <a:prstGeom prst="straightConnector1">
            <a:avLst/>
          </a:prstGeom>
          <a:noFill/>
          <a:ln cap="flat" cmpd="sng" w="38100">
            <a:solidFill>
              <a:schemeClr val="accent6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28"/>
          <p:cNvSpPr/>
          <p:nvPr/>
        </p:nvSpPr>
        <p:spPr>
          <a:xfrm>
            <a:off x="3143625" y="4360900"/>
            <a:ext cx="1297800" cy="447000"/>
          </a:xfrm>
          <a:prstGeom prst="wedgeRectCallout">
            <a:avLst>
              <a:gd fmla="val -183258" name="adj1"/>
              <a:gd fmla="val 18847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 Yes votes</a:t>
            </a:r>
            <a:endParaRPr/>
          </a:p>
        </p:txBody>
      </p:sp>
      <p:sp>
        <p:nvSpPr>
          <p:cNvPr id="285" name="Google Shape;285;p28"/>
          <p:cNvSpPr txBox="1"/>
          <p:nvPr>
            <p:ph type="title"/>
          </p:nvPr>
        </p:nvSpPr>
        <p:spPr>
          <a:xfrm>
            <a:off x="0" y="0"/>
            <a:ext cx="914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Example 1: Simple voting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86" name="Google Shape;286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02696" y="1106363"/>
            <a:ext cx="554130" cy="554131"/>
          </a:xfrm>
          <a:prstGeom prst="rect">
            <a:avLst/>
          </a:prstGeom>
          <a:noFill/>
          <a:ln>
            <a:noFill/>
          </a:ln>
        </p:spPr>
      </p:pic>
      <p:pic>
        <p:nvPicPr>
          <p:cNvPr id="287" name="Google Shape;287;p2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47071" y="1106375"/>
            <a:ext cx="554125" cy="554132"/>
          </a:xfrm>
          <a:prstGeom prst="rect">
            <a:avLst/>
          </a:prstGeom>
          <a:noFill/>
          <a:ln>
            <a:noFill/>
          </a:ln>
        </p:spPr>
      </p:pic>
      <p:sp>
        <p:nvSpPr>
          <p:cNvPr id="288" name="Google Shape;288;p28"/>
          <p:cNvSpPr txBox="1"/>
          <p:nvPr/>
        </p:nvSpPr>
        <p:spPr>
          <a:xfrm>
            <a:off x="890338" y="679600"/>
            <a:ext cx="867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Sarah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289" name="Google Shape;289;p28"/>
          <p:cNvSpPr txBox="1"/>
          <p:nvPr/>
        </p:nvSpPr>
        <p:spPr>
          <a:xfrm>
            <a:off x="3048138" y="598475"/>
            <a:ext cx="867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Alice</a:t>
            </a:r>
            <a:br>
              <a:rPr lang="en">
                <a:solidFill>
                  <a:schemeClr val="dk1"/>
                </a:solidFill>
              </a:rPr>
            </a:br>
            <a:r>
              <a:rPr lang="en">
                <a:solidFill>
                  <a:schemeClr val="accent6"/>
                </a:solidFill>
              </a:rPr>
              <a:t>Yes</a:t>
            </a:r>
            <a:endParaRPr>
              <a:solidFill>
                <a:schemeClr val="accent6"/>
              </a:solidFill>
            </a:endParaRPr>
          </a:p>
        </p:txBody>
      </p:sp>
      <p:sp>
        <p:nvSpPr>
          <p:cNvPr id="290" name="Google Shape;290;p28"/>
          <p:cNvSpPr txBox="1"/>
          <p:nvPr/>
        </p:nvSpPr>
        <p:spPr>
          <a:xfrm>
            <a:off x="5540400" y="614325"/>
            <a:ext cx="867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Bob</a:t>
            </a:r>
            <a:br>
              <a:rPr lang="en">
                <a:solidFill>
                  <a:schemeClr val="dk1"/>
                </a:solidFill>
              </a:rPr>
            </a:br>
            <a:r>
              <a:rPr lang="en">
                <a:solidFill>
                  <a:schemeClr val="accent6"/>
                </a:solidFill>
              </a:rPr>
              <a:t>No</a:t>
            </a:r>
            <a:endParaRPr>
              <a:solidFill>
                <a:schemeClr val="accent6"/>
              </a:solidFill>
            </a:endParaRPr>
          </a:p>
        </p:txBody>
      </p:sp>
      <p:pic>
        <p:nvPicPr>
          <p:cNvPr id="291" name="Google Shape;291;p2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107500" y="1106374"/>
            <a:ext cx="554125" cy="554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2" name="Google Shape;292;p2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697150" y="1106368"/>
            <a:ext cx="554130" cy="554131"/>
          </a:xfrm>
          <a:prstGeom prst="rect">
            <a:avLst/>
          </a:prstGeom>
          <a:noFill/>
          <a:ln>
            <a:noFill/>
          </a:ln>
        </p:spPr>
      </p:pic>
      <p:sp>
        <p:nvSpPr>
          <p:cNvPr id="293" name="Google Shape;293;p28"/>
          <p:cNvSpPr txBox="1"/>
          <p:nvPr/>
        </p:nvSpPr>
        <p:spPr>
          <a:xfrm>
            <a:off x="7941075" y="614325"/>
            <a:ext cx="867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Carlos</a:t>
            </a:r>
            <a:br>
              <a:rPr lang="en">
                <a:solidFill>
                  <a:schemeClr val="dk1"/>
                </a:solidFill>
              </a:rPr>
            </a:br>
            <a:r>
              <a:rPr lang="en">
                <a:solidFill>
                  <a:schemeClr val="accent6"/>
                </a:solidFill>
              </a:rPr>
              <a:t>Yes</a:t>
            </a:r>
            <a:endParaRPr>
              <a:solidFill>
                <a:schemeClr val="accent6"/>
              </a:solidFill>
            </a:endParaRPr>
          </a:p>
        </p:txBody>
      </p:sp>
      <p:sp>
        <p:nvSpPr>
          <p:cNvPr id="294" name="Google Shape;294;p28"/>
          <p:cNvSpPr txBox="1"/>
          <p:nvPr>
            <p:ph idx="1" type="body"/>
          </p:nvPr>
        </p:nvSpPr>
        <p:spPr>
          <a:xfrm>
            <a:off x="169100" y="1559275"/>
            <a:ext cx="2583000" cy="95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171450" lvl="0" marL="457200" rtl="0" algn="l">
              <a:spcBef>
                <a:spcPts val="0"/>
              </a:spcBef>
              <a:spcAft>
                <a:spcPts val="0"/>
              </a:spcAft>
              <a:buSzPts val="1500"/>
              <a:buAutoNum type="arabicPeriod"/>
            </a:pPr>
            <a:r>
              <a:rPr lang="en" sz="1500"/>
              <a:t>I write secret “s”</a:t>
            </a:r>
            <a:br>
              <a:rPr lang="en" sz="1500"/>
            </a:br>
            <a:r>
              <a:rPr lang="en" sz="1500"/>
              <a:t>and give to Alice</a:t>
            </a:r>
            <a:br>
              <a:rPr lang="en" sz="1500"/>
            </a:br>
            <a:r>
              <a:rPr lang="en" sz="1500"/>
              <a:t>(no one else sees)</a:t>
            </a:r>
            <a:endParaRPr sz="1500"/>
          </a:p>
        </p:txBody>
      </p:sp>
      <p:sp>
        <p:nvSpPr>
          <p:cNvPr id="295" name="Google Shape;295;p28"/>
          <p:cNvSpPr txBox="1"/>
          <p:nvPr>
            <p:ph idx="1" type="body"/>
          </p:nvPr>
        </p:nvSpPr>
        <p:spPr>
          <a:xfrm>
            <a:off x="2647025" y="2289175"/>
            <a:ext cx="2963100" cy="65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66700" lvl="0" marL="26670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500"/>
              <a:t>2. If Alice votes Yes,   </a:t>
            </a:r>
            <a:br>
              <a:rPr lang="en" sz="1500"/>
            </a:br>
            <a:r>
              <a:rPr lang="en" sz="1500"/>
              <a:t>send x=s+1 to Bob.  </a:t>
            </a:r>
            <a:br>
              <a:rPr lang="en" sz="1500"/>
            </a:br>
            <a:r>
              <a:rPr lang="en" sz="1500"/>
              <a:t>Else, send x=s to Bob.</a:t>
            </a:r>
            <a:endParaRPr sz="1500"/>
          </a:p>
        </p:txBody>
      </p:sp>
      <p:cxnSp>
        <p:nvCxnSpPr>
          <p:cNvPr id="296" name="Google Shape;296;p28"/>
          <p:cNvCxnSpPr/>
          <p:nvPr/>
        </p:nvCxnSpPr>
        <p:spPr>
          <a:xfrm>
            <a:off x="2278450" y="2041875"/>
            <a:ext cx="924000" cy="0"/>
          </a:xfrm>
          <a:prstGeom prst="straightConnector1">
            <a:avLst/>
          </a:prstGeom>
          <a:noFill/>
          <a:ln cap="flat" cmpd="sng" w="38100">
            <a:solidFill>
              <a:schemeClr val="accent6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97" name="Google Shape;297;p28"/>
          <p:cNvSpPr txBox="1"/>
          <p:nvPr>
            <p:ph idx="1" type="body"/>
          </p:nvPr>
        </p:nvSpPr>
        <p:spPr>
          <a:xfrm>
            <a:off x="2478825" y="1560000"/>
            <a:ext cx="406500" cy="44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">
                <a:solidFill>
                  <a:schemeClr val="accent6"/>
                </a:solidFill>
              </a:rPr>
              <a:t>5</a:t>
            </a:r>
            <a:endParaRPr>
              <a:solidFill>
                <a:schemeClr val="accent6"/>
              </a:solidFill>
            </a:endParaRPr>
          </a:p>
        </p:txBody>
      </p:sp>
      <p:cxnSp>
        <p:nvCxnSpPr>
          <p:cNvPr id="298" name="Google Shape;298;p28"/>
          <p:cNvCxnSpPr/>
          <p:nvPr/>
        </p:nvCxnSpPr>
        <p:spPr>
          <a:xfrm>
            <a:off x="4891525" y="2627013"/>
            <a:ext cx="924000" cy="0"/>
          </a:xfrm>
          <a:prstGeom prst="straightConnector1">
            <a:avLst/>
          </a:prstGeom>
          <a:noFill/>
          <a:ln cap="flat" cmpd="sng" w="38100">
            <a:solidFill>
              <a:schemeClr val="accent6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99" name="Google Shape;299;p28"/>
          <p:cNvSpPr txBox="1"/>
          <p:nvPr>
            <p:ph idx="1" type="body"/>
          </p:nvPr>
        </p:nvSpPr>
        <p:spPr>
          <a:xfrm>
            <a:off x="5091900" y="2145138"/>
            <a:ext cx="406500" cy="44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">
                <a:solidFill>
                  <a:schemeClr val="accent6"/>
                </a:solidFill>
              </a:rPr>
              <a:t>6</a:t>
            </a:r>
            <a:endParaRPr>
              <a:solidFill>
                <a:schemeClr val="accent6"/>
              </a:solidFill>
            </a:endParaRPr>
          </a:p>
        </p:txBody>
      </p:sp>
      <p:sp>
        <p:nvSpPr>
          <p:cNvPr id="300" name="Google Shape;300;p28"/>
          <p:cNvSpPr txBox="1"/>
          <p:nvPr>
            <p:ph idx="1" type="body"/>
          </p:nvPr>
        </p:nvSpPr>
        <p:spPr>
          <a:xfrm>
            <a:off x="5074400" y="3078600"/>
            <a:ext cx="2963100" cy="65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66700" lvl="0" marL="26670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500"/>
              <a:t>3. If Bob votes Yes,   </a:t>
            </a:r>
            <a:br>
              <a:rPr lang="en" sz="1500"/>
            </a:br>
            <a:r>
              <a:rPr lang="en" sz="1500"/>
              <a:t>send y=x+1 to Carlos.  </a:t>
            </a:r>
            <a:br>
              <a:rPr lang="en" sz="1500"/>
            </a:br>
            <a:r>
              <a:rPr lang="en" sz="1500"/>
              <a:t>Else, send y=x to Carlos.</a:t>
            </a:r>
            <a:endParaRPr sz="1500"/>
          </a:p>
        </p:txBody>
      </p:sp>
      <p:cxnSp>
        <p:nvCxnSpPr>
          <p:cNvPr id="301" name="Google Shape;301;p28"/>
          <p:cNvCxnSpPr/>
          <p:nvPr/>
        </p:nvCxnSpPr>
        <p:spPr>
          <a:xfrm>
            <a:off x="7116700" y="3337463"/>
            <a:ext cx="924000" cy="0"/>
          </a:xfrm>
          <a:prstGeom prst="straightConnector1">
            <a:avLst/>
          </a:prstGeom>
          <a:noFill/>
          <a:ln cap="flat" cmpd="sng" w="38100">
            <a:solidFill>
              <a:schemeClr val="accent6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02" name="Google Shape;302;p28"/>
          <p:cNvSpPr txBox="1"/>
          <p:nvPr>
            <p:ph idx="1" type="body"/>
          </p:nvPr>
        </p:nvSpPr>
        <p:spPr>
          <a:xfrm>
            <a:off x="7309500" y="2858338"/>
            <a:ext cx="406500" cy="44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">
                <a:solidFill>
                  <a:schemeClr val="accent6"/>
                </a:solidFill>
              </a:rPr>
              <a:t>6</a:t>
            </a:r>
            <a:endParaRPr>
              <a:solidFill>
                <a:schemeClr val="accent6"/>
              </a:solidFill>
            </a:endParaRPr>
          </a:p>
        </p:txBody>
      </p:sp>
      <p:sp>
        <p:nvSpPr>
          <p:cNvPr id="303" name="Google Shape;303;p28"/>
          <p:cNvSpPr txBox="1"/>
          <p:nvPr>
            <p:ph idx="1" type="body"/>
          </p:nvPr>
        </p:nvSpPr>
        <p:spPr>
          <a:xfrm>
            <a:off x="6657600" y="3976925"/>
            <a:ext cx="2660700" cy="65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66700" lvl="0" marL="26670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500"/>
              <a:t>4. If Carlos votes Yes,</a:t>
            </a:r>
            <a:br>
              <a:rPr lang="en" sz="1500"/>
            </a:br>
            <a:r>
              <a:rPr lang="en" sz="1500"/>
              <a:t>send z=y+1 to Sarah.</a:t>
            </a:r>
            <a:br>
              <a:rPr lang="en" sz="1500"/>
            </a:br>
            <a:r>
              <a:rPr lang="en" sz="1500"/>
              <a:t>Else, send z=y to Sarah.</a:t>
            </a:r>
            <a:endParaRPr sz="1500"/>
          </a:p>
        </p:txBody>
      </p:sp>
      <p:cxnSp>
        <p:nvCxnSpPr>
          <p:cNvPr id="304" name="Google Shape;304;p28"/>
          <p:cNvCxnSpPr/>
          <p:nvPr/>
        </p:nvCxnSpPr>
        <p:spPr>
          <a:xfrm>
            <a:off x="133475" y="4296975"/>
            <a:ext cx="369300" cy="0"/>
          </a:xfrm>
          <a:prstGeom prst="straightConnector1">
            <a:avLst/>
          </a:prstGeom>
          <a:noFill/>
          <a:ln cap="flat" cmpd="sng" w="38100">
            <a:solidFill>
              <a:schemeClr val="accent6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05" name="Google Shape;305;p28"/>
          <p:cNvSpPr txBox="1"/>
          <p:nvPr>
            <p:ph idx="1" type="body"/>
          </p:nvPr>
        </p:nvSpPr>
        <p:spPr>
          <a:xfrm>
            <a:off x="74675" y="3792413"/>
            <a:ext cx="406500" cy="44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">
                <a:solidFill>
                  <a:schemeClr val="accent6"/>
                </a:solidFill>
              </a:rPr>
              <a:t>7</a:t>
            </a:r>
            <a:endParaRPr>
              <a:solidFill>
                <a:schemeClr val="accent6"/>
              </a:solidFill>
            </a:endParaRPr>
          </a:p>
        </p:txBody>
      </p:sp>
      <p:cxnSp>
        <p:nvCxnSpPr>
          <p:cNvPr id="306" name="Google Shape;306;p28"/>
          <p:cNvCxnSpPr/>
          <p:nvPr/>
        </p:nvCxnSpPr>
        <p:spPr>
          <a:xfrm>
            <a:off x="125750" y="4296975"/>
            <a:ext cx="0" cy="704100"/>
          </a:xfrm>
          <a:prstGeom prst="straightConnector1">
            <a:avLst/>
          </a:prstGeom>
          <a:noFill/>
          <a:ln cap="flat" cmpd="sng" w="38100">
            <a:solidFill>
              <a:schemeClr val="accent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07" name="Google Shape;307;p28"/>
          <p:cNvCxnSpPr/>
          <p:nvPr/>
        </p:nvCxnSpPr>
        <p:spPr>
          <a:xfrm rot="10800000">
            <a:off x="124925" y="5004275"/>
            <a:ext cx="8611800" cy="0"/>
          </a:xfrm>
          <a:prstGeom prst="straightConnector1">
            <a:avLst/>
          </a:prstGeom>
          <a:noFill/>
          <a:ln cap="flat" cmpd="sng" w="38100">
            <a:solidFill>
              <a:schemeClr val="accent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08" name="Google Shape;308;p28"/>
          <p:cNvCxnSpPr/>
          <p:nvPr/>
        </p:nvCxnSpPr>
        <p:spPr>
          <a:xfrm rot="10800000">
            <a:off x="8736725" y="4888175"/>
            <a:ext cx="0" cy="116100"/>
          </a:xfrm>
          <a:prstGeom prst="straightConnector1">
            <a:avLst/>
          </a:prstGeom>
          <a:noFill/>
          <a:ln cap="flat" cmpd="sng" w="38100">
            <a:solidFill>
              <a:schemeClr val="accent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09" name="Google Shape;309;p28"/>
          <p:cNvSpPr txBox="1"/>
          <p:nvPr>
            <p:ph idx="1" type="body"/>
          </p:nvPr>
        </p:nvSpPr>
        <p:spPr>
          <a:xfrm>
            <a:off x="356225" y="3388700"/>
            <a:ext cx="2647500" cy="65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66700" lvl="0" marL="26670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500"/>
              <a:t>5. Sarah subtracts “s” from the received number and outputs the result.</a:t>
            </a:r>
            <a:endParaRPr sz="1500"/>
          </a:p>
        </p:txBody>
      </p:sp>
      <p:sp>
        <p:nvSpPr>
          <p:cNvPr id="310" name="Google Shape;310;p28"/>
          <p:cNvSpPr txBox="1"/>
          <p:nvPr/>
        </p:nvSpPr>
        <p:spPr>
          <a:xfrm>
            <a:off x="1686800" y="4344800"/>
            <a:ext cx="1425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6"/>
                </a:solidFill>
              </a:rPr>
              <a:t>7 - 5 = </a:t>
            </a:r>
            <a:endParaRPr>
              <a:solidFill>
                <a:schemeClr val="accent6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29"/>
          <p:cNvSpPr txBox="1"/>
          <p:nvPr>
            <p:ph type="title"/>
          </p:nvPr>
        </p:nvSpPr>
        <p:spPr>
          <a:xfrm>
            <a:off x="0" y="0"/>
            <a:ext cx="914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Observations about this process</a:t>
            </a:r>
            <a:endParaRPr/>
          </a:p>
        </p:txBody>
      </p:sp>
      <p:sp>
        <p:nvSpPr>
          <p:cNvPr id="316" name="Google Shape;316;p29"/>
          <p:cNvSpPr txBox="1"/>
          <p:nvPr>
            <p:ph idx="1" type="body"/>
          </p:nvPr>
        </p:nvSpPr>
        <p:spPr>
          <a:xfrm>
            <a:off x="311700" y="1965000"/>
            <a:ext cx="4163700" cy="302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From each party’s </a:t>
            </a:r>
            <a:r>
              <a:rPr b="1" i="1" lang="en"/>
              <a:t>view</a:t>
            </a:r>
            <a:r>
              <a:rPr lang="en"/>
              <a:t>, no* info gained about individual votes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317" name="Google Shape;317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02696" y="1106363"/>
            <a:ext cx="554130" cy="554131"/>
          </a:xfrm>
          <a:prstGeom prst="rect">
            <a:avLst/>
          </a:prstGeom>
          <a:noFill/>
          <a:ln>
            <a:noFill/>
          </a:ln>
        </p:spPr>
      </p:pic>
      <p:pic>
        <p:nvPicPr>
          <p:cNvPr id="318" name="Google Shape;318;p2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47071" y="1106375"/>
            <a:ext cx="554125" cy="554132"/>
          </a:xfrm>
          <a:prstGeom prst="rect">
            <a:avLst/>
          </a:prstGeom>
          <a:noFill/>
          <a:ln>
            <a:noFill/>
          </a:ln>
        </p:spPr>
      </p:pic>
      <p:sp>
        <p:nvSpPr>
          <p:cNvPr id="319" name="Google Shape;319;p29"/>
          <p:cNvSpPr txBox="1"/>
          <p:nvPr/>
        </p:nvSpPr>
        <p:spPr>
          <a:xfrm>
            <a:off x="890338" y="679600"/>
            <a:ext cx="867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Sarah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320" name="Google Shape;320;p29"/>
          <p:cNvSpPr txBox="1"/>
          <p:nvPr/>
        </p:nvSpPr>
        <p:spPr>
          <a:xfrm>
            <a:off x="3048138" y="598475"/>
            <a:ext cx="867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Alice</a:t>
            </a:r>
            <a:br>
              <a:rPr lang="en">
                <a:solidFill>
                  <a:schemeClr val="dk1"/>
                </a:solidFill>
              </a:rPr>
            </a:br>
            <a:r>
              <a:rPr lang="en">
                <a:solidFill>
                  <a:schemeClr val="accent6"/>
                </a:solidFill>
              </a:rPr>
              <a:t>Yes</a:t>
            </a:r>
            <a:endParaRPr>
              <a:solidFill>
                <a:schemeClr val="accent6"/>
              </a:solidFill>
            </a:endParaRPr>
          </a:p>
        </p:txBody>
      </p:sp>
      <p:sp>
        <p:nvSpPr>
          <p:cNvPr id="321" name="Google Shape;321;p29"/>
          <p:cNvSpPr txBox="1"/>
          <p:nvPr/>
        </p:nvSpPr>
        <p:spPr>
          <a:xfrm>
            <a:off x="5540400" y="614325"/>
            <a:ext cx="867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Bob</a:t>
            </a:r>
            <a:br>
              <a:rPr lang="en">
                <a:solidFill>
                  <a:schemeClr val="dk1"/>
                </a:solidFill>
              </a:rPr>
            </a:br>
            <a:r>
              <a:rPr lang="en">
                <a:solidFill>
                  <a:schemeClr val="accent6"/>
                </a:solidFill>
              </a:rPr>
              <a:t>No</a:t>
            </a:r>
            <a:endParaRPr>
              <a:solidFill>
                <a:schemeClr val="accent6"/>
              </a:solidFill>
            </a:endParaRPr>
          </a:p>
        </p:txBody>
      </p:sp>
      <p:pic>
        <p:nvPicPr>
          <p:cNvPr id="322" name="Google Shape;322;p2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107500" y="1106374"/>
            <a:ext cx="554125" cy="554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23" name="Google Shape;323;p2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697150" y="1106368"/>
            <a:ext cx="554130" cy="554131"/>
          </a:xfrm>
          <a:prstGeom prst="rect">
            <a:avLst/>
          </a:prstGeom>
          <a:noFill/>
          <a:ln>
            <a:noFill/>
          </a:ln>
        </p:spPr>
      </p:pic>
      <p:sp>
        <p:nvSpPr>
          <p:cNvPr id="324" name="Google Shape;324;p29"/>
          <p:cNvSpPr txBox="1"/>
          <p:nvPr/>
        </p:nvSpPr>
        <p:spPr>
          <a:xfrm>
            <a:off x="7941075" y="614325"/>
            <a:ext cx="867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Carlos</a:t>
            </a:r>
            <a:br>
              <a:rPr lang="en">
                <a:solidFill>
                  <a:schemeClr val="dk1"/>
                </a:solidFill>
              </a:rPr>
            </a:br>
            <a:r>
              <a:rPr lang="en">
                <a:solidFill>
                  <a:schemeClr val="accent6"/>
                </a:solidFill>
              </a:rPr>
              <a:t>Yes</a:t>
            </a:r>
            <a:endParaRPr>
              <a:solidFill>
                <a:schemeClr val="accent6"/>
              </a:solidFill>
            </a:endParaRPr>
          </a:p>
        </p:txBody>
      </p:sp>
      <p:cxnSp>
        <p:nvCxnSpPr>
          <p:cNvPr id="325" name="Google Shape;325;p29"/>
          <p:cNvCxnSpPr/>
          <p:nvPr/>
        </p:nvCxnSpPr>
        <p:spPr>
          <a:xfrm>
            <a:off x="4577492" y="2284663"/>
            <a:ext cx="924000" cy="0"/>
          </a:xfrm>
          <a:prstGeom prst="straightConnector1">
            <a:avLst/>
          </a:prstGeom>
          <a:noFill/>
          <a:ln cap="flat" cmpd="sng" w="38100">
            <a:solidFill>
              <a:schemeClr val="accent6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26" name="Google Shape;326;p29"/>
          <p:cNvSpPr txBox="1"/>
          <p:nvPr>
            <p:ph idx="1" type="body"/>
          </p:nvPr>
        </p:nvSpPr>
        <p:spPr>
          <a:xfrm>
            <a:off x="4777867" y="1802788"/>
            <a:ext cx="406500" cy="44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">
                <a:solidFill>
                  <a:schemeClr val="accent6"/>
                </a:solidFill>
              </a:rPr>
              <a:t>6</a:t>
            </a:r>
            <a:endParaRPr>
              <a:solidFill>
                <a:schemeClr val="accent6"/>
              </a:solidFill>
            </a:endParaRPr>
          </a:p>
        </p:txBody>
      </p:sp>
      <p:cxnSp>
        <p:nvCxnSpPr>
          <p:cNvPr id="327" name="Google Shape;327;p29"/>
          <p:cNvCxnSpPr/>
          <p:nvPr/>
        </p:nvCxnSpPr>
        <p:spPr>
          <a:xfrm>
            <a:off x="6458792" y="2928313"/>
            <a:ext cx="924000" cy="0"/>
          </a:xfrm>
          <a:prstGeom prst="straightConnector1">
            <a:avLst/>
          </a:prstGeom>
          <a:noFill/>
          <a:ln cap="flat" cmpd="sng" w="38100">
            <a:solidFill>
              <a:schemeClr val="accent6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28" name="Google Shape;328;p29"/>
          <p:cNvSpPr txBox="1"/>
          <p:nvPr>
            <p:ph idx="1" type="body"/>
          </p:nvPr>
        </p:nvSpPr>
        <p:spPr>
          <a:xfrm>
            <a:off x="6651592" y="2449188"/>
            <a:ext cx="406500" cy="44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">
                <a:solidFill>
                  <a:schemeClr val="accent6"/>
                </a:solidFill>
              </a:rPr>
              <a:t>6</a:t>
            </a:r>
            <a:endParaRPr>
              <a:solidFill>
                <a:schemeClr val="accent6"/>
              </a:solidFill>
            </a:endParaRPr>
          </a:p>
        </p:txBody>
      </p:sp>
      <p:sp>
        <p:nvSpPr>
          <p:cNvPr id="329" name="Google Shape;329;p29"/>
          <p:cNvSpPr/>
          <p:nvPr/>
        </p:nvSpPr>
        <p:spPr>
          <a:xfrm>
            <a:off x="5501500" y="1750675"/>
            <a:ext cx="957300" cy="3139500"/>
          </a:xfrm>
          <a:prstGeom prst="rect">
            <a:avLst/>
          </a:prstGeom>
          <a:noFill/>
          <a:ln cap="flat" cmpd="sng" w="9525">
            <a:solidFill>
              <a:schemeClr val="accent6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0" name="Google Shape;330;p29"/>
          <p:cNvSpPr txBox="1"/>
          <p:nvPr/>
        </p:nvSpPr>
        <p:spPr>
          <a:xfrm>
            <a:off x="5454242" y="2298700"/>
            <a:ext cx="10518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Add 1 if vote is Yes</a:t>
            </a:r>
            <a:endParaRPr>
              <a:solidFill>
                <a:schemeClr val="accent6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30"/>
          <p:cNvSpPr txBox="1"/>
          <p:nvPr>
            <p:ph type="title"/>
          </p:nvPr>
        </p:nvSpPr>
        <p:spPr>
          <a:xfrm>
            <a:off x="0" y="0"/>
            <a:ext cx="914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Observations about this process</a:t>
            </a:r>
            <a:endParaRPr/>
          </a:p>
        </p:txBody>
      </p:sp>
      <p:sp>
        <p:nvSpPr>
          <p:cNvPr id="336" name="Google Shape;336;p30"/>
          <p:cNvSpPr txBox="1"/>
          <p:nvPr>
            <p:ph idx="1" type="body"/>
          </p:nvPr>
        </p:nvSpPr>
        <p:spPr>
          <a:xfrm>
            <a:off x="311700" y="1965000"/>
            <a:ext cx="4163700" cy="302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From each party’s </a:t>
            </a:r>
            <a:r>
              <a:rPr b="1" i="1" lang="en"/>
              <a:t>view</a:t>
            </a:r>
            <a:r>
              <a:rPr lang="en"/>
              <a:t>, no* info gained about individual votes</a:t>
            </a:r>
            <a:endParaRPr/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Output of process (# of Yes Votes) can reveal information about individual votes</a:t>
            </a:r>
            <a:endParaRPr/>
          </a:p>
        </p:txBody>
      </p:sp>
      <p:pic>
        <p:nvPicPr>
          <p:cNvPr id="337" name="Google Shape;337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02696" y="1106363"/>
            <a:ext cx="554130" cy="554131"/>
          </a:xfrm>
          <a:prstGeom prst="rect">
            <a:avLst/>
          </a:prstGeom>
          <a:noFill/>
          <a:ln>
            <a:noFill/>
          </a:ln>
        </p:spPr>
      </p:pic>
      <p:pic>
        <p:nvPicPr>
          <p:cNvPr id="338" name="Google Shape;338;p3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47071" y="1106375"/>
            <a:ext cx="554125" cy="554132"/>
          </a:xfrm>
          <a:prstGeom prst="rect">
            <a:avLst/>
          </a:prstGeom>
          <a:noFill/>
          <a:ln>
            <a:noFill/>
          </a:ln>
        </p:spPr>
      </p:pic>
      <p:sp>
        <p:nvSpPr>
          <p:cNvPr id="339" name="Google Shape;339;p30"/>
          <p:cNvSpPr txBox="1"/>
          <p:nvPr/>
        </p:nvSpPr>
        <p:spPr>
          <a:xfrm>
            <a:off x="890338" y="679600"/>
            <a:ext cx="867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Sarah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340" name="Google Shape;340;p30"/>
          <p:cNvSpPr txBox="1"/>
          <p:nvPr/>
        </p:nvSpPr>
        <p:spPr>
          <a:xfrm>
            <a:off x="3048138" y="598475"/>
            <a:ext cx="867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Alice</a:t>
            </a:r>
            <a:br>
              <a:rPr lang="en">
                <a:solidFill>
                  <a:schemeClr val="dk1"/>
                </a:solidFill>
              </a:rPr>
            </a:br>
            <a:r>
              <a:rPr lang="en">
                <a:solidFill>
                  <a:schemeClr val="accent6"/>
                </a:solidFill>
              </a:rPr>
              <a:t>Yes</a:t>
            </a:r>
            <a:endParaRPr>
              <a:solidFill>
                <a:schemeClr val="accent6"/>
              </a:solidFill>
            </a:endParaRPr>
          </a:p>
        </p:txBody>
      </p:sp>
      <p:sp>
        <p:nvSpPr>
          <p:cNvPr id="341" name="Google Shape;341;p30"/>
          <p:cNvSpPr txBox="1"/>
          <p:nvPr/>
        </p:nvSpPr>
        <p:spPr>
          <a:xfrm>
            <a:off x="5540400" y="614325"/>
            <a:ext cx="867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Bob</a:t>
            </a:r>
            <a:br>
              <a:rPr lang="en">
                <a:solidFill>
                  <a:schemeClr val="dk1"/>
                </a:solidFill>
              </a:rPr>
            </a:br>
            <a:r>
              <a:rPr lang="en">
                <a:solidFill>
                  <a:schemeClr val="accent6"/>
                </a:solidFill>
              </a:rPr>
              <a:t>No</a:t>
            </a:r>
            <a:endParaRPr>
              <a:solidFill>
                <a:schemeClr val="accent6"/>
              </a:solidFill>
            </a:endParaRPr>
          </a:p>
        </p:txBody>
      </p:sp>
      <p:pic>
        <p:nvPicPr>
          <p:cNvPr id="342" name="Google Shape;342;p3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107500" y="1106374"/>
            <a:ext cx="554125" cy="554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43" name="Google Shape;343;p3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697150" y="1106368"/>
            <a:ext cx="554130" cy="554131"/>
          </a:xfrm>
          <a:prstGeom prst="rect">
            <a:avLst/>
          </a:prstGeom>
          <a:noFill/>
          <a:ln>
            <a:noFill/>
          </a:ln>
        </p:spPr>
      </p:pic>
      <p:sp>
        <p:nvSpPr>
          <p:cNvPr id="344" name="Google Shape;344;p30"/>
          <p:cNvSpPr txBox="1"/>
          <p:nvPr/>
        </p:nvSpPr>
        <p:spPr>
          <a:xfrm>
            <a:off x="7941075" y="614325"/>
            <a:ext cx="867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Carlos</a:t>
            </a:r>
            <a:br>
              <a:rPr lang="en">
                <a:solidFill>
                  <a:schemeClr val="dk1"/>
                </a:solidFill>
              </a:rPr>
            </a:br>
            <a:r>
              <a:rPr lang="en">
                <a:solidFill>
                  <a:schemeClr val="accent6"/>
                </a:solidFill>
              </a:rPr>
              <a:t>Yes</a:t>
            </a:r>
            <a:endParaRPr>
              <a:solidFill>
                <a:schemeClr val="accent6"/>
              </a:solidFill>
            </a:endParaRPr>
          </a:p>
        </p:txBody>
      </p:sp>
      <p:sp>
        <p:nvSpPr>
          <p:cNvPr id="345" name="Google Shape;345;p30"/>
          <p:cNvSpPr/>
          <p:nvPr/>
        </p:nvSpPr>
        <p:spPr>
          <a:xfrm>
            <a:off x="4608975" y="2194175"/>
            <a:ext cx="3526800" cy="1968000"/>
          </a:xfrm>
          <a:prstGeom prst="cloudCallout">
            <a:avLst>
              <a:gd fmla="val -9581" name="adj1"/>
              <a:gd fmla="val -74770" name="adj2"/>
            </a:avLst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5"/>
                </a:solidFill>
              </a:rPr>
              <a:t>Because the output was </a:t>
            </a:r>
            <a:r>
              <a:rPr b="1" lang="en">
                <a:solidFill>
                  <a:schemeClr val="accent5"/>
                </a:solidFill>
              </a:rPr>
              <a:t>2</a:t>
            </a:r>
            <a:r>
              <a:rPr lang="en">
                <a:solidFill>
                  <a:schemeClr val="accent5"/>
                </a:solidFill>
              </a:rPr>
              <a:t> total Yes votes, there were 3 total parties, and I voted </a:t>
            </a:r>
            <a:r>
              <a:rPr b="1" lang="en">
                <a:solidFill>
                  <a:schemeClr val="accent5"/>
                </a:solidFill>
              </a:rPr>
              <a:t>No</a:t>
            </a:r>
            <a:r>
              <a:rPr lang="en">
                <a:solidFill>
                  <a:schemeClr val="accent5"/>
                </a:solidFill>
              </a:rPr>
              <a:t>, I know Alice and Carlos both voted </a:t>
            </a:r>
            <a:r>
              <a:rPr b="1" lang="en">
                <a:solidFill>
                  <a:schemeClr val="accent5"/>
                </a:solidFill>
              </a:rPr>
              <a:t>Yes</a:t>
            </a:r>
            <a:r>
              <a:rPr lang="en">
                <a:solidFill>
                  <a:schemeClr val="accent5"/>
                </a:solidFill>
              </a:rPr>
              <a:t>.</a:t>
            </a:r>
            <a:endParaRPr>
              <a:solidFill>
                <a:schemeClr val="accent5"/>
              </a:solidFill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31"/>
          <p:cNvSpPr txBox="1"/>
          <p:nvPr>
            <p:ph type="title"/>
          </p:nvPr>
        </p:nvSpPr>
        <p:spPr>
          <a:xfrm>
            <a:off x="0" y="0"/>
            <a:ext cx="914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Observations about this process</a:t>
            </a:r>
            <a:endParaRPr/>
          </a:p>
        </p:txBody>
      </p:sp>
      <p:sp>
        <p:nvSpPr>
          <p:cNvPr id="351" name="Google Shape;351;p31"/>
          <p:cNvSpPr txBox="1"/>
          <p:nvPr>
            <p:ph idx="1" type="body"/>
          </p:nvPr>
        </p:nvSpPr>
        <p:spPr>
          <a:xfrm>
            <a:off x="311700" y="1965000"/>
            <a:ext cx="4163700" cy="302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From each party’s </a:t>
            </a:r>
            <a:r>
              <a:rPr b="1" i="1" lang="en"/>
              <a:t>view</a:t>
            </a:r>
            <a:r>
              <a:rPr lang="en"/>
              <a:t>, no* info gained about individual votes</a:t>
            </a:r>
            <a:endParaRPr/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Output of process (# of Yes Votes) can reveal information about individual votes</a:t>
            </a:r>
            <a:endParaRPr/>
          </a:p>
        </p:txBody>
      </p:sp>
      <p:pic>
        <p:nvPicPr>
          <p:cNvPr id="352" name="Google Shape;352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02696" y="1106363"/>
            <a:ext cx="554130" cy="554131"/>
          </a:xfrm>
          <a:prstGeom prst="rect">
            <a:avLst/>
          </a:prstGeom>
          <a:noFill/>
          <a:ln>
            <a:noFill/>
          </a:ln>
        </p:spPr>
      </p:pic>
      <p:pic>
        <p:nvPicPr>
          <p:cNvPr id="353" name="Google Shape;353;p3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47071" y="1106375"/>
            <a:ext cx="554125" cy="554132"/>
          </a:xfrm>
          <a:prstGeom prst="rect">
            <a:avLst/>
          </a:prstGeom>
          <a:noFill/>
          <a:ln>
            <a:noFill/>
          </a:ln>
        </p:spPr>
      </p:pic>
      <p:sp>
        <p:nvSpPr>
          <p:cNvPr id="354" name="Google Shape;354;p31"/>
          <p:cNvSpPr txBox="1"/>
          <p:nvPr/>
        </p:nvSpPr>
        <p:spPr>
          <a:xfrm>
            <a:off x="890338" y="679600"/>
            <a:ext cx="867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Sarah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355" name="Google Shape;355;p31"/>
          <p:cNvSpPr txBox="1"/>
          <p:nvPr/>
        </p:nvSpPr>
        <p:spPr>
          <a:xfrm>
            <a:off x="3048138" y="598475"/>
            <a:ext cx="867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Alice</a:t>
            </a:r>
            <a:br>
              <a:rPr lang="en">
                <a:solidFill>
                  <a:schemeClr val="dk1"/>
                </a:solidFill>
              </a:rPr>
            </a:br>
            <a:r>
              <a:rPr lang="en">
                <a:solidFill>
                  <a:schemeClr val="accent6"/>
                </a:solidFill>
              </a:rPr>
              <a:t>Yes</a:t>
            </a:r>
            <a:endParaRPr>
              <a:solidFill>
                <a:schemeClr val="accent6"/>
              </a:solidFill>
            </a:endParaRPr>
          </a:p>
        </p:txBody>
      </p:sp>
      <p:sp>
        <p:nvSpPr>
          <p:cNvPr id="356" name="Google Shape;356;p31"/>
          <p:cNvSpPr txBox="1"/>
          <p:nvPr/>
        </p:nvSpPr>
        <p:spPr>
          <a:xfrm>
            <a:off x="5540400" y="614325"/>
            <a:ext cx="867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Bob</a:t>
            </a:r>
            <a:br>
              <a:rPr lang="en">
                <a:solidFill>
                  <a:schemeClr val="dk1"/>
                </a:solidFill>
              </a:rPr>
            </a:br>
            <a:r>
              <a:rPr lang="en">
                <a:solidFill>
                  <a:schemeClr val="accent6"/>
                </a:solidFill>
              </a:rPr>
              <a:t>No</a:t>
            </a:r>
            <a:endParaRPr>
              <a:solidFill>
                <a:schemeClr val="accent6"/>
              </a:solidFill>
            </a:endParaRPr>
          </a:p>
        </p:txBody>
      </p:sp>
      <p:pic>
        <p:nvPicPr>
          <p:cNvPr id="357" name="Google Shape;357;p3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107500" y="1106374"/>
            <a:ext cx="554125" cy="554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58" name="Google Shape;358;p3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697150" y="1106368"/>
            <a:ext cx="554130" cy="554131"/>
          </a:xfrm>
          <a:prstGeom prst="rect">
            <a:avLst/>
          </a:prstGeom>
          <a:noFill/>
          <a:ln>
            <a:noFill/>
          </a:ln>
        </p:spPr>
      </p:pic>
      <p:sp>
        <p:nvSpPr>
          <p:cNvPr id="359" name="Google Shape;359;p31"/>
          <p:cNvSpPr txBox="1"/>
          <p:nvPr/>
        </p:nvSpPr>
        <p:spPr>
          <a:xfrm>
            <a:off x="7941075" y="614325"/>
            <a:ext cx="867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Carlos</a:t>
            </a:r>
            <a:br>
              <a:rPr lang="en">
                <a:solidFill>
                  <a:schemeClr val="dk1"/>
                </a:solidFill>
              </a:rPr>
            </a:br>
            <a:r>
              <a:rPr lang="en">
                <a:solidFill>
                  <a:schemeClr val="accent6"/>
                </a:solidFill>
              </a:rPr>
              <a:t>Yes</a:t>
            </a:r>
            <a:endParaRPr>
              <a:solidFill>
                <a:schemeClr val="accent6"/>
              </a:solidFill>
            </a:endParaRPr>
          </a:p>
        </p:txBody>
      </p:sp>
      <p:sp>
        <p:nvSpPr>
          <p:cNvPr id="360" name="Google Shape;360;p31"/>
          <p:cNvSpPr/>
          <p:nvPr/>
        </p:nvSpPr>
        <p:spPr>
          <a:xfrm>
            <a:off x="4608975" y="2194175"/>
            <a:ext cx="3526800" cy="1968000"/>
          </a:xfrm>
          <a:prstGeom prst="cloudCallout">
            <a:avLst>
              <a:gd fmla="val -9581" name="adj1"/>
              <a:gd fmla="val -74770" name="adj2"/>
            </a:avLst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5"/>
                </a:solidFill>
              </a:rPr>
              <a:t>Because the output was </a:t>
            </a:r>
            <a:r>
              <a:rPr b="1" lang="en">
                <a:solidFill>
                  <a:schemeClr val="accent5"/>
                </a:solidFill>
              </a:rPr>
              <a:t>2</a:t>
            </a:r>
            <a:r>
              <a:rPr lang="en">
                <a:solidFill>
                  <a:schemeClr val="accent5"/>
                </a:solidFill>
              </a:rPr>
              <a:t> total Yes votes, there were 3 total parties, and I voted </a:t>
            </a:r>
            <a:r>
              <a:rPr b="1" lang="en">
                <a:solidFill>
                  <a:schemeClr val="accent5"/>
                </a:solidFill>
              </a:rPr>
              <a:t>No</a:t>
            </a:r>
            <a:r>
              <a:rPr lang="en">
                <a:solidFill>
                  <a:schemeClr val="accent5"/>
                </a:solidFill>
              </a:rPr>
              <a:t>, I know Alice and Carlos both voted </a:t>
            </a:r>
            <a:r>
              <a:rPr b="1" lang="en">
                <a:solidFill>
                  <a:schemeClr val="accent5"/>
                </a:solidFill>
              </a:rPr>
              <a:t>Yes</a:t>
            </a:r>
            <a:r>
              <a:rPr lang="en">
                <a:solidFill>
                  <a:schemeClr val="accent5"/>
                </a:solidFill>
              </a:rPr>
              <a:t>.</a:t>
            </a:r>
            <a:endParaRPr>
              <a:solidFill>
                <a:schemeClr val="accent5"/>
              </a:solidFill>
            </a:endParaRPr>
          </a:p>
        </p:txBody>
      </p:sp>
      <p:sp>
        <p:nvSpPr>
          <p:cNvPr id="361" name="Google Shape;361;p31"/>
          <p:cNvSpPr/>
          <p:nvPr/>
        </p:nvSpPr>
        <p:spPr>
          <a:xfrm>
            <a:off x="6639350" y="4065575"/>
            <a:ext cx="3396300" cy="1008000"/>
          </a:xfrm>
          <a:prstGeom prst="cloudCallout">
            <a:avLst>
              <a:gd fmla="val 3262" name="adj1"/>
              <a:gd fmla="val -272468" name="adj2"/>
            </a:avLst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5"/>
                </a:solidFill>
              </a:rPr>
              <a:t>I (Carlos) know exactly one of them voted Yes, but I don’t know who.</a:t>
            </a:r>
            <a:endParaRPr>
              <a:solidFill>
                <a:schemeClr val="accent5"/>
              </a:solidFill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p32"/>
          <p:cNvSpPr txBox="1"/>
          <p:nvPr>
            <p:ph type="title"/>
          </p:nvPr>
        </p:nvSpPr>
        <p:spPr>
          <a:xfrm>
            <a:off x="0" y="0"/>
            <a:ext cx="914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Observations about this process</a:t>
            </a:r>
            <a:endParaRPr/>
          </a:p>
        </p:txBody>
      </p:sp>
      <p:sp>
        <p:nvSpPr>
          <p:cNvPr id="367" name="Google Shape;367;p32"/>
          <p:cNvSpPr txBox="1"/>
          <p:nvPr>
            <p:ph idx="1" type="body"/>
          </p:nvPr>
        </p:nvSpPr>
        <p:spPr>
          <a:xfrm>
            <a:off x="311700" y="1965000"/>
            <a:ext cx="4163700" cy="302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From each party’s </a:t>
            </a:r>
            <a:r>
              <a:rPr b="1" i="1" lang="en"/>
              <a:t>view</a:t>
            </a:r>
            <a:r>
              <a:rPr lang="en"/>
              <a:t>, no* info gained about individual votes</a:t>
            </a:r>
            <a:endParaRPr/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Output of process (# of Yes Votes) can reveal information about individual votes</a:t>
            </a:r>
            <a:endParaRPr/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Could have had many more parties; Sarah could have participated</a:t>
            </a:r>
            <a:endParaRPr/>
          </a:p>
        </p:txBody>
      </p:sp>
      <p:pic>
        <p:nvPicPr>
          <p:cNvPr id="368" name="Google Shape;368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02696" y="1106363"/>
            <a:ext cx="554130" cy="554131"/>
          </a:xfrm>
          <a:prstGeom prst="rect">
            <a:avLst/>
          </a:prstGeom>
          <a:noFill/>
          <a:ln>
            <a:noFill/>
          </a:ln>
        </p:spPr>
      </p:pic>
      <p:pic>
        <p:nvPicPr>
          <p:cNvPr id="369" name="Google Shape;369;p3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47071" y="1106375"/>
            <a:ext cx="554125" cy="554132"/>
          </a:xfrm>
          <a:prstGeom prst="rect">
            <a:avLst/>
          </a:prstGeom>
          <a:noFill/>
          <a:ln>
            <a:noFill/>
          </a:ln>
        </p:spPr>
      </p:pic>
      <p:sp>
        <p:nvSpPr>
          <p:cNvPr id="370" name="Google Shape;370;p32"/>
          <p:cNvSpPr txBox="1"/>
          <p:nvPr/>
        </p:nvSpPr>
        <p:spPr>
          <a:xfrm>
            <a:off x="890338" y="679600"/>
            <a:ext cx="867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Sarah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371" name="Google Shape;371;p32"/>
          <p:cNvSpPr txBox="1"/>
          <p:nvPr/>
        </p:nvSpPr>
        <p:spPr>
          <a:xfrm>
            <a:off x="3048138" y="598475"/>
            <a:ext cx="867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Alice</a:t>
            </a:r>
            <a:br>
              <a:rPr lang="en">
                <a:solidFill>
                  <a:schemeClr val="dk1"/>
                </a:solidFill>
              </a:rPr>
            </a:br>
            <a:r>
              <a:rPr lang="en">
                <a:solidFill>
                  <a:schemeClr val="accent6"/>
                </a:solidFill>
              </a:rPr>
              <a:t>Yes</a:t>
            </a:r>
            <a:endParaRPr>
              <a:solidFill>
                <a:schemeClr val="accent6"/>
              </a:solidFill>
            </a:endParaRPr>
          </a:p>
        </p:txBody>
      </p:sp>
      <p:sp>
        <p:nvSpPr>
          <p:cNvPr id="372" name="Google Shape;372;p32"/>
          <p:cNvSpPr txBox="1"/>
          <p:nvPr/>
        </p:nvSpPr>
        <p:spPr>
          <a:xfrm>
            <a:off x="5540400" y="614325"/>
            <a:ext cx="867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Bob</a:t>
            </a:r>
            <a:br>
              <a:rPr lang="en">
                <a:solidFill>
                  <a:schemeClr val="dk1"/>
                </a:solidFill>
              </a:rPr>
            </a:br>
            <a:r>
              <a:rPr lang="en">
                <a:solidFill>
                  <a:schemeClr val="accent6"/>
                </a:solidFill>
              </a:rPr>
              <a:t>No</a:t>
            </a:r>
            <a:endParaRPr>
              <a:solidFill>
                <a:schemeClr val="accent6"/>
              </a:solidFill>
            </a:endParaRPr>
          </a:p>
        </p:txBody>
      </p:sp>
      <p:pic>
        <p:nvPicPr>
          <p:cNvPr id="373" name="Google Shape;373;p3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107500" y="1106374"/>
            <a:ext cx="554125" cy="554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74" name="Google Shape;374;p3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697150" y="1106368"/>
            <a:ext cx="554130" cy="554131"/>
          </a:xfrm>
          <a:prstGeom prst="rect">
            <a:avLst/>
          </a:prstGeom>
          <a:noFill/>
          <a:ln>
            <a:noFill/>
          </a:ln>
        </p:spPr>
      </p:pic>
      <p:sp>
        <p:nvSpPr>
          <p:cNvPr id="375" name="Google Shape;375;p32"/>
          <p:cNvSpPr txBox="1"/>
          <p:nvPr/>
        </p:nvSpPr>
        <p:spPr>
          <a:xfrm>
            <a:off x="7941075" y="614325"/>
            <a:ext cx="867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Carlos</a:t>
            </a:r>
            <a:br>
              <a:rPr lang="en">
                <a:solidFill>
                  <a:schemeClr val="dk1"/>
                </a:solidFill>
              </a:rPr>
            </a:br>
            <a:r>
              <a:rPr lang="en">
                <a:solidFill>
                  <a:schemeClr val="accent6"/>
                </a:solidFill>
              </a:rPr>
              <a:t>Yes</a:t>
            </a:r>
            <a:endParaRPr>
              <a:solidFill>
                <a:schemeClr val="accent6"/>
              </a:solidFill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33"/>
          <p:cNvSpPr txBox="1"/>
          <p:nvPr>
            <p:ph type="title"/>
          </p:nvPr>
        </p:nvSpPr>
        <p:spPr>
          <a:xfrm>
            <a:off x="0" y="0"/>
            <a:ext cx="914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Observations about this process</a:t>
            </a:r>
            <a:endParaRPr/>
          </a:p>
        </p:txBody>
      </p:sp>
      <p:sp>
        <p:nvSpPr>
          <p:cNvPr id="381" name="Google Shape;381;p33"/>
          <p:cNvSpPr txBox="1"/>
          <p:nvPr>
            <p:ph idx="1" type="body"/>
          </p:nvPr>
        </p:nvSpPr>
        <p:spPr>
          <a:xfrm>
            <a:off x="311700" y="1965000"/>
            <a:ext cx="4163700" cy="302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From each party’s </a:t>
            </a:r>
            <a:r>
              <a:rPr b="1" i="1" lang="en"/>
              <a:t>view</a:t>
            </a:r>
            <a:r>
              <a:rPr lang="en"/>
              <a:t>, no* info gained about individual votes</a:t>
            </a:r>
            <a:endParaRPr/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Output of process (# of Yes Votes) can reveal information about individual votes</a:t>
            </a:r>
            <a:endParaRPr/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Could have had many more parties; Sarah could have participated</a:t>
            </a:r>
            <a:endParaRPr/>
          </a:p>
        </p:txBody>
      </p:sp>
      <p:pic>
        <p:nvPicPr>
          <p:cNvPr id="382" name="Google Shape;382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02696" y="1106363"/>
            <a:ext cx="554130" cy="554131"/>
          </a:xfrm>
          <a:prstGeom prst="rect">
            <a:avLst/>
          </a:prstGeom>
          <a:noFill/>
          <a:ln>
            <a:noFill/>
          </a:ln>
        </p:spPr>
      </p:pic>
      <p:pic>
        <p:nvPicPr>
          <p:cNvPr id="383" name="Google Shape;383;p3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47071" y="1106375"/>
            <a:ext cx="554125" cy="554132"/>
          </a:xfrm>
          <a:prstGeom prst="rect">
            <a:avLst/>
          </a:prstGeom>
          <a:noFill/>
          <a:ln>
            <a:noFill/>
          </a:ln>
        </p:spPr>
      </p:pic>
      <p:sp>
        <p:nvSpPr>
          <p:cNvPr id="384" name="Google Shape;384;p33"/>
          <p:cNvSpPr txBox="1"/>
          <p:nvPr/>
        </p:nvSpPr>
        <p:spPr>
          <a:xfrm>
            <a:off x="890338" y="679600"/>
            <a:ext cx="867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Sarah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385" name="Google Shape;385;p33"/>
          <p:cNvSpPr txBox="1"/>
          <p:nvPr/>
        </p:nvSpPr>
        <p:spPr>
          <a:xfrm>
            <a:off x="3048138" y="598475"/>
            <a:ext cx="867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Alice</a:t>
            </a:r>
            <a:br>
              <a:rPr lang="en">
                <a:solidFill>
                  <a:schemeClr val="dk1"/>
                </a:solidFill>
              </a:rPr>
            </a:br>
            <a:r>
              <a:rPr lang="en">
                <a:solidFill>
                  <a:schemeClr val="accent6"/>
                </a:solidFill>
              </a:rPr>
              <a:t>Yes</a:t>
            </a:r>
            <a:endParaRPr>
              <a:solidFill>
                <a:schemeClr val="accent6"/>
              </a:solidFill>
            </a:endParaRPr>
          </a:p>
        </p:txBody>
      </p:sp>
      <p:sp>
        <p:nvSpPr>
          <p:cNvPr id="386" name="Google Shape;386;p33"/>
          <p:cNvSpPr txBox="1"/>
          <p:nvPr/>
        </p:nvSpPr>
        <p:spPr>
          <a:xfrm>
            <a:off x="5540400" y="614325"/>
            <a:ext cx="867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Bob</a:t>
            </a:r>
            <a:br>
              <a:rPr lang="en">
                <a:solidFill>
                  <a:schemeClr val="dk1"/>
                </a:solidFill>
              </a:rPr>
            </a:br>
            <a:r>
              <a:rPr lang="en">
                <a:solidFill>
                  <a:schemeClr val="accent6"/>
                </a:solidFill>
              </a:rPr>
              <a:t>No</a:t>
            </a:r>
            <a:endParaRPr>
              <a:solidFill>
                <a:schemeClr val="accent6"/>
              </a:solidFill>
            </a:endParaRPr>
          </a:p>
        </p:txBody>
      </p:sp>
      <p:pic>
        <p:nvPicPr>
          <p:cNvPr id="387" name="Google Shape;387;p3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107500" y="1106374"/>
            <a:ext cx="554125" cy="554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88" name="Google Shape;388;p3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697150" y="1106368"/>
            <a:ext cx="554130" cy="554131"/>
          </a:xfrm>
          <a:prstGeom prst="rect">
            <a:avLst/>
          </a:prstGeom>
          <a:noFill/>
          <a:ln>
            <a:noFill/>
          </a:ln>
        </p:spPr>
      </p:pic>
      <p:sp>
        <p:nvSpPr>
          <p:cNvPr id="389" name="Google Shape;389;p33"/>
          <p:cNvSpPr txBox="1"/>
          <p:nvPr/>
        </p:nvSpPr>
        <p:spPr>
          <a:xfrm>
            <a:off x="7941075" y="614325"/>
            <a:ext cx="867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Carlos</a:t>
            </a:r>
            <a:br>
              <a:rPr lang="en">
                <a:solidFill>
                  <a:schemeClr val="dk1"/>
                </a:solidFill>
              </a:rPr>
            </a:br>
            <a:r>
              <a:rPr lang="en">
                <a:solidFill>
                  <a:schemeClr val="accent6"/>
                </a:solidFill>
              </a:rPr>
              <a:t>Yes</a:t>
            </a:r>
            <a:endParaRPr>
              <a:solidFill>
                <a:schemeClr val="accent6"/>
              </a:solidFill>
            </a:endParaRPr>
          </a:p>
        </p:txBody>
      </p:sp>
      <p:sp>
        <p:nvSpPr>
          <p:cNvPr id="390" name="Google Shape;390;p33"/>
          <p:cNvSpPr txBox="1"/>
          <p:nvPr>
            <p:ph idx="1" type="body"/>
          </p:nvPr>
        </p:nvSpPr>
        <p:spPr>
          <a:xfrm>
            <a:off x="4735075" y="2773375"/>
            <a:ext cx="4163700" cy="24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"/>
              <a:t>4.    How do we do something more advanced?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4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p34"/>
          <p:cNvSpPr txBox="1"/>
          <p:nvPr>
            <p:ph type="title"/>
          </p:nvPr>
        </p:nvSpPr>
        <p:spPr>
          <a:xfrm>
            <a:off x="0" y="0"/>
            <a:ext cx="914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rest of today’s workshop</a:t>
            </a:r>
            <a:endParaRPr/>
          </a:p>
        </p:txBody>
      </p:sp>
      <p:sp>
        <p:nvSpPr>
          <p:cNvPr id="396" name="Google Shape;396;p34"/>
          <p:cNvSpPr txBox="1"/>
          <p:nvPr>
            <p:ph idx="1" type="body"/>
          </p:nvPr>
        </p:nvSpPr>
        <p:spPr>
          <a:xfrm>
            <a:off x="311700" y="822075"/>
            <a:ext cx="4544400" cy="416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 (Already done): Intro to MPC ideas, simplified example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2: Intro to </a:t>
            </a:r>
            <a:r>
              <a:rPr b="1" i="1" lang="en"/>
              <a:t>secret sharing </a:t>
            </a:r>
            <a:r>
              <a:rPr lang="en"/>
              <a:t>(one of two main MPC methods)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3: Redo voting example with secret sharing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4:  Where/how is this used?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n"/>
              <a:t>5 (If we have time, which we probably won’t): How to </a:t>
            </a:r>
            <a:r>
              <a:rPr lang="en"/>
              <a:t>multiply secrets</a:t>
            </a:r>
            <a:r>
              <a:rPr lang="en"/>
              <a:t>!</a:t>
            </a:r>
            <a:endParaRPr/>
          </a:p>
        </p:txBody>
      </p:sp>
      <p:pic>
        <p:nvPicPr>
          <p:cNvPr id="397" name="Google Shape;397;p34"/>
          <p:cNvPicPr preferRelativeResize="0"/>
          <p:nvPr/>
        </p:nvPicPr>
        <p:blipFill rotWithShape="1">
          <a:blip r:embed="rId3">
            <a:alphaModFix/>
          </a:blip>
          <a:srcRect b="0" l="0" r="46541" t="0"/>
          <a:stretch/>
        </p:blipFill>
        <p:spPr>
          <a:xfrm>
            <a:off x="6181152" y="187650"/>
            <a:ext cx="2832174" cy="4768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p35"/>
          <p:cNvSpPr txBox="1"/>
          <p:nvPr>
            <p:ph type="title"/>
          </p:nvPr>
        </p:nvSpPr>
        <p:spPr>
          <a:xfrm>
            <a:off x="0" y="0"/>
            <a:ext cx="914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Background: </a:t>
            </a:r>
            <a:r>
              <a:rPr b="1" i="1" lang="en"/>
              <a:t>Modular arithmetic</a:t>
            </a:r>
            <a:endParaRPr b="1" i="1"/>
          </a:p>
        </p:txBody>
      </p:sp>
      <p:sp>
        <p:nvSpPr>
          <p:cNvPr id="403" name="Google Shape;403;p35"/>
          <p:cNvSpPr txBox="1"/>
          <p:nvPr>
            <p:ph idx="1" type="body"/>
          </p:nvPr>
        </p:nvSpPr>
        <p:spPr>
          <a:xfrm>
            <a:off x="311700" y="822075"/>
            <a:ext cx="8520600" cy="41685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“Integers mod N” = fancy word for “wrap around when you get to N”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6"/>
                </a:solidFill>
              </a:rPr>
              <a:t>Normal integers:</a:t>
            </a:r>
            <a:r>
              <a:rPr lang="en"/>
              <a:t> 0   1    2    3    4    5    6</a:t>
            </a:r>
            <a:r>
              <a:rPr lang="en"/>
              <a:t>    7    8    9    10   11   12   13   14   15 …</a:t>
            </a:r>
            <a:br>
              <a:rPr lang="en"/>
            </a:br>
            <a:r>
              <a:rPr lang="en">
                <a:solidFill>
                  <a:schemeClr val="accent5"/>
                </a:solidFill>
              </a:rPr>
              <a:t> </a:t>
            </a:r>
            <a:r>
              <a:rPr lang="en" sz="800">
                <a:solidFill>
                  <a:schemeClr val="accent5"/>
                </a:solidFill>
              </a:rPr>
              <a:t> </a:t>
            </a:r>
            <a:r>
              <a:rPr lang="en">
                <a:solidFill>
                  <a:schemeClr val="accent5"/>
                </a:solidFill>
              </a:rPr>
              <a:t>Integers mod 5: </a:t>
            </a:r>
            <a:r>
              <a:rPr lang="en"/>
              <a:t>0   1    2    3    4    0    1    2    3    4     0     1     2     3     4     0  … 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n"/>
              <a:t>For today, we will use </a:t>
            </a:r>
            <a:r>
              <a:rPr b="1" i="1" lang="en">
                <a:solidFill>
                  <a:schemeClr val="accent6"/>
                </a:solidFill>
              </a:rPr>
              <a:t>mod 5</a:t>
            </a:r>
            <a:r>
              <a:rPr lang="en"/>
              <a:t>.  (Our multiplication will require using a prime.)</a:t>
            </a:r>
            <a:endParaRPr/>
          </a:p>
        </p:txBody>
      </p:sp>
      <p:cxnSp>
        <p:nvCxnSpPr>
          <p:cNvPr id="404" name="Google Shape;404;p35"/>
          <p:cNvCxnSpPr/>
          <p:nvPr/>
        </p:nvCxnSpPr>
        <p:spPr>
          <a:xfrm>
            <a:off x="3869050" y="1840225"/>
            <a:ext cx="0" cy="9258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dot"/>
            <a:round/>
            <a:headEnd len="med" w="med" type="none"/>
            <a:tailEnd len="med" w="med" type="none"/>
          </a:ln>
        </p:spPr>
      </p:cxnSp>
      <p:cxnSp>
        <p:nvCxnSpPr>
          <p:cNvPr id="405" name="Google Shape;405;p35"/>
          <p:cNvCxnSpPr/>
          <p:nvPr/>
        </p:nvCxnSpPr>
        <p:spPr>
          <a:xfrm>
            <a:off x="5770250" y="1840225"/>
            <a:ext cx="0" cy="9258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dot"/>
            <a:round/>
            <a:headEnd len="med" w="med" type="none"/>
            <a:tailEnd len="med" w="med" type="none"/>
          </a:ln>
        </p:spPr>
      </p:cxnSp>
      <p:cxnSp>
        <p:nvCxnSpPr>
          <p:cNvPr id="406" name="Google Shape;406;p35"/>
          <p:cNvCxnSpPr/>
          <p:nvPr/>
        </p:nvCxnSpPr>
        <p:spPr>
          <a:xfrm>
            <a:off x="8025750" y="1840225"/>
            <a:ext cx="0" cy="9258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dot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0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p36"/>
          <p:cNvSpPr txBox="1"/>
          <p:nvPr>
            <p:ph type="title"/>
          </p:nvPr>
        </p:nvSpPr>
        <p:spPr>
          <a:xfrm>
            <a:off x="0" y="0"/>
            <a:ext cx="914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/>
              <a:t>Secret sharing</a:t>
            </a:r>
            <a:r>
              <a:rPr lang="en"/>
              <a:t> in mod 5 for 3 parties</a:t>
            </a:r>
            <a:endParaRPr/>
          </a:p>
        </p:txBody>
      </p:sp>
      <p:pic>
        <p:nvPicPr>
          <p:cNvPr id="412" name="Google Shape;412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02696" y="1106363"/>
            <a:ext cx="554130" cy="554131"/>
          </a:xfrm>
          <a:prstGeom prst="rect">
            <a:avLst/>
          </a:prstGeom>
          <a:noFill/>
          <a:ln>
            <a:noFill/>
          </a:ln>
        </p:spPr>
      </p:pic>
      <p:sp>
        <p:nvSpPr>
          <p:cNvPr id="413" name="Google Shape;413;p36"/>
          <p:cNvSpPr txBox="1"/>
          <p:nvPr/>
        </p:nvSpPr>
        <p:spPr>
          <a:xfrm>
            <a:off x="3048138" y="598475"/>
            <a:ext cx="867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Alice</a:t>
            </a:r>
            <a:br>
              <a:rPr lang="en">
                <a:solidFill>
                  <a:schemeClr val="dk1"/>
                </a:solidFill>
              </a:rPr>
            </a:br>
            <a:r>
              <a:rPr lang="en">
                <a:solidFill>
                  <a:schemeClr val="accent6"/>
                </a:solidFill>
              </a:rPr>
              <a:t>a=4</a:t>
            </a:r>
            <a:endParaRPr>
              <a:solidFill>
                <a:schemeClr val="accent6"/>
              </a:solidFill>
            </a:endParaRPr>
          </a:p>
        </p:txBody>
      </p:sp>
      <p:sp>
        <p:nvSpPr>
          <p:cNvPr id="414" name="Google Shape;414;p36"/>
          <p:cNvSpPr txBox="1"/>
          <p:nvPr/>
        </p:nvSpPr>
        <p:spPr>
          <a:xfrm>
            <a:off x="5540400" y="614325"/>
            <a:ext cx="867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Bob</a:t>
            </a:r>
            <a:endParaRPr>
              <a:solidFill>
                <a:schemeClr val="accent6"/>
              </a:solidFill>
            </a:endParaRPr>
          </a:p>
        </p:txBody>
      </p:sp>
      <p:pic>
        <p:nvPicPr>
          <p:cNvPr id="415" name="Google Shape;415;p3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107500" y="1106374"/>
            <a:ext cx="554125" cy="554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16" name="Google Shape;416;p3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697150" y="1106368"/>
            <a:ext cx="554130" cy="554131"/>
          </a:xfrm>
          <a:prstGeom prst="rect">
            <a:avLst/>
          </a:prstGeom>
          <a:noFill/>
          <a:ln>
            <a:noFill/>
          </a:ln>
        </p:spPr>
      </p:pic>
      <p:sp>
        <p:nvSpPr>
          <p:cNvPr id="417" name="Google Shape;417;p36"/>
          <p:cNvSpPr txBox="1"/>
          <p:nvPr/>
        </p:nvSpPr>
        <p:spPr>
          <a:xfrm>
            <a:off x="7941075" y="614325"/>
            <a:ext cx="867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Carlos</a:t>
            </a:r>
            <a:endParaRPr>
              <a:solidFill>
                <a:schemeClr val="accent6"/>
              </a:solidFill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p37"/>
          <p:cNvSpPr txBox="1"/>
          <p:nvPr>
            <p:ph type="title"/>
          </p:nvPr>
        </p:nvSpPr>
        <p:spPr>
          <a:xfrm>
            <a:off x="0" y="0"/>
            <a:ext cx="914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/>
              <a:t>Secret sharing</a:t>
            </a:r>
            <a:r>
              <a:rPr lang="en"/>
              <a:t> in mod 5 for 3 parties</a:t>
            </a:r>
            <a:endParaRPr/>
          </a:p>
        </p:txBody>
      </p:sp>
      <p:pic>
        <p:nvPicPr>
          <p:cNvPr id="423" name="Google Shape;423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02696" y="1106363"/>
            <a:ext cx="554130" cy="554131"/>
          </a:xfrm>
          <a:prstGeom prst="rect">
            <a:avLst/>
          </a:prstGeom>
          <a:noFill/>
          <a:ln>
            <a:noFill/>
          </a:ln>
        </p:spPr>
      </p:pic>
      <p:sp>
        <p:nvSpPr>
          <p:cNvPr id="424" name="Google Shape;424;p37"/>
          <p:cNvSpPr txBox="1"/>
          <p:nvPr/>
        </p:nvSpPr>
        <p:spPr>
          <a:xfrm>
            <a:off x="3048138" y="598475"/>
            <a:ext cx="867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Alice</a:t>
            </a:r>
            <a:br>
              <a:rPr lang="en">
                <a:solidFill>
                  <a:schemeClr val="dk1"/>
                </a:solidFill>
              </a:rPr>
            </a:br>
            <a:r>
              <a:rPr lang="en">
                <a:solidFill>
                  <a:schemeClr val="accent6"/>
                </a:solidFill>
              </a:rPr>
              <a:t>a=4</a:t>
            </a:r>
            <a:endParaRPr>
              <a:solidFill>
                <a:schemeClr val="accent6"/>
              </a:solidFill>
            </a:endParaRPr>
          </a:p>
        </p:txBody>
      </p:sp>
      <p:sp>
        <p:nvSpPr>
          <p:cNvPr id="425" name="Google Shape;425;p37"/>
          <p:cNvSpPr txBox="1"/>
          <p:nvPr/>
        </p:nvSpPr>
        <p:spPr>
          <a:xfrm>
            <a:off x="5540400" y="614325"/>
            <a:ext cx="867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Bob</a:t>
            </a:r>
            <a:endParaRPr>
              <a:solidFill>
                <a:schemeClr val="accent6"/>
              </a:solidFill>
            </a:endParaRPr>
          </a:p>
        </p:txBody>
      </p:sp>
      <p:pic>
        <p:nvPicPr>
          <p:cNvPr id="426" name="Google Shape;426;p3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107500" y="1106374"/>
            <a:ext cx="554125" cy="554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27" name="Google Shape;427;p3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697150" y="1106368"/>
            <a:ext cx="554130" cy="554131"/>
          </a:xfrm>
          <a:prstGeom prst="rect">
            <a:avLst/>
          </a:prstGeom>
          <a:noFill/>
          <a:ln>
            <a:noFill/>
          </a:ln>
        </p:spPr>
      </p:pic>
      <p:sp>
        <p:nvSpPr>
          <p:cNvPr id="428" name="Google Shape;428;p37"/>
          <p:cNvSpPr txBox="1"/>
          <p:nvPr/>
        </p:nvSpPr>
        <p:spPr>
          <a:xfrm>
            <a:off x="7941075" y="614325"/>
            <a:ext cx="867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Carlos</a:t>
            </a:r>
            <a:endParaRPr>
              <a:solidFill>
                <a:schemeClr val="accent6"/>
              </a:solidFill>
            </a:endParaRPr>
          </a:p>
        </p:txBody>
      </p:sp>
      <p:sp>
        <p:nvSpPr>
          <p:cNvPr id="429" name="Google Shape;429;p37"/>
          <p:cNvSpPr txBox="1"/>
          <p:nvPr/>
        </p:nvSpPr>
        <p:spPr>
          <a:xfrm>
            <a:off x="0" y="554288"/>
            <a:ext cx="2183700" cy="147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Goal: Alice, Bob, and Carlos hold numbers [a]</a:t>
            </a:r>
            <a:r>
              <a:rPr baseline="-25000" lang="en">
                <a:solidFill>
                  <a:schemeClr val="dk1"/>
                </a:solidFill>
              </a:rPr>
              <a:t>A</a:t>
            </a:r>
            <a:r>
              <a:rPr lang="en">
                <a:solidFill>
                  <a:schemeClr val="dk1"/>
                </a:solidFill>
              </a:rPr>
              <a:t>, [a]</a:t>
            </a:r>
            <a:r>
              <a:rPr baseline="-25000" lang="en">
                <a:solidFill>
                  <a:schemeClr val="dk1"/>
                </a:solidFill>
              </a:rPr>
              <a:t>B</a:t>
            </a:r>
            <a:r>
              <a:rPr lang="en">
                <a:solidFill>
                  <a:schemeClr val="dk1"/>
                </a:solidFill>
              </a:rPr>
              <a:t>, and [a]</a:t>
            </a:r>
            <a:r>
              <a:rPr baseline="-25000" lang="en">
                <a:solidFill>
                  <a:schemeClr val="dk1"/>
                </a:solidFill>
              </a:rPr>
              <a:t>C</a:t>
            </a:r>
            <a:r>
              <a:rPr lang="en">
                <a:solidFill>
                  <a:schemeClr val="dk1"/>
                </a:solidFill>
              </a:rPr>
              <a:t> such that [a]</a:t>
            </a:r>
            <a:r>
              <a:rPr baseline="-25000" lang="en">
                <a:solidFill>
                  <a:schemeClr val="dk1"/>
                </a:solidFill>
              </a:rPr>
              <a:t>A</a:t>
            </a:r>
            <a:r>
              <a:rPr lang="en">
                <a:solidFill>
                  <a:schemeClr val="dk1"/>
                </a:solidFill>
              </a:rPr>
              <a:t> + [a]</a:t>
            </a:r>
            <a:r>
              <a:rPr baseline="-25000" lang="en">
                <a:solidFill>
                  <a:schemeClr val="dk1"/>
                </a:solidFill>
              </a:rPr>
              <a:t>B</a:t>
            </a:r>
            <a:r>
              <a:rPr lang="en">
                <a:solidFill>
                  <a:schemeClr val="dk1"/>
                </a:solidFill>
              </a:rPr>
              <a:t> + [a]</a:t>
            </a:r>
            <a:r>
              <a:rPr baseline="-25000" lang="en">
                <a:solidFill>
                  <a:schemeClr val="dk1"/>
                </a:solidFill>
              </a:rPr>
              <a:t>C</a:t>
            </a:r>
            <a:r>
              <a:rPr lang="en">
                <a:solidFill>
                  <a:schemeClr val="dk1"/>
                </a:solidFill>
              </a:rPr>
              <a:t> = a, but any 2 shares reveal nothing about a.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3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p38"/>
          <p:cNvSpPr txBox="1"/>
          <p:nvPr>
            <p:ph type="title"/>
          </p:nvPr>
        </p:nvSpPr>
        <p:spPr>
          <a:xfrm>
            <a:off x="0" y="0"/>
            <a:ext cx="914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/>
              <a:t>Secret sharing</a:t>
            </a:r>
            <a:r>
              <a:rPr lang="en"/>
              <a:t> in mod 5 for 3 parties</a:t>
            </a:r>
            <a:endParaRPr/>
          </a:p>
        </p:txBody>
      </p:sp>
      <p:sp>
        <p:nvSpPr>
          <p:cNvPr id="435" name="Google Shape;435;p38"/>
          <p:cNvSpPr txBox="1"/>
          <p:nvPr>
            <p:ph idx="1" type="body"/>
          </p:nvPr>
        </p:nvSpPr>
        <p:spPr>
          <a:xfrm>
            <a:off x="311700" y="1820275"/>
            <a:ext cx="8520600" cy="317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			Alice generates N-1 random numbers in mod 5:</a:t>
            </a:r>
            <a:br>
              <a:rPr lang="en"/>
            </a:br>
            <a:r>
              <a:rPr lang="en"/>
              <a:t>						[a]</a:t>
            </a:r>
            <a:r>
              <a:rPr baseline="-25000" lang="en"/>
              <a:t>B</a:t>
            </a:r>
            <a:r>
              <a:rPr lang="en"/>
              <a:t> = 4 </a:t>
            </a:r>
            <a:br>
              <a:rPr lang="en"/>
            </a:br>
            <a:r>
              <a:rPr lang="en"/>
              <a:t>						[a]</a:t>
            </a:r>
            <a:r>
              <a:rPr baseline="-25000" lang="en"/>
              <a:t>C</a:t>
            </a:r>
            <a:r>
              <a:rPr lang="en"/>
              <a:t> = 3</a:t>
            </a:r>
            <a:br>
              <a:rPr lang="en"/>
            </a:br>
            <a:r>
              <a:rPr lang="en"/>
              <a:t>		</a:t>
            </a:r>
            <a:br>
              <a:rPr lang="en"/>
            </a:br>
            <a:r>
              <a:rPr lang="en"/>
              <a:t>			</a:t>
            </a:r>
            <a:br>
              <a:rPr lang="en"/>
            </a:br>
            <a:br>
              <a:rPr lang="en"/>
            </a:br>
            <a:endParaRPr>
              <a:solidFill>
                <a:schemeClr val="accent6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>
              <a:solidFill>
                <a:schemeClr val="accent2"/>
              </a:solidFill>
            </a:endParaRPr>
          </a:p>
        </p:txBody>
      </p:sp>
      <p:pic>
        <p:nvPicPr>
          <p:cNvPr id="436" name="Google Shape;436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02696" y="1106363"/>
            <a:ext cx="554130" cy="554131"/>
          </a:xfrm>
          <a:prstGeom prst="rect">
            <a:avLst/>
          </a:prstGeom>
          <a:noFill/>
          <a:ln>
            <a:noFill/>
          </a:ln>
        </p:spPr>
      </p:pic>
      <p:sp>
        <p:nvSpPr>
          <p:cNvPr id="437" name="Google Shape;437;p38"/>
          <p:cNvSpPr txBox="1"/>
          <p:nvPr/>
        </p:nvSpPr>
        <p:spPr>
          <a:xfrm>
            <a:off x="3048138" y="598475"/>
            <a:ext cx="867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Alice</a:t>
            </a:r>
            <a:br>
              <a:rPr lang="en">
                <a:solidFill>
                  <a:schemeClr val="dk1"/>
                </a:solidFill>
              </a:rPr>
            </a:br>
            <a:r>
              <a:rPr lang="en">
                <a:solidFill>
                  <a:schemeClr val="accent6"/>
                </a:solidFill>
              </a:rPr>
              <a:t>a=4</a:t>
            </a:r>
            <a:endParaRPr>
              <a:solidFill>
                <a:schemeClr val="accent6"/>
              </a:solidFill>
            </a:endParaRPr>
          </a:p>
        </p:txBody>
      </p:sp>
      <p:sp>
        <p:nvSpPr>
          <p:cNvPr id="438" name="Google Shape;438;p38"/>
          <p:cNvSpPr txBox="1"/>
          <p:nvPr/>
        </p:nvSpPr>
        <p:spPr>
          <a:xfrm>
            <a:off x="5540400" y="614325"/>
            <a:ext cx="867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Bob</a:t>
            </a:r>
            <a:endParaRPr>
              <a:solidFill>
                <a:schemeClr val="accent6"/>
              </a:solidFill>
            </a:endParaRPr>
          </a:p>
        </p:txBody>
      </p:sp>
      <p:pic>
        <p:nvPicPr>
          <p:cNvPr id="439" name="Google Shape;439;p3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107500" y="1106374"/>
            <a:ext cx="554125" cy="554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40" name="Google Shape;440;p3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697150" y="1106368"/>
            <a:ext cx="554130" cy="554131"/>
          </a:xfrm>
          <a:prstGeom prst="rect">
            <a:avLst/>
          </a:prstGeom>
          <a:noFill/>
          <a:ln>
            <a:noFill/>
          </a:ln>
        </p:spPr>
      </p:pic>
      <p:sp>
        <p:nvSpPr>
          <p:cNvPr id="441" name="Google Shape;441;p38"/>
          <p:cNvSpPr txBox="1"/>
          <p:nvPr/>
        </p:nvSpPr>
        <p:spPr>
          <a:xfrm>
            <a:off x="7941075" y="614325"/>
            <a:ext cx="867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Carlos</a:t>
            </a:r>
            <a:endParaRPr>
              <a:solidFill>
                <a:schemeClr val="accent6"/>
              </a:solidFill>
            </a:endParaRPr>
          </a:p>
        </p:txBody>
      </p:sp>
      <p:cxnSp>
        <p:nvCxnSpPr>
          <p:cNvPr id="442" name="Google Shape;442;p38"/>
          <p:cNvCxnSpPr/>
          <p:nvPr/>
        </p:nvCxnSpPr>
        <p:spPr>
          <a:xfrm>
            <a:off x="3977325" y="2381450"/>
            <a:ext cx="1903500" cy="0"/>
          </a:xfrm>
          <a:prstGeom prst="straightConnector1">
            <a:avLst/>
          </a:prstGeom>
          <a:noFill/>
          <a:ln cap="flat" cmpd="sng" w="38100">
            <a:solidFill>
              <a:schemeClr val="accent6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43" name="Google Shape;443;p38"/>
          <p:cNvSpPr txBox="1"/>
          <p:nvPr>
            <p:ph idx="1" type="body"/>
          </p:nvPr>
        </p:nvSpPr>
        <p:spPr>
          <a:xfrm>
            <a:off x="4061925" y="2060975"/>
            <a:ext cx="1734300" cy="44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200">
                <a:solidFill>
                  <a:schemeClr val="accent6"/>
                </a:solidFill>
              </a:rPr>
              <a:t>Bob’s share of a</a:t>
            </a:r>
            <a:endParaRPr sz="1200">
              <a:solidFill>
                <a:schemeClr val="accent6"/>
              </a:solidFill>
            </a:endParaRPr>
          </a:p>
        </p:txBody>
      </p:sp>
      <p:cxnSp>
        <p:nvCxnSpPr>
          <p:cNvPr id="444" name="Google Shape;444;p38"/>
          <p:cNvCxnSpPr/>
          <p:nvPr/>
        </p:nvCxnSpPr>
        <p:spPr>
          <a:xfrm>
            <a:off x="3977325" y="2701925"/>
            <a:ext cx="4350300" cy="0"/>
          </a:xfrm>
          <a:prstGeom prst="straightConnector1">
            <a:avLst/>
          </a:prstGeom>
          <a:noFill/>
          <a:ln cap="flat" cmpd="sng" w="38100">
            <a:solidFill>
              <a:schemeClr val="accent6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45" name="Google Shape;445;p38"/>
          <p:cNvSpPr txBox="1"/>
          <p:nvPr>
            <p:ph idx="1" type="body"/>
          </p:nvPr>
        </p:nvSpPr>
        <p:spPr>
          <a:xfrm>
            <a:off x="5281125" y="2381450"/>
            <a:ext cx="1734300" cy="44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200">
                <a:solidFill>
                  <a:schemeClr val="accent6"/>
                </a:solidFill>
              </a:rPr>
              <a:t>Carlos’s share of a</a:t>
            </a:r>
            <a:endParaRPr sz="1200">
              <a:solidFill>
                <a:schemeClr val="accent6"/>
              </a:solidFill>
            </a:endParaRPr>
          </a:p>
        </p:txBody>
      </p:sp>
      <p:sp>
        <p:nvSpPr>
          <p:cNvPr id="446" name="Google Shape;446;p38"/>
          <p:cNvSpPr txBox="1"/>
          <p:nvPr/>
        </p:nvSpPr>
        <p:spPr>
          <a:xfrm>
            <a:off x="0" y="554288"/>
            <a:ext cx="2183700" cy="147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Goal: Alice, Bob, and Carlos hold numbers [a]</a:t>
            </a:r>
            <a:r>
              <a:rPr baseline="-25000" lang="en">
                <a:solidFill>
                  <a:schemeClr val="dk1"/>
                </a:solidFill>
              </a:rPr>
              <a:t>A</a:t>
            </a:r>
            <a:r>
              <a:rPr lang="en">
                <a:solidFill>
                  <a:schemeClr val="dk1"/>
                </a:solidFill>
              </a:rPr>
              <a:t>, [a]</a:t>
            </a:r>
            <a:r>
              <a:rPr baseline="-25000" lang="en">
                <a:solidFill>
                  <a:schemeClr val="dk1"/>
                </a:solidFill>
              </a:rPr>
              <a:t>B</a:t>
            </a:r>
            <a:r>
              <a:rPr lang="en">
                <a:solidFill>
                  <a:schemeClr val="dk1"/>
                </a:solidFill>
              </a:rPr>
              <a:t>, and [a]</a:t>
            </a:r>
            <a:r>
              <a:rPr baseline="-25000" lang="en">
                <a:solidFill>
                  <a:schemeClr val="dk1"/>
                </a:solidFill>
              </a:rPr>
              <a:t>C</a:t>
            </a:r>
            <a:r>
              <a:rPr lang="en">
                <a:solidFill>
                  <a:schemeClr val="dk1"/>
                </a:solidFill>
              </a:rPr>
              <a:t> such that [a]</a:t>
            </a:r>
            <a:r>
              <a:rPr baseline="-25000" lang="en">
                <a:solidFill>
                  <a:schemeClr val="dk1"/>
                </a:solidFill>
              </a:rPr>
              <a:t>A</a:t>
            </a:r>
            <a:r>
              <a:rPr lang="en">
                <a:solidFill>
                  <a:schemeClr val="dk1"/>
                </a:solidFill>
              </a:rPr>
              <a:t> + [a]</a:t>
            </a:r>
            <a:r>
              <a:rPr baseline="-25000" lang="en">
                <a:solidFill>
                  <a:schemeClr val="dk1"/>
                </a:solidFill>
              </a:rPr>
              <a:t>B</a:t>
            </a:r>
            <a:r>
              <a:rPr lang="en">
                <a:solidFill>
                  <a:schemeClr val="dk1"/>
                </a:solidFill>
              </a:rPr>
              <a:t> + [a]</a:t>
            </a:r>
            <a:r>
              <a:rPr baseline="-25000" lang="en">
                <a:solidFill>
                  <a:schemeClr val="dk1"/>
                </a:solidFill>
              </a:rPr>
              <a:t>C</a:t>
            </a:r>
            <a:r>
              <a:rPr lang="en">
                <a:solidFill>
                  <a:schemeClr val="dk1"/>
                </a:solidFill>
              </a:rPr>
              <a:t> = a, but any 2 shares reveal nothing about a.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0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p39"/>
          <p:cNvSpPr txBox="1"/>
          <p:nvPr>
            <p:ph type="title"/>
          </p:nvPr>
        </p:nvSpPr>
        <p:spPr>
          <a:xfrm>
            <a:off x="0" y="0"/>
            <a:ext cx="914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/>
              <a:t>Secret sharing</a:t>
            </a:r>
            <a:r>
              <a:rPr lang="en"/>
              <a:t> in mod 5 for 3 parties</a:t>
            </a:r>
            <a:endParaRPr/>
          </a:p>
        </p:txBody>
      </p:sp>
      <p:sp>
        <p:nvSpPr>
          <p:cNvPr id="452" name="Google Shape;452;p39"/>
          <p:cNvSpPr txBox="1"/>
          <p:nvPr>
            <p:ph idx="1" type="body"/>
          </p:nvPr>
        </p:nvSpPr>
        <p:spPr>
          <a:xfrm>
            <a:off x="311700" y="1820275"/>
            <a:ext cx="8520600" cy="317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			Alice generates N-1 random numbers in mod 5:</a:t>
            </a:r>
            <a:br>
              <a:rPr lang="en"/>
            </a:br>
            <a:r>
              <a:rPr lang="en"/>
              <a:t>						[a]</a:t>
            </a:r>
            <a:r>
              <a:rPr baseline="-25000" lang="en"/>
              <a:t>B</a:t>
            </a:r>
            <a:r>
              <a:rPr lang="en"/>
              <a:t> = 4 </a:t>
            </a:r>
            <a:br>
              <a:rPr lang="en"/>
            </a:br>
            <a:r>
              <a:rPr lang="en"/>
              <a:t>						[a]</a:t>
            </a:r>
            <a:r>
              <a:rPr baseline="-25000" lang="en"/>
              <a:t>C</a:t>
            </a:r>
            <a:r>
              <a:rPr lang="en"/>
              <a:t> = 3</a:t>
            </a:r>
            <a:br>
              <a:rPr lang="en"/>
            </a:br>
            <a:r>
              <a:rPr lang="en"/>
              <a:t>			Alice computes her share so that a = [a]</a:t>
            </a:r>
            <a:r>
              <a:rPr baseline="-25000" lang="en"/>
              <a:t>A</a:t>
            </a:r>
            <a:r>
              <a:rPr lang="en"/>
              <a:t> + [a]</a:t>
            </a:r>
            <a:r>
              <a:rPr baseline="-25000" lang="en"/>
              <a:t>B</a:t>
            </a:r>
            <a:r>
              <a:rPr lang="en"/>
              <a:t> + [a]</a:t>
            </a:r>
            <a:r>
              <a:rPr baseline="-25000" lang="en"/>
              <a:t>C</a:t>
            </a:r>
            <a:r>
              <a:rPr lang="en"/>
              <a:t> mod 5</a:t>
            </a:r>
            <a:br>
              <a:rPr lang="en"/>
            </a:br>
            <a:r>
              <a:rPr lang="en"/>
              <a:t>						4 = __ + 4 + 3 mod 5</a:t>
            </a:r>
            <a:br>
              <a:rPr lang="en"/>
            </a:br>
            <a:r>
              <a:rPr lang="en"/>
              <a:t>			</a:t>
            </a:r>
            <a:br>
              <a:rPr lang="en"/>
            </a:br>
            <a:br>
              <a:rPr lang="en"/>
            </a:br>
            <a:endParaRPr>
              <a:solidFill>
                <a:schemeClr val="accent6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>
              <a:solidFill>
                <a:schemeClr val="accent2"/>
              </a:solidFill>
            </a:endParaRPr>
          </a:p>
        </p:txBody>
      </p:sp>
      <p:pic>
        <p:nvPicPr>
          <p:cNvPr id="453" name="Google Shape;453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02696" y="1106363"/>
            <a:ext cx="554130" cy="554131"/>
          </a:xfrm>
          <a:prstGeom prst="rect">
            <a:avLst/>
          </a:prstGeom>
          <a:noFill/>
          <a:ln>
            <a:noFill/>
          </a:ln>
        </p:spPr>
      </p:pic>
      <p:sp>
        <p:nvSpPr>
          <p:cNvPr id="454" name="Google Shape;454;p39"/>
          <p:cNvSpPr txBox="1"/>
          <p:nvPr/>
        </p:nvSpPr>
        <p:spPr>
          <a:xfrm>
            <a:off x="3048138" y="598475"/>
            <a:ext cx="867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Alice</a:t>
            </a:r>
            <a:br>
              <a:rPr lang="en">
                <a:solidFill>
                  <a:schemeClr val="dk1"/>
                </a:solidFill>
              </a:rPr>
            </a:br>
            <a:r>
              <a:rPr lang="en">
                <a:solidFill>
                  <a:schemeClr val="accent6"/>
                </a:solidFill>
              </a:rPr>
              <a:t>a=4</a:t>
            </a:r>
            <a:endParaRPr>
              <a:solidFill>
                <a:schemeClr val="accent6"/>
              </a:solidFill>
            </a:endParaRPr>
          </a:p>
        </p:txBody>
      </p:sp>
      <p:sp>
        <p:nvSpPr>
          <p:cNvPr id="455" name="Google Shape;455;p39"/>
          <p:cNvSpPr txBox="1"/>
          <p:nvPr/>
        </p:nvSpPr>
        <p:spPr>
          <a:xfrm>
            <a:off x="5540400" y="614325"/>
            <a:ext cx="867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Bob</a:t>
            </a:r>
            <a:endParaRPr>
              <a:solidFill>
                <a:schemeClr val="accent6"/>
              </a:solidFill>
            </a:endParaRPr>
          </a:p>
        </p:txBody>
      </p:sp>
      <p:pic>
        <p:nvPicPr>
          <p:cNvPr id="456" name="Google Shape;456;p3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107500" y="1106374"/>
            <a:ext cx="554125" cy="554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57" name="Google Shape;457;p3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697150" y="1106368"/>
            <a:ext cx="554130" cy="554131"/>
          </a:xfrm>
          <a:prstGeom prst="rect">
            <a:avLst/>
          </a:prstGeom>
          <a:noFill/>
          <a:ln>
            <a:noFill/>
          </a:ln>
        </p:spPr>
      </p:pic>
      <p:sp>
        <p:nvSpPr>
          <p:cNvPr id="458" name="Google Shape;458;p39"/>
          <p:cNvSpPr txBox="1"/>
          <p:nvPr/>
        </p:nvSpPr>
        <p:spPr>
          <a:xfrm>
            <a:off x="7941075" y="614325"/>
            <a:ext cx="867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Carlos</a:t>
            </a:r>
            <a:endParaRPr>
              <a:solidFill>
                <a:schemeClr val="accent6"/>
              </a:solidFill>
            </a:endParaRPr>
          </a:p>
        </p:txBody>
      </p:sp>
      <p:cxnSp>
        <p:nvCxnSpPr>
          <p:cNvPr id="459" name="Google Shape;459;p39"/>
          <p:cNvCxnSpPr/>
          <p:nvPr/>
        </p:nvCxnSpPr>
        <p:spPr>
          <a:xfrm>
            <a:off x="3977325" y="2381450"/>
            <a:ext cx="1903500" cy="0"/>
          </a:xfrm>
          <a:prstGeom prst="straightConnector1">
            <a:avLst/>
          </a:prstGeom>
          <a:noFill/>
          <a:ln cap="flat" cmpd="sng" w="38100">
            <a:solidFill>
              <a:schemeClr val="accent6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60" name="Google Shape;460;p39"/>
          <p:cNvSpPr txBox="1"/>
          <p:nvPr>
            <p:ph idx="1" type="body"/>
          </p:nvPr>
        </p:nvSpPr>
        <p:spPr>
          <a:xfrm>
            <a:off x="4061925" y="2060975"/>
            <a:ext cx="1734300" cy="44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200">
                <a:solidFill>
                  <a:schemeClr val="accent6"/>
                </a:solidFill>
              </a:rPr>
              <a:t>Bob’s share of a</a:t>
            </a:r>
            <a:endParaRPr sz="1200">
              <a:solidFill>
                <a:schemeClr val="accent6"/>
              </a:solidFill>
            </a:endParaRPr>
          </a:p>
        </p:txBody>
      </p:sp>
      <p:cxnSp>
        <p:nvCxnSpPr>
          <p:cNvPr id="461" name="Google Shape;461;p39"/>
          <p:cNvCxnSpPr/>
          <p:nvPr/>
        </p:nvCxnSpPr>
        <p:spPr>
          <a:xfrm>
            <a:off x="3977325" y="2701925"/>
            <a:ext cx="4350300" cy="0"/>
          </a:xfrm>
          <a:prstGeom prst="straightConnector1">
            <a:avLst/>
          </a:prstGeom>
          <a:noFill/>
          <a:ln cap="flat" cmpd="sng" w="38100">
            <a:solidFill>
              <a:schemeClr val="accent6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62" name="Google Shape;462;p39"/>
          <p:cNvSpPr txBox="1"/>
          <p:nvPr>
            <p:ph idx="1" type="body"/>
          </p:nvPr>
        </p:nvSpPr>
        <p:spPr>
          <a:xfrm>
            <a:off x="5281125" y="2381450"/>
            <a:ext cx="1734300" cy="44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200">
                <a:solidFill>
                  <a:schemeClr val="accent6"/>
                </a:solidFill>
              </a:rPr>
              <a:t>Carlos’s share of a</a:t>
            </a:r>
            <a:endParaRPr sz="1200">
              <a:solidFill>
                <a:schemeClr val="accent6"/>
              </a:solidFill>
            </a:endParaRPr>
          </a:p>
        </p:txBody>
      </p:sp>
      <p:sp>
        <p:nvSpPr>
          <p:cNvPr id="463" name="Google Shape;463;p39"/>
          <p:cNvSpPr txBox="1"/>
          <p:nvPr/>
        </p:nvSpPr>
        <p:spPr>
          <a:xfrm>
            <a:off x="0" y="554288"/>
            <a:ext cx="2183700" cy="147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Goal: Alice, Bob, and Carlos hold numbers [a]</a:t>
            </a:r>
            <a:r>
              <a:rPr baseline="-25000" lang="en">
                <a:solidFill>
                  <a:schemeClr val="dk1"/>
                </a:solidFill>
              </a:rPr>
              <a:t>A</a:t>
            </a:r>
            <a:r>
              <a:rPr lang="en">
                <a:solidFill>
                  <a:schemeClr val="dk1"/>
                </a:solidFill>
              </a:rPr>
              <a:t>, [a]</a:t>
            </a:r>
            <a:r>
              <a:rPr baseline="-25000" lang="en">
                <a:solidFill>
                  <a:schemeClr val="dk1"/>
                </a:solidFill>
              </a:rPr>
              <a:t>B</a:t>
            </a:r>
            <a:r>
              <a:rPr lang="en">
                <a:solidFill>
                  <a:schemeClr val="dk1"/>
                </a:solidFill>
              </a:rPr>
              <a:t>, and [a]</a:t>
            </a:r>
            <a:r>
              <a:rPr baseline="-25000" lang="en">
                <a:solidFill>
                  <a:schemeClr val="dk1"/>
                </a:solidFill>
              </a:rPr>
              <a:t>C</a:t>
            </a:r>
            <a:r>
              <a:rPr lang="en">
                <a:solidFill>
                  <a:schemeClr val="dk1"/>
                </a:solidFill>
              </a:rPr>
              <a:t> such that [a]</a:t>
            </a:r>
            <a:r>
              <a:rPr baseline="-25000" lang="en">
                <a:solidFill>
                  <a:schemeClr val="dk1"/>
                </a:solidFill>
              </a:rPr>
              <a:t>A</a:t>
            </a:r>
            <a:r>
              <a:rPr lang="en">
                <a:solidFill>
                  <a:schemeClr val="dk1"/>
                </a:solidFill>
              </a:rPr>
              <a:t> + [a]</a:t>
            </a:r>
            <a:r>
              <a:rPr baseline="-25000" lang="en">
                <a:solidFill>
                  <a:schemeClr val="dk1"/>
                </a:solidFill>
              </a:rPr>
              <a:t>B</a:t>
            </a:r>
            <a:r>
              <a:rPr lang="en">
                <a:solidFill>
                  <a:schemeClr val="dk1"/>
                </a:solidFill>
              </a:rPr>
              <a:t> + [a]</a:t>
            </a:r>
            <a:r>
              <a:rPr baseline="-25000" lang="en">
                <a:solidFill>
                  <a:schemeClr val="dk1"/>
                </a:solidFill>
              </a:rPr>
              <a:t>C</a:t>
            </a:r>
            <a:r>
              <a:rPr lang="en">
                <a:solidFill>
                  <a:schemeClr val="dk1"/>
                </a:solidFill>
              </a:rPr>
              <a:t> = a, but any 2 shares reveal nothing about a.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7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p40"/>
          <p:cNvSpPr txBox="1"/>
          <p:nvPr>
            <p:ph type="title"/>
          </p:nvPr>
        </p:nvSpPr>
        <p:spPr>
          <a:xfrm>
            <a:off x="0" y="0"/>
            <a:ext cx="914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/>
              <a:t>Secret sharing</a:t>
            </a:r>
            <a:r>
              <a:rPr lang="en"/>
              <a:t> in mod 5 for 3 parties</a:t>
            </a:r>
            <a:endParaRPr/>
          </a:p>
        </p:txBody>
      </p:sp>
      <p:sp>
        <p:nvSpPr>
          <p:cNvPr id="469" name="Google Shape;469;p40"/>
          <p:cNvSpPr txBox="1"/>
          <p:nvPr>
            <p:ph idx="1" type="body"/>
          </p:nvPr>
        </p:nvSpPr>
        <p:spPr>
          <a:xfrm>
            <a:off x="311700" y="1820275"/>
            <a:ext cx="8520600" cy="317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			Alice generates N-1 random numbers in mod 5:</a:t>
            </a:r>
            <a:br>
              <a:rPr lang="en"/>
            </a:br>
            <a:r>
              <a:rPr lang="en"/>
              <a:t>						[a]</a:t>
            </a:r>
            <a:r>
              <a:rPr baseline="-25000" lang="en"/>
              <a:t>B</a:t>
            </a:r>
            <a:r>
              <a:rPr lang="en"/>
              <a:t> = 4 </a:t>
            </a:r>
            <a:br>
              <a:rPr lang="en"/>
            </a:br>
            <a:r>
              <a:rPr lang="en"/>
              <a:t>						[a]</a:t>
            </a:r>
            <a:r>
              <a:rPr baseline="-25000" lang="en"/>
              <a:t>C</a:t>
            </a:r>
            <a:r>
              <a:rPr lang="en"/>
              <a:t> = 3</a:t>
            </a:r>
            <a:br>
              <a:rPr lang="en"/>
            </a:br>
            <a:r>
              <a:rPr lang="en"/>
              <a:t>			Alice computes her share so that a = [a]</a:t>
            </a:r>
            <a:r>
              <a:rPr baseline="-25000" lang="en"/>
              <a:t>A</a:t>
            </a:r>
            <a:r>
              <a:rPr lang="en"/>
              <a:t> + [a]</a:t>
            </a:r>
            <a:r>
              <a:rPr baseline="-25000" lang="en"/>
              <a:t>B</a:t>
            </a:r>
            <a:r>
              <a:rPr lang="en"/>
              <a:t> + [a]</a:t>
            </a:r>
            <a:r>
              <a:rPr baseline="-25000" lang="en"/>
              <a:t>C</a:t>
            </a:r>
            <a:r>
              <a:rPr lang="en"/>
              <a:t> mod 5</a:t>
            </a:r>
            <a:br>
              <a:rPr lang="en"/>
            </a:br>
            <a:r>
              <a:rPr lang="en"/>
              <a:t>						4 = __ + 4 + 3 mod 5</a:t>
            </a:r>
            <a:br>
              <a:rPr lang="en"/>
            </a:br>
            <a:r>
              <a:rPr lang="en"/>
              <a:t>						[a]</a:t>
            </a:r>
            <a:r>
              <a:rPr baseline="-25000" lang="en"/>
              <a:t>A</a:t>
            </a:r>
            <a:r>
              <a:rPr lang="en"/>
              <a:t> = 2</a:t>
            </a:r>
            <a:br>
              <a:rPr lang="en"/>
            </a:br>
            <a:br>
              <a:rPr lang="en"/>
            </a:br>
            <a:endParaRPr>
              <a:solidFill>
                <a:schemeClr val="accent6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>
              <a:solidFill>
                <a:schemeClr val="accent2"/>
              </a:solidFill>
            </a:endParaRPr>
          </a:p>
        </p:txBody>
      </p:sp>
      <p:pic>
        <p:nvPicPr>
          <p:cNvPr id="470" name="Google Shape;470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02696" y="1106363"/>
            <a:ext cx="554130" cy="554131"/>
          </a:xfrm>
          <a:prstGeom prst="rect">
            <a:avLst/>
          </a:prstGeom>
          <a:noFill/>
          <a:ln>
            <a:noFill/>
          </a:ln>
        </p:spPr>
      </p:pic>
      <p:sp>
        <p:nvSpPr>
          <p:cNvPr id="471" name="Google Shape;471;p40"/>
          <p:cNvSpPr txBox="1"/>
          <p:nvPr/>
        </p:nvSpPr>
        <p:spPr>
          <a:xfrm>
            <a:off x="3048138" y="598475"/>
            <a:ext cx="867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Alice</a:t>
            </a:r>
            <a:br>
              <a:rPr lang="en">
                <a:solidFill>
                  <a:schemeClr val="dk1"/>
                </a:solidFill>
              </a:rPr>
            </a:br>
            <a:r>
              <a:rPr lang="en">
                <a:solidFill>
                  <a:schemeClr val="accent6"/>
                </a:solidFill>
              </a:rPr>
              <a:t>a=4</a:t>
            </a:r>
            <a:endParaRPr>
              <a:solidFill>
                <a:schemeClr val="accent6"/>
              </a:solidFill>
            </a:endParaRPr>
          </a:p>
        </p:txBody>
      </p:sp>
      <p:sp>
        <p:nvSpPr>
          <p:cNvPr id="472" name="Google Shape;472;p40"/>
          <p:cNvSpPr txBox="1"/>
          <p:nvPr/>
        </p:nvSpPr>
        <p:spPr>
          <a:xfrm>
            <a:off x="5540400" y="614325"/>
            <a:ext cx="867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Bob</a:t>
            </a:r>
            <a:endParaRPr>
              <a:solidFill>
                <a:schemeClr val="accent6"/>
              </a:solidFill>
            </a:endParaRPr>
          </a:p>
        </p:txBody>
      </p:sp>
      <p:pic>
        <p:nvPicPr>
          <p:cNvPr id="473" name="Google Shape;473;p4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107500" y="1106374"/>
            <a:ext cx="554125" cy="554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74" name="Google Shape;474;p4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697150" y="1106368"/>
            <a:ext cx="554130" cy="554131"/>
          </a:xfrm>
          <a:prstGeom prst="rect">
            <a:avLst/>
          </a:prstGeom>
          <a:noFill/>
          <a:ln>
            <a:noFill/>
          </a:ln>
        </p:spPr>
      </p:pic>
      <p:sp>
        <p:nvSpPr>
          <p:cNvPr id="475" name="Google Shape;475;p40"/>
          <p:cNvSpPr txBox="1"/>
          <p:nvPr/>
        </p:nvSpPr>
        <p:spPr>
          <a:xfrm>
            <a:off x="7941075" y="614325"/>
            <a:ext cx="867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Carlos</a:t>
            </a:r>
            <a:endParaRPr>
              <a:solidFill>
                <a:schemeClr val="accent6"/>
              </a:solidFill>
            </a:endParaRPr>
          </a:p>
        </p:txBody>
      </p:sp>
      <p:cxnSp>
        <p:nvCxnSpPr>
          <p:cNvPr id="476" name="Google Shape;476;p40"/>
          <p:cNvCxnSpPr/>
          <p:nvPr/>
        </p:nvCxnSpPr>
        <p:spPr>
          <a:xfrm>
            <a:off x="3977325" y="2381450"/>
            <a:ext cx="1903500" cy="0"/>
          </a:xfrm>
          <a:prstGeom prst="straightConnector1">
            <a:avLst/>
          </a:prstGeom>
          <a:noFill/>
          <a:ln cap="flat" cmpd="sng" w="38100">
            <a:solidFill>
              <a:schemeClr val="accent6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77" name="Google Shape;477;p40"/>
          <p:cNvSpPr txBox="1"/>
          <p:nvPr>
            <p:ph idx="1" type="body"/>
          </p:nvPr>
        </p:nvSpPr>
        <p:spPr>
          <a:xfrm>
            <a:off x="4061925" y="2060975"/>
            <a:ext cx="1734300" cy="44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200">
                <a:solidFill>
                  <a:schemeClr val="accent6"/>
                </a:solidFill>
              </a:rPr>
              <a:t>Bob’s share of a</a:t>
            </a:r>
            <a:endParaRPr sz="1200">
              <a:solidFill>
                <a:schemeClr val="accent6"/>
              </a:solidFill>
            </a:endParaRPr>
          </a:p>
        </p:txBody>
      </p:sp>
      <p:cxnSp>
        <p:nvCxnSpPr>
          <p:cNvPr id="478" name="Google Shape;478;p40"/>
          <p:cNvCxnSpPr/>
          <p:nvPr/>
        </p:nvCxnSpPr>
        <p:spPr>
          <a:xfrm>
            <a:off x="3977325" y="2701925"/>
            <a:ext cx="4350300" cy="0"/>
          </a:xfrm>
          <a:prstGeom prst="straightConnector1">
            <a:avLst/>
          </a:prstGeom>
          <a:noFill/>
          <a:ln cap="flat" cmpd="sng" w="38100">
            <a:solidFill>
              <a:schemeClr val="accent6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79" name="Google Shape;479;p40"/>
          <p:cNvSpPr txBox="1"/>
          <p:nvPr>
            <p:ph idx="1" type="body"/>
          </p:nvPr>
        </p:nvSpPr>
        <p:spPr>
          <a:xfrm>
            <a:off x="5281125" y="2381450"/>
            <a:ext cx="1734300" cy="44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200">
                <a:solidFill>
                  <a:schemeClr val="accent6"/>
                </a:solidFill>
              </a:rPr>
              <a:t>Carlos’s share of a</a:t>
            </a:r>
            <a:endParaRPr sz="1200">
              <a:solidFill>
                <a:schemeClr val="accent6"/>
              </a:solidFill>
            </a:endParaRPr>
          </a:p>
        </p:txBody>
      </p:sp>
      <p:sp>
        <p:nvSpPr>
          <p:cNvPr id="480" name="Google Shape;480;p40"/>
          <p:cNvSpPr txBox="1"/>
          <p:nvPr>
            <p:ph idx="1" type="body"/>
          </p:nvPr>
        </p:nvSpPr>
        <p:spPr>
          <a:xfrm>
            <a:off x="3515725" y="3112375"/>
            <a:ext cx="1734300" cy="44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200">
                <a:solidFill>
                  <a:schemeClr val="accent6"/>
                </a:solidFill>
              </a:rPr>
              <a:t>2</a:t>
            </a:r>
            <a:endParaRPr sz="1200">
              <a:solidFill>
                <a:schemeClr val="accent6"/>
              </a:solidFill>
            </a:endParaRPr>
          </a:p>
        </p:txBody>
      </p:sp>
      <p:sp>
        <p:nvSpPr>
          <p:cNvPr id="481" name="Google Shape;481;p40"/>
          <p:cNvSpPr txBox="1"/>
          <p:nvPr/>
        </p:nvSpPr>
        <p:spPr>
          <a:xfrm>
            <a:off x="0" y="554288"/>
            <a:ext cx="2183700" cy="147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Goal: Alice, Bob, and Carlos hold numbers [a]</a:t>
            </a:r>
            <a:r>
              <a:rPr baseline="-25000" lang="en">
                <a:solidFill>
                  <a:schemeClr val="dk1"/>
                </a:solidFill>
              </a:rPr>
              <a:t>A</a:t>
            </a:r>
            <a:r>
              <a:rPr lang="en">
                <a:solidFill>
                  <a:schemeClr val="dk1"/>
                </a:solidFill>
              </a:rPr>
              <a:t>, [a]</a:t>
            </a:r>
            <a:r>
              <a:rPr baseline="-25000" lang="en">
                <a:solidFill>
                  <a:schemeClr val="dk1"/>
                </a:solidFill>
              </a:rPr>
              <a:t>B</a:t>
            </a:r>
            <a:r>
              <a:rPr lang="en">
                <a:solidFill>
                  <a:schemeClr val="dk1"/>
                </a:solidFill>
              </a:rPr>
              <a:t>, and [a]</a:t>
            </a:r>
            <a:r>
              <a:rPr baseline="-25000" lang="en">
                <a:solidFill>
                  <a:schemeClr val="dk1"/>
                </a:solidFill>
              </a:rPr>
              <a:t>C</a:t>
            </a:r>
            <a:r>
              <a:rPr lang="en">
                <a:solidFill>
                  <a:schemeClr val="dk1"/>
                </a:solidFill>
              </a:rPr>
              <a:t> such that [a]</a:t>
            </a:r>
            <a:r>
              <a:rPr baseline="-25000" lang="en">
                <a:solidFill>
                  <a:schemeClr val="dk1"/>
                </a:solidFill>
              </a:rPr>
              <a:t>A</a:t>
            </a:r>
            <a:r>
              <a:rPr lang="en">
                <a:solidFill>
                  <a:schemeClr val="dk1"/>
                </a:solidFill>
              </a:rPr>
              <a:t> + [a]</a:t>
            </a:r>
            <a:r>
              <a:rPr baseline="-25000" lang="en">
                <a:solidFill>
                  <a:schemeClr val="dk1"/>
                </a:solidFill>
              </a:rPr>
              <a:t>B</a:t>
            </a:r>
            <a:r>
              <a:rPr lang="en">
                <a:solidFill>
                  <a:schemeClr val="dk1"/>
                </a:solidFill>
              </a:rPr>
              <a:t> + [a]</a:t>
            </a:r>
            <a:r>
              <a:rPr baseline="-25000" lang="en">
                <a:solidFill>
                  <a:schemeClr val="dk1"/>
                </a:solidFill>
              </a:rPr>
              <a:t>C</a:t>
            </a:r>
            <a:r>
              <a:rPr lang="en">
                <a:solidFill>
                  <a:schemeClr val="dk1"/>
                </a:solidFill>
              </a:rPr>
              <a:t> = a, but any 2 shares reveal nothing about a.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5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Google Shape;486;p41"/>
          <p:cNvSpPr txBox="1"/>
          <p:nvPr>
            <p:ph type="title"/>
          </p:nvPr>
        </p:nvSpPr>
        <p:spPr>
          <a:xfrm>
            <a:off x="0" y="0"/>
            <a:ext cx="914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/>
              <a:t>Secret sharing</a:t>
            </a:r>
            <a:r>
              <a:rPr lang="en"/>
              <a:t> in mod 5 for 3 parties</a:t>
            </a:r>
            <a:endParaRPr/>
          </a:p>
        </p:txBody>
      </p:sp>
      <p:sp>
        <p:nvSpPr>
          <p:cNvPr id="487" name="Google Shape;487;p41"/>
          <p:cNvSpPr txBox="1"/>
          <p:nvPr>
            <p:ph idx="1" type="body"/>
          </p:nvPr>
        </p:nvSpPr>
        <p:spPr>
          <a:xfrm>
            <a:off x="311700" y="1820275"/>
            <a:ext cx="8520600" cy="317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			Alice generates N-1 random numbers in mod 5:</a:t>
            </a:r>
            <a:br>
              <a:rPr lang="en"/>
            </a:br>
            <a:r>
              <a:rPr lang="en"/>
              <a:t>						[a]</a:t>
            </a:r>
            <a:r>
              <a:rPr baseline="-25000" lang="en"/>
              <a:t>B</a:t>
            </a:r>
            <a:r>
              <a:rPr lang="en"/>
              <a:t> = 4 </a:t>
            </a:r>
            <a:br>
              <a:rPr lang="en"/>
            </a:br>
            <a:r>
              <a:rPr lang="en"/>
              <a:t>						[a]</a:t>
            </a:r>
            <a:r>
              <a:rPr baseline="-25000" lang="en"/>
              <a:t>C</a:t>
            </a:r>
            <a:r>
              <a:rPr lang="en"/>
              <a:t> = 3</a:t>
            </a:r>
            <a:br>
              <a:rPr lang="en"/>
            </a:br>
            <a:r>
              <a:rPr lang="en"/>
              <a:t>			Alice computes her share so that a = [a]</a:t>
            </a:r>
            <a:r>
              <a:rPr baseline="-25000" lang="en"/>
              <a:t>A</a:t>
            </a:r>
            <a:r>
              <a:rPr lang="en"/>
              <a:t> + [a]</a:t>
            </a:r>
            <a:r>
              <a:rPr baseline="-25000" lang="en"/>
              <a:t>B</a:t>
            </a:r>
            <a:r>
              <a:rPr lang="en"/>
              <a:t> + [a]</a:t>
            </a:r>
            <a:r>
              <a:rPr baseline="-25000" lang="en"/>
              <a:t>C</a:t>
            </a:r>
            <a:r>
              <a:rPr lang="en"/>
              <a:t> mod 5</a:t>
            </a:r>
            <a:br>
              <a:rPr lang="en"/>
            </a:br>
            <a:r>
              <a:rPr lang="en"/>
              <a:t>						4 = __ + 4 + 3 mod 5</a:t>
            </a:r>
            <a:br>
              <a:rPr lang="en"/>
            </a:br>
            <a:r>
              <a:rPr lang="en"/>
              <a:t>						[a]</a:t>
            </a:r>
            <a:r>
              <a:rPr baseline="-25000" lang="en"/>
              <a:t>A</a:t>
            </a:r>
            <a:r>
              <a:rPr lang="en"/>
              <a:t> = 2</a:t>
            </a:r>
            <a:br>
              <a:rPr lang="en"/>
            </a:br>
            <a:br>
              <a:rPr lang="en"/>
            </a:br>
            <a:r>
              <a:rPr lang="en"/>
              <a:t>[a] is called a “sharing of a”.  Each party’s share is:</a:t>
            </a:r>
            <a:br>
              <a:rPr lang="en"/>
            </a:br>
            <a:r>
              <a:rPr lang="en"/>
              <a:t>					</a:t>
            </a:r>
            <a:r>
              <a:rPr lang="en">
                <a:solidFill>
                  <a:schemeClr val="accent6"/>
                </a:solidFill>
              </a:rPr>
              <a:t>[a]</a:t>
            </a:r>
            <a:r>
              <a:rPr baseline="-25000" lang="en">
                <a:solidFill>
                  <a:schemeClr val="accent6"/>
                </a:solidFill>
              </a:rPr>
              <a:t>A</a:t>
            </a:r>
            <a:r>
              <a:rPr lang="en">
                <a:solidFill>
                  <a:schemeClr val="accent6"/>
                </a:solidFill>
              </a:rPr>
              <a:t>  =  2					[a]</a:t>
            </a:r>
            <a:r>
              <a:rPr baseline="-25000" lang="en">
                <a:solidFill>
                  <a:schemeClr val="accent6"/>
                </a:solidFill>
              </a:rPr>
              <a:t>B</a:t>
            </a:r>
            <a:r>
              <a:rPr lang="en">
                <a:solidFill>
                  <a:schemeClr val="accent6"/>
                </a:solidFill>
              </a:rPr>
              <a:t>  = 4				[a]</a:t>
            </a:r>
            <a:r>
              <a:rPr baseline="-25000" lang="en">
                <a:solidFill>
                  <a:schemeClr val="accent6"/>
                </a:solidFill>
              </a:rPr>
              <a:t>C</a:t>
            </a:r>
            <a:r>
              <a:rPr lang="en">
                <a:solidFill>
                  <a:schemeClr val="accent6"/>
                </a:solidFill>
              </a:rPr>
              <a:t>  = 3</a:t>
            </a:r>
            <a:endParaRPr>
              <a:solidFill>
                <a:schemeClr val="accent6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>
              <a:solidFill>
                <a:schemeClr val="accent2"/>
              </a:solidFill>
            </a:endParaRPr>
          </a:p>
        </p:txBody>
      </p:sp>
      <p:pic>
        <p:nvPicPr>
          <p:cNvPr id="488" name="Google Shape;488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02696" y="1106363"/>
            <a:ext cx="554130" cy="554131"/>
          </a:xfrm>
          <a:prstGeom prst="rect">
            <a:avLst/>
          </a:prstGeom>
          <a:noFill/>
          <a:ln>
            <a:noFill/>
          </a:ln>
        </p:spPr>
      </p:pic>
      <p:sp>
        <p:nvSpPr>
          <p:cNvPr id="489" name="Google Shape;489;p41"/>
          <p:cNvSpPr txBox="1"/>
          <p:nvPr/>
        </p:nvSpPr>
        <p:spPr>
          <a:xfrm>
            <a:off x="3048138" y="598475"/>
            <a:ext cx="867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Alice</a:t>
            </a:r>
            <a:br>
              <a:rPr lang="en">
                <a:solidFill>
                  <a:schemeClr val="dk1"/>
                </a:solidFill>
              </a:rPr>
            </a:br>
            <a:r>
              <a:rPr lang="en">
                <a:solidFill>
                  <a:schemeClr val="accent6"/>
                </a:solidFill>
              </a:rPr>
              <a:t>a=4</a:t>
            </a:r>
            <a:endParaRPr>
              <a:solidFill>
                <a:schemeClr val="accent6"/>
              </a:solidFill>
            </a:endParaRPr>
          </a:p>
        </p:txBody>
      </p:sp>
      <p:sp>
        <p:nvSpPr>
          <p:cNvPr id="490" name="Google Shape;490;p41"/>
          <p:cNvSpPr txBox="1"/>
          <p:nvPr/>
        </p:nvSpPr>
        <p:spPr>
          <a:xfrm>
            <a:off x="5540400" y="614325"/>
            <a:ext cx="867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Bob</a:t>
            </a:r>
            <a:endParaRPr>
              <a:solidFill>
                <a:schemeClr val="accent6"/>
              </a:solidFill>
            </a:endParaRPr>
          </a:p>
        </p:txBody>
      </p:sp>
      <p:pic>
        <p:nvPicPr>
          <p:cNvPr id="491" name="Google Shape;491;p4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107500" y="1106374"/>
            <a:ext cx="554125" cy="554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92" name="Google Shape;492;p4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697150" y="1106368"/>
            <a:ext cx="554130" cy="554131"/>
          </a:xfrm>
          <a:prstGeom prst="rect">
            <a:avLst/>
          </a:prstGeom>
          <a:noFill/>
          <a:ln>
            <a:noFill/>
          </a:ln>
        </p:spPr>
      </p:pic>
      <p:sp>
        <p:nvSpPr>
          <p:cNvPr id="493" name="Google Shape;493;p41"/>
          <p:cNvSpPr txBox="1"/>
          <p:nvPr/>
        </p:nvSpPr>
        <p:spPr>
          <a:xfrm>
            <a:off x="7941075" y="614325"/>
            <a:ext cx="867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Carlos</a:t>
            </a:r>
            <a:endParaRPr>
              <a:solidFill>
                <a:schemeClr val="accent6"/>
              </a:solidFill>
            </a:endParaRPr>
          </a:p>
        </p:txBody>
      </p:sp>
      <p:cxnSp>
        <p:nvCxnSpPr>
          <p:cNvPr id="494" name="Google Shape;494;p41"/>
          <p:cNvCxnSpPr/>
          <p:nvPr/>
        </p:nvCxnSpPr>
        <p:spPr>
          <a:xfrm>
            <a:off x="3977325" y="2381450"/>
            <a:ext cx="1903500" cy="0"/>
          </a:xfrm>
          <a:prstGeom prst="straightConnector1">
            <a:avLst/>
          </a:prstGeom>
          <a:noFill/>
          <a:ln cap="flat" cmpd="sng" w="38100">
            <a:solidFill>
              <a:schemeClr val="accent6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95" name="Google Shape;495;p41"/>
          <p:cNvSpPr txBox="1"/>
          <p:nvPr>
            <p:ph idx="1" type="body"/>
          </p:nvPr>
        </p:nvSpPr>
        <p:spPr>
          <a:xfrm>
            <a:off x="4061925" y="2060975"/>
            <a:ext cx="1734300" cy="44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200">
                <a:solidFill>
                  <a:schemeClr val="accent6"/>
                </a:solidFill>
              </a:rPr>
              <a:t>Bob’s share of a</a:t>
            </a:r>
            <a:endParaRPr sz="1200">
              <a:solidFill>
                <a:schemeClr val="accent6"/>
              </a:solidFill>
            </a:endParaRPr>
          </a:p>
        </p:txBody>
      </p:sp>
      <p:cxnSp>
        <p:nvCxnSpPr>
          <p:cNvPr id="496" name="Google Shape;496;p41"/>
          <p:cNvCxnSpPr/>
          <p:nvPr/>
        </p:nvCxnSpPr>
        <p:spPr>
          <a:xfrm>
            <a:off x="3977325" y="2701925"/>
            <a:ext cx="4350300" cy="0"/>
          </a:xfrm>
          <a:prstGeom prst="straightConnector1">
            <a:avLst/>
          </a:prstGeom>
          <a:noFill/>
          <a:ln cap="flat" cmpd="sng" w="38100">
            <a:solidFill>
              <a:schemeClr val="accent6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97" name="Google Shape;497;p41"/>
          <p:cNvSpPr txBox="1"/>
          <p:nvPr>
            <p:ph idx="1" type="body"/>
          </p:nvPr>
        </p:nvSpPr>
        <p:spPr>
          <a:xfrm>
            <a:off x="5281125" y="2381450"/>
            <a:ext cx="1734300" cy="44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200">
                <a:solidFill>
                  <a:schemeClr val="accent6"/>
                </a:solidFill>
              </a:rPr>
              <a:t>Carlos’s share of a</a:t>
            </a:r>
            <a:endParaRPr sz="1200">
              <a:solidFill>
                <a:schemeClr val="accent6"/>
              </a:solidFill>
            </a:endParaRPr>
          </a:p>
        </p:txBody>
      </p:sp>
      <p:sp>
        <p:nvSpPr>
          <p:cNvPr id="498" name="Google Shape;498;p41"/>
          <p:cNvSpPr txBox="1"/>
          <p:nvPr>
            <p:ph idx="1" type="body"/>
          </p:nvPr>
        </p:nvSpPr>
        <p:spPr>
          <a:xfrm>
            <a:off x="3515725" y="3112375"/>
            <a:ext cx="1734300" cy="44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200">
                <a:solidFill>
                  <a:schemeClr val="accent6"/>
                </a:solidFill>
              </a:rPr>
              <a:t>2</a:t>
            </a:r>
            <a:endParaRPr sz="1200">
              <a:solidFill>
                <a:schemeClr val="accent6"/>
              </a:solidFill>
            </a:endParaRPr>
          </a:p>
        </p:txBody>
      </p:sp>
      <p:sp>
        <p:nvSpPr>
          <p:cNvPr id="499" name="Google Shape;499;p41"/>
          <p:cNvSpPr txBox="1"/>
          <p:nvPr/>
        </p:nvSpPr>
        <p:spPr>
          <a:xfrm>
            <a:off x="0" y="554288"/>
            <a:ext cx="2183700" cy="147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Goal: Alice, Bob, and Carlos hold numbers [a]</a:t>
            </a:r>
            <a:r>
              <a:rPr baseline="-25000" lang="en">
                <a:solidFill>
                  <a:schemeClr val="dk1"/>
                </a:solidFill>
              </a:rPr>
              <a:t>A</a:t>
            </a:r>
            <a:r>
              <a:rPr lang="en">
                <a:solidFill>
                  <a:schemeClr val="dk1"/>
                </a:solidFill>
              </a:rPr>
              <a:t>, [a]</a:t>
            </a:r>
            <a:r>
              <a:rPr baseline="-25000" lang="en">
                <a:solidFill>
                  <a:schemeClr val="dk1"/>
                </a:solidFill>
              </a:rPr>
              <a:t>B</a:t>
            </a:r>
            <a:r>
              <a:rPr lang="en">
                <a:solidFill>
                  <a:schemeClr val="dk1"/>
                </a:solidFill>
              </a:rPr>
              <a:t>, and [a]</a:t>
            </a:r>
            <a:r>
              <a:rPr baseline="-25000" lang="en">
                <a:solidFill>
                  <a:schemeClr val="dk1"/>
                </a:solidFill>
              </a:rPr>
              <a:t>C</a:t>
            </a:r>
            <a:r>
              <a:rPr lang="en">
                <a:solidFill>
                  <a:schemeClr val="dk1"/>
                </a:solidFill>
              </a:rPr>
              <a:t> such that [a]</a:t>
            </a:r>
            <a:r>
              <a:rPr baseline="-25000" lang="en">
                <a:solidFill>
                  <a:schemeClr val="dk1"/>
                </a:solidFill>
              </a:rPr>
              <a:t>A</a:t>
            </a:r>
            <a:r>
              <a:rPr lang="en">
                <a:solidFill>
                  <a:schemeClr val="dk1"/>
                </a:solidFill>
              </a:rPr>
              <a:t> + [a]</a:t>
            </a:r>
            <a:r>
              <a:rPr baseline="-25000" lang="en">
                <a:solidFill>
                  <a:schemeClr val="dk1"/>
                </a:solidFill>
              </a:rPr>
              <a:t>B</a:t>
            </a:r>
            <a:r>
              <a:rPr lang="en">
                <a:solidFill>
                  <a:schemeClr val="dk1"/>
                </a:solidFill>
              </a:rPr>
              <a:t> + [a]</a:t>
            </a:r>
            <a:r>
              <a:rPr baseline="-25000" lang="en">
                <a:solidFill>
                  <a:schemeClr val="dk1"/>
                </a:solidFill>
              </a:rPr>
              <a:t>C</a:t>
            </a:r>
            <a:r>
              <a:rPr lang="en">
                <a:solidFill>
                  <a:schemeClr val="dk1"/>
                </a:solidFill>
              </a:rPr>
              <a:t> = a, but any 2 shares reveal nothing about a.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3" name="Shape 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Google Shape;504;p42"/>
          <p:cNvSpPr txBox="1"/>
          <p:nvPr>
            <p:ph type="title"/>
          </p:nvPr>
        </p:nvSpPr>
        <p:spPr>
          <a:xfrm>
            <a:off x="0" y="0"/>
            <a:ext cx="914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/>
              <a:t>Secret sharing</a:t>
            </a:r>
            <a:r>
              <a:rPr lang="en"/>
              <a:t> in mod 5 for 3 parties</a:t>
            </a:r>
            <a:endParaRPr/>
          </a:p>
        </p:txBody>
      </p:sp>
      <p:sp>
        <p:nvSpPr>
          <p:cNvPr id="505" name="Google Shape;505;p42"/>
          <p:cNvSpPr txBox="1"/>
          <p:nvPr>
            <p:ph idx="1" type="body"/>
          </p:nvPr>
        </p:nvSpPr>
        <p:spPr>
          <a:xfrm>
            <a:off x="320050" y="1660500"/>
            <a:ext cx="8859300" cy="55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						</a:t>
            </a:r>
            <a:r>
              <a:rPr lang="en">
                <a:solidFill>
                  <a:schemeClr val="accent6"/>
                </a:solidFill>
              </a:rPr>
              <a:t>[a]</a:t>
            </a:r>
            <a:r>
              <a:rPr baseline="-25000" lang="en">
                <a:solidFill>
                  <a:schemeClr val="accent6"/>
                </a:solidFill>
              </a:rPr>
              <a:t>A</a:t>
            </a:r>
            <a:r>
              <a:rPr lang="en">
                <a:solidFill>
                  <a:schemeClr val="accent6"/>
                </a:solidFill>
              </a:rPr>
              <a:t>  =  2				   [a]</a:t>
            </a:r>
            <a:r>
              <a:rPr baseline="-25000" lang="en">
                <a:solidFill>
                  <a:schemeClr val="accent6"/>
                </a:solidFill>
              </a:rPr>
              <a:t>B</a:t>
            </a:r>
            <a:r>
              <a:rPr lang="en">
                <a:solidFill>
                  <a:schemeClr val="accent6"/>
                </a:solidFill>
              </a:rPr>
              <a:t>  = 4			     [a]</a:t>
            </a:r>
            <a:r>
              <a:rPr baseline="-25000" lang="en">
                <a:solidFill>
                  <a:schemeClr val="accent6"/>
                </a:solidFill>
              </a:rPr>
              <a:t>C</a:t>
            </a:r>
            <a:r>
              <a:rPr lang="en">
                <a:solidFill>
                  <a:schemeClr val="accent6"/>
                </a:solidFill>
              </a:rPr>
              <a:t>  = 3</a:t>
            </a:r>
            <a:endParaRPr>
              <a:solidFill>
                <a:schemeClr val="accent6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>
              <a:solidFill>
                <a:schemeClr val="accent2"/>
              </a:solidFill>
            </a:endParaRPr>
          </a:p>
        </p:txBody>
      </p:sp>
      <p:pic>
        <p:nvPicPr>
          <p:cNvPr id="506" name="Google Shape;506;p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02696" y="1106363"/>
            <a:ext cx="554130" cy="554131"/>
          </a:xfrm>
          <a:prstGeom prst="rect">
            <a:avLst/>
          </a:prstGeom>
          <a:noFill/>
          <a:ln>
            <a:noFill/>
          </a:ln>
        </p:spPr>
      </p:pic>
      <p:sp>
        <p:nvSpPr>
          <p:cNvPr id="507" name="Google Shape;507;p42"/>
          <p:cNvSpPr txBox="1"/>
          <p:nvPr/>
        </p:nvSpPr>
        <p:spPr>
          <a:xfrm>
            <a:off x="3048138" y="598475"/>
            <a:ext cx="867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Alice</a:t>
            </a:r>
            <a:br>
              <a:rPr lang="en">
                <a:solidFill>
                  <a:schemeClr val="dk1"/>
                </a:solidFill>
              </a:rPr>
            </a:br>
            <a:r>
              <a:rPr lang="en">
                <a:solidFill>
                  <a:schemeClr val="accent6"/>
                </a:solidFill>
              </a:rPr>
              <a:t>a=4</a:t>
            </a:r>
            <a:endParaRPr>
              <a:solidFill>
                <a:schemeClr val="accent6"/>
              </a:solidFill>
            </a:endParaRPr>
          </a:p>
        </p:txBody>
      </p:sp>
      <p:sp>
        <p:nvSpPr>
          <p:cNvPr id="508" name="Google Shape;508;p42"/>
          <p:cNvSpPr txBox="1"/>
          <p:nvPr/>
        </p:nvSpPr>
        <p:spPr>
          <a:xfrm>
            <a:off x="5540400" y="614325"/>
            <a:ext cx="867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Bob</a:t>
            </a:r>
            <a:endParaRPr>
              <a:solidFill>
                <a:schemeClr val="accent6"/>
              </a:solidFill>
            </a:endParaRPr>
          </a:p>
        </p:txBody>
      </p:sp>
      <p:pic>
        <p:nvPicPr>
          <p:cNvPr id="509" name="Google Shape;509;p4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107500" y="1106374"/>
            <a:ext cx="554125" cy="554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10" name="Google Shape;510;p4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697150" y="1106368"/>
            <a:ext cx="554130" cy="554131"/>
          </a:xfrm>
          <a:prstGeom prst="rect">
            <a:avLst/>
          </a:prstGeom>
          <a:noFill/>
          <a:ln>
            <a:noFill/>
          </a:ln>
        </p:spPr>
      </p:pic>
      <p:sp>
        <p:nvSpPr>
          <p:cNvPr id="511" name="Google Shape;511;p42"/>
          <p:cNvSpPr txBox="1"/>
          <p:nvPr/>
        </p:nvSpPr>
        <p:spPr>
          <a:xfrm>
            <a:off x="7941075" y="614325"/>
            <a:ext cx="867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Carlos</a:t>
            </a:r>
            <a:endParaRPr>
              <a:solidFill>
                <a:schemeClr val="accent6"/>
              </a:solidFill>
            </a:endParaRPr>
          </a:p>
        </p:txBody>
      </p:sp>
      <p:sp>
        <p:nvSpPr>
          <p:cNvPr id="512" name="Google Shape;512;p42"/>
          <p:cNvSpPr txBox="1"/>
          <p:nvPr>
            <p:ph idx="1" type="body"/>
          </p:nvPr>
        </p:nvSpPr>
        <p:spPr>
          <a:xfrm>
            <a:off x="311700" y="2610725"/>
            <a:ext cx="3690600" cy="237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"/>
              <a:t>Notice: Even if Bob and Carlos work together, they have no idea what </a:t>
            </a:r>
            <a:r>
              <a:rPr lang="en">
                <a:solidFill>
                  <a:schemeClr val="accent6"/>
                </a:solidFill>
              </a:rPr>
              <a:t>a</a:t>
            </a:r>
            <a:r>
              <a:rPr lang="en"/>
              <a:t> actually is, because they don’t know Alice’s share [a]</a:t>
            </a:r>
            <a:r>
              <a:rPr baseline="-25000" lang="en"/>
              <a:t>A</a:t>
            </a:r>
            <a:r>
              <a:rPr lang="en"/>
              <a:t>!</a:t>
            </a:r>
            <a:endParaRPr/>
          </a:p>
        </p:txBody>
      </p:sp>
      <p:sp>
        <p:nvSpPr>
          <p:cNvPr id="513" name="Google Shape;513;p42"/>
          <p:cNvSpPr/>
          <p:nvPr/>
        </p:nvSpPr>
        <p:spPr>
          <a:xfrm>
            <a:off x="5291025" y="1708925"/>
            <a:ext cx="3724200" cy="995700"/>
          </a:xfrm>
          <a:prstGeom prst="rect">
            <a:avLst/>
          </a:prstGeom>
          <a:noFill/>
          <a:ln cap="flat" cmpd="sng" w="9525">
            <a:solidFill>
              <a:schemeClr val="accent6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4" name="Google Shape;514;p42"/>
          <p:cNvSpPr txBox="1"/>
          <p:nvPr/>
        </p:nvSpPr>
        <p:spPr>
          <a:xfrm>
            <a:off x="6226125" y="2753050"/>
            <a:ext cx="1998600" cy="190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6"/>
                </a:solidFill>
              </a:rPr>
              <a:t>If [a]</a:t>
            </a:r>
            <a:r>
              <a:rPr baseline="-25000" lang="en">
                <a:solidFill>
                  <a:schemeClr val="accent6"/>
                </a:solidFill>
              </a:rPr>
              <a:t>A</a:t>
            </a:r>
            <a:r>
              <a:rPr lang="en">
                <a:solidFill>
                  <a:schemeClr val="accent6"/>
                </a:solidFill>
              </a:rPr>
              <a:t> = 0, then a = 2.</a:t>
            </a:r>
            <a:br>
              <a:rPr lang="en">
                <a:solidFill>
                  <a:schemeClr val="accent6"/>
                </a:solidFill>
              </a:rPr>
            </a:br>
            <a:r>
              <a:rPr lang="en">
                <a:solidFill>
                  <a:schemeClr val="accent6"/>
                </a:solidFill>
              </a:rPr>
              <a:t>If [a]</a:t>
            </a:r>
            <a:r>
              <a:rPr baseline="-25000" lang="en">
                <a:solidFill>
                  <a:schemeClr val="accent6"/>
                </a:solidFill>
              </a:rPr>
              <a:t>A</a:t>
            </a:r>
            <a:r>
              <a:rPr lang="en">
                <a:solidFill>
                  <a:schemeClr val="accent6"/>
                </a:solidFill>
              </a:rPr>
              <a:t> = 1, then a = 3.</a:t>
            </a:r>
            <a:br>
              <a:rPr lang="en">
                <a:solidFill>
                  <a:schemeClr val="accent6"/>
                </a:solidFill>
              </a:rPr>
            </a:br>
            <a:r>
              <a:rPr lang="en">
                <a:solidFill>
                  <a:schemeClr val="accent6"/>
                </a:solidFill>
              </a:rPr>
              <a:t>If [a]</a:t>
            </a:r>
            <a:r>
              <a:rPr baseline="-25000" lang="en">
                <a:solidFill>
                  <a:schemeClr val="accent6"/>
                </a:solidFill>
              </a:rPr>
              <a:t>A</a:t>
            </a:r>
            <a:r>
              <a:rPr lang="en">
                <a:solidFill>
                  <a:schemeClr val="accent6"/>
                </a:solidFill>
              </a:rPr>
              <a:t> = 2, then a = 4.</a:t>
            </a:r>
            <a:br>
              <a:rPr lang="en">
                <a:solidFill>
                  <a:schemeClr val="accent6"/>
                </a:solidFill>
              </a:rPr>
            </a:br>
            <a:r>
              <a:rPr lang="en">
                <a:solidFill>
                  <a:schemeClr val="accent6"/>
                </a:solidFill>
              </a:rPr>
              <a:t>If [a]</a:t>
            </a:r>
            <a:r>
              <a:rPr baseline="-25000" lang="en">
                <a:solidFill>
                  <a:schemeClr val="accent6"/>
                </a:solidFill>
              </a:rPr>
              <a:t>A</a:t>
            </a:r>
            <a:r>
              <a:rPr lang="en">
                <a:solidFill>
                  <a:schemeClr val="accent6"/>
                </a:solidFill>
              </a:rPr>
              <a:t> = 3, then a = 0.</a:t>
            </a:r>
            <a:br>
              <a:rPr lang="en">
                <a:solidFill>
                  <a:schemeClr val="accent6"/>
                </a:solidFill>
              </a:rPr>
            </a:br>
            <a:r>
              <a:rPr lang="en">
                <a:solidFill>
                  <a:schemeClr val="accent6"/>
                </a:solidFill>
              </a:rPr>
              <a:t>If [a]</a:t>
            </a:r>
            <a:r>
              <a:rPr baseline="-25000" lang="en">
                <a:solidFill>
                  <a:schemeClr val="accent6"/>
                </a:solidFill>
              </a:rPr>
              <a:t>A</a:t>
            </a:r>
            <a:r>
              <a:rPr lang="en">
                <a:solidFill>
                  <a:schemeClr val="accent6"/>
                </a:solidFill>
              </a:rPr>
              <a:t> = 4, then a = 1.</a:t>
            </a:r>
            <a:br>
              <a:rPr lang="en">
                <a:solidFill>
                  <a:schemeClr val="accent6"/>
                </a:solidFill>
              </a:rPr>
            </a:br>
            <a:endParaRPr>
              <a:solidFill>
                <a:schemeClr val="accent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6"/>
                </a:solidFill>
              </a:rPr>
              <a:t>No way to tell these scenarios apart!!!</a:t>
            </a:r>
            <a:endParaRPr>
              <a:solidFill>
                <a:schemeClr val="accent6"/>
              </a:solidFill>
            </a:endParaRPr>
          </a:p>
        </p:txBody>
      </p:sp>
      <p:sp>
        <p:nvSpPr>
          <p:cNvPr id="515" name="Google Shape;515;p42"/>
          <p:cNvSpPr txBox="1"/>
          <p:nvPr/>
        </p:nvSpPr>
        <p:spPr>
          <a:xfrm>
            <a:off x="0" y="554288"/>
            <a:ext cx="2183700" cy="147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Goal: Alice, Bob, and Carlos hold numbers [a]</a:t>
            </a:r>
            <a:r>
              <a:rPr baseline="-25000" lang="en">
                <a:solidFill>
                  <a:schemeClr val="dk1"/>
                </a:solidFill>
              </a:rPr>
              <a:t>A</a:t>
            </a:r>
            <a:r>
              <a:rPr lang="en">
                <a:solidFill>
                  <a:schemeClr val="dk1"/>
                </a:solidFill>
              </a:rPr>
              <a:t>, [a]</a:t>
            </a:r>
            <a:r>
              <a:rPr baseline="-25000" lang="en">
                <a:solidFill>
                  <a:schemeClr val="dk1"/>
                </a:solidFill>
              </a:rPr>
              <a:t>B</a:t>
            </a:r>
            <a:r>
              <a:rPr lang="en">
                <a:solidFill>
                  <a:schemeClr val="dk1"/>
                </a:solidFill>
              </a:rPr>
              <a:t>, and [a]</a:t>
            </a:r>
            <a:r>
              <a:rPr baseline="-25000" lang="en">
                <a:solidFill>
                  <a:schemeClr val="dk1"/>
                </a:solidFill>
              </a:rPr>
              <a:t>C</a:t>
            </a:r>
            <a:r>
              <a:rPr lang="en">
                <a:solidFill>
                  <a:schemeClr val="dk1"/>
                </a:solidFill>
              </a:rPr>
              <a:t> such that [a]</a:t>
            </a:r>
            <a:r>
              <a:rPr baseline="-25000" lang="en">
                <a:solidFill>
                  <a:schemeClr val="dk1"/>
                </a:solidFill>
              </a:rPr>
              <a:t>A</a:t>
            </a:r>
            <a:r>
              <a:rPr lang="en">
                <a:solidFill>
                  <a:schemeClr val="dk1"/>
                </a:solidFill>
              </a:rPr>
              <a:t> + [a]</a:t>
            </a:r>
            <a:r>
              <a:rPr baseline="-25000" lang="en">
                <a:solidFill>
                  <a:schemeClr val="dk1"/>
                </a:solidFill>
              </a:rPr>
              <a:t>B</a:t>
            </a:r>
            <a:r>
              <a:rPr lang="en">
                <a:solidFill>
                  <a:schemeClr val="dk1"/>
                </a:solidFill>
              </a:rPr>
              <a:t> + [a]</a:t>
            </a:r>
            <a:r>
              <a:rPr baseline="-25000" lang="en">
                <a:solidFill>
                  <a:schemeClr val="dk1"/>
                </a:solidFill>
              </a:rPr>
              <a:t>C</a:t>
            </a:r>
            <a:r>
              <a:rPr lang="en">
                <a:solidFill>
                  <a:schemeClr val="dk1"/>
                </a:solidFill>
              </a:rPr>
              <a:t> = a, but any 2 shares reveal nothing about a.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9" name="Shape 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" name="Google Shape;520;p43"/>
          <p:cNvSpPr txBox="1"/>
          <p:nvPr>
            <p:ph type="title"/>
          </p:nvPr>
        </p:nvSpPr>
        <p:spPr>
          <a:xfrm>
            <a:off x="0" y="0"/>
            <a:ext cx="914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/>
              <a:t>Secret sharing</a:t>
            </a:r>
            <a:r>
              <a:rPr lang="en"/>
              <a:t> in mod 5 for 3 parties</a:t>
            </a:r>
            <a:endParaRPr/>
          </a:p>
        </p:txBody>
      </p:sp>
      <p:sp>
        <p:nvSpPr>
          <p:cNvPr id="521" name="Google Shape;521;p43"/>
          <p:cNvSpPr txBox="1"/>
          <p:nvPr>
            <p:ph idx="1" type="body"/>
          </p:nvPr>
        </p:nvSpPr>
        <p:spPr>
          <a:xfrm>
            <a:off x="320050" y="1660500"/>
            <a:ext cx="8859300" cy="142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						</a:t>
            </a:r>
            <a:r>
              <a:rPr lang="en">
                <a:solidFill>
                  <a:schemeClr val="accent6"/>
                </a:solidFill>
              </a:rPr>
              <a:t>[a]</a:t>
            </a:r>
            <a:r>
              <a:rPr baseline="-25000" lang="en">
                <a:solidFill>
                  <a:schemeClr val="accent6"/>
                </a:solidFill>
              </a:rPr>
              <a:t>A</a:t>
            </a:r>
            <a:r>
              <a:rPr lang="en">
                <a:solidFill>
                  <a:schemeClr val="accent6"/>
                </a:solidFill>
              </a:rPr>
              <a:t>  =  2				   [a]</a:t>
            </a:r>
            <a:r>
              <a:rPr baseline="-25000" lang="en">
                <a:solidFill>
                  <a:schemeClr val="accent6"/>
                </a:solidFill>
              </a:rPr>
              <a:t>B</a:t>
            </a:r>
            <a:r>
              <a:rPr lang="en">
                <a:solidFill>
                  <a:schemeClr val="accent6"/>
                </a:solidFill>
              </a:rPr>
              <a:t>  = 4			     [a]</a:t>
            </a:r>
            <a:r>
              <a:rPr baseline="-25000" lang="en">
                <a:solidFill>
                  <a:schemeClr val="accent6"/>
                </a:solidFill>
              </a:rPr>
              <a:t>C</a:t>
            </a:r>
            <a:r>
              <a:rPr lang="en">
                <a:solidFill>
                  <a:schemeClr val="accent6"/>
                </a:solidFill>
              </a:rPr>
              <a:t>  = 3</a:t>
            </a:r>
            <a:endParaRPr>
              <a:solidFill>
                <a:schemeClr val="accent6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						</a:t>
            </a:r>
            <a:r>
              <a:rPr lang="en">
                <a:solidFill>
                  <a:schemeClr val="accent5"/>
                </a:solidFill>
              </a:rPr>
              <a:t>[b]</a:t>
            </a:r>
            <a:r>
              <a:rPr baseline="-25000" lang="en">
                <a:solidFill>
                  <a:schemeClr val="accent5"/>
                </a:solidFill>
              </a:rPr>
              <a:t>A</a:t>
            </a:r>
            <a:r>
              <a:rPr lang="en">
                <a:solidFill>
                  <a:schemeClr val="accent5"/>
                </a:solidFill>
              </a:rPr>
              <a:t>  =  2				   [b]</a:t>
            </a:r>
            <a:r>
              <a:rPr baseline="-25000" lang="en">
                <a:solidFill>
                  <a:schemeClr val="accent5"/>
                </a:solidFill>
              </a:rPr>
              <a:t>B</a:t>
            </a:r>
            <a:r>
              <a:rPr lang="en">
                <a:solidFill>
                  <a:schemeClr val="accent5"/>
                </a:solidFill>
              </a:rPr>
              <a:t>  = 3			     [b]</a:t>
            </a:r>
            <a:r>
              <a:rPr baseline="-25000" lang="en">
                <a:solidFill>
                  <a:schemeClr val="accent5"/>
                </a:solidFill>
              </a:rPr>
              <a:t>C</a:t>
            </a:r>
            <a:r>
              <a:rPr lang="en">
                <a:solidFill>
                  <a:schemeClr val="accent5"/>
                </a:solidFill>
              </a:rPr>
              <a:t>  = 1</a:t>
            </a:r>
            <a:endParaRPr>
              <a:solidFill>
                <a:schemeClr val="accent5"/>
              </a:solidFill>
            </a:endParaRPr>
          </a:p>
          <a:p>
            <a:pPr indent="457200" lvl="0" marL="228600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4"/>
                </a:solidFill>
              </a:rPr>
              <a:t>[c]</a:t>
            </a:r>
            <a:r>
              <a:rPr baseline="-25000" lang="en">
                <a:solidFill>
                  <a:schemeClr val="accent4"/>
                </a:solidFill>
              </a:rPr>
              <a:t>A</a:t>
            </a:r>
            <a:r>
              <a:rPr lang="en">
                <a:solidFill>
                  <a:schemeClr val="accent4"/>
                </a:solidFill>
              </a:rPr>
              <a:t>  =  4				   [c]</a:t>
            </a:r>
            <a:r>
              <a:rPr baseline="-25000" lang="en">
                <a:solidFill>
                  <a:schemeClr val="accent4"/>
                </a:solidFill>
              </a:rPr>
              <a:t>B</a:t>
            </a:r>
            <a:r>
              <a:rPr lang="en">
                <a:solidFill>
                  <a:schemeClr val="accent4"/>
                </a:solidFill>
              </a:rPr>
              <a:t>  = 2			     [c]</a:t>
            </a:r>
            <a:r>
              <a:rPr baseline="-25000" lang="en">
                <a:solidFill>
                  <a:schemeClr val="accent4"/>
                </a:solidFill>
              </a:rPr>
              <a:t>C</a:t>
            </a:r>
            <a:r>
              <a:rPr lang="en">
                <a:solidFill>
                  <a:schemeClr val="accent4"/>
                </a:solidFill>
              </a:rPr>
              <a:t>  = 0</a:t>
            </a:r>
            <a:endParaRPr>
              <a:solidFill>
                <a:schemeClr val="accent4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2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>
              <a:solidFill>
                <a:schemeClr val="accent2"/>
              </a:solidFill>
            </a:endParaRPr>
          </a:p>
        </p:txBody>
      </p:sp>
      <p:pic>
        <p:nvPicPr>
          <p:cNvPr id="522" name="Google Shape;522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02696" y="1106363"/>
            <a:ext cx="554130" cy="554131"/>
          </a:xfrm>
          <a:prstGeom prst="rect">
            <a:avLst/>
          </a:prstGeom>
          <a:noFill/>
          <a:ln>
            <a:noFill/>
          </a:ln>
        </p:spPr>
      </p:pic>
      <p:sp>
        <p:nvSpPr>
          <p:cNvPr id="523" name="Google Shape;523;p43"/>
          <p:cNvSpPr txBox="1"/>
          <p:nvPr/>
        </p:nvSpPr>
        <p:spPr>
          <a:xfrm>
            <a:off x="3048138" y="598475"/>
            <a:ext cx="867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Alice</a:t>
            </a:r>
            <a:br>
              <a:rPr lang="en">
                <a:solidFill>
                  <a:schemeClr val="dk1"/>
                </a:solidFill>
              </a:rPr>
            </a:br>
            <a:r>
              <a:rPr lang="en">
                <a:solidFill>
                  <a:schemeClr val="accent6"/>
                </a:solidFill>
              </a:rPr>
              <a:t>a=4</a:t>
            </a:r>
            <a:endParaRPr>
              <a:solidFill>
                <a:schemeClr val="accent6"/>
              </a:solidFill>
            </a:endParaRPr>
          </a:p>
        </p:txBody>
      </p:sp>
      <p:sp>
        <p:nvSpPr>
          <p:cNvPr id="524" name="Google Shape;524;p43"/>
          <p:cNvSpPr txBox="1"/>
          <p:nvPr/>
        </p:nvSpPr>
        <p:spPr>
          <a:xfrm>
            <a:off x="5540400" y="614325"/>
            <a:ext cx="867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Bob</a:t>
            </a:r>
            <a:br>
              <a:rPr lang="en">
                <a:solidFill>
                  <a:schemeClr val="dk1"/>
                </a:solidFill>
              </a:rPr>
            </a:br>
            <a:r>
              <a:rPr lang="en">
                <a:solidFill>
                  <a:schemeClr val="accent5"/>
                </a:solidFill>
              </a:rPr>
              <a:t>b = 1</a:t>
            </a:r>
            <a:endParaRPr>
              <a:solidFill>
                <a:schemeClr val="accent5"/>
              </a:solidFill>
            </a:endParaRPr>
          </a:p>
        </p:txBody>
      </p:sp>
      <p:pic>
        <p:nvPicPr>
          <p:cNvPr id="525" name="Google Shape;525;p4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107500" y="1106374"/>
            <a:ext cx="554125" cy="554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26" name="Google Shape;526;p4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697150" y="1106368"/>
            <a:ext cx="554130" cy="554131"/>
          </a:xfrm>
          <a:prstGeom prst="rect">
            <a:avLst/>
          </a:prstGeom>
          <a:noFill/>
          <a:ln>
            <a:noFill/>
          </a:ln>
        </p:spPr>
      </p:pic>
      <p:sp>
        <p:nvSpPr>
          <p:cNvPr id="527" name="Google Shape;527;p43"/>
          <p:cNvSpPr txBox="1"/>
          <p:nvPr/>
        </p:nvSpPr>
        <p:spPr>
          <a:xfrm>
            <a:off x="7941075" y="614325"/>
            <a:ext cx="867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Carlos</a:t>
            </a:r>
            <a:br>
              <a:rPr lang="en">
                <a:solidFill>
                  <a:schemeClr val="dk1"/>
                </a:solidFill>
              </a:rPr>
            </a:br>
            <a:r>
              <a:rPr lang="en">
                <a:solidFill>
                  <a:schemeClr val="accent4"/>
                </a:solidFill>
              </a:rPr>
              <a:t>c = 1</a:t>
            </a:r>
            <a:endParaRPr b="1">
              <a:solidFill>
                <a:schemeClr val="accent4"/>
              </a:solidFill>
            </a:endParaRPr>
          </a:p>
        </p:txBody>
      </p:sp>
      <p:sp>
        <p:nvSpPr>
          <p:cNvPr id="528" name="Google Shape;528;p43"/>
          <p:cNvSpPr txBox="1"/>
          <p:nvPr>
            <p:ph idx="1" type="body"/>
          </p:nvPr>
        </p:nvSpPr>
        <p:spPr>
          <a:xfrm>
            <a:off x="311700" y="3317675"/>
            <a:ext cx="8536500" cy="167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"/>
              <a:t>Say we also do this process for b, which is held by Bob, and c, held by Carlos.</a:t>
            </a:r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2" name="Shape 5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3" name="Google Shape;533;p44"/>
          <p:cNvSpPr txBox="1"/>
          <p:nvPr>
            <p:ph type="title"/>
          </p:nvPr>
        </p:nvSpPr>
        <p:spPr>
          <a:xfrm>
            <a:off x="0" y="0"/>
            <a:ext cx="914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/>
              <a:t>Secret sharing</a:t>
            </a:r>
            <a:r>
              <a:rPr lang="en"/>
              <a:t> in mod 5 for 3 parties</a:t>
            </a:r>
            <a:endParaRPr/>
          </a:p>
        </p:txBody>
      </p:sp>
      <p:sp>
        <p:nvSpPr>
          <p:cNvPr id="534" name="Google Shape;534;p44"/>
          <p:cNvSpPr txBox="1"/>
          <p:nvPr>
            <p:ph idx="1" type="body"/>
          </p:nvPr>
        </p:nvSpPr>
        <p:spPr>
          <a:xfrm>
            <a:off x="320050" y="1660500"/>
            <a:ext cx="8859300" cy="142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						</a:t>
            </a:r>
            <a:r>
              <a:rPr lang="en">
                <a:solidFill>
                  <a:schemeClr val="accent6"/>
                </a:solidFill>
              </a:rPr>
              <a:t>[a]</a:t>
            </a:r>
            <a:r>
              <a:rPr baseline="-25000" lang="en">
                <a:solidFill>
                  <a:schemeClr val="accent6"/>
                </a:solidFill>
              </a:rPr>
              <a:t>A</a:t>
            </a:r>
            <a:r>
              <a:rPr lang="en">
                <a:solidFill>
                  <a:schemeClr val="accent6"/>
                </a:solidFill>
              </a:rPr>
              <a:t>  =  2				   [a]</a:t>
            </a:r>
            <a:r>
              <a:rPr baseline="-25000" lang="en">
                <a:solidFill>
                  <a:schemeClr val="accent6"/>
                </a:solidFill>
              </a:rPr>
              <a:t>B</a:t>
            </a:r>
            <a:r>
              <a:rPr lang="en">
                <a:solidFill>
                  <a:schemeClr val="accent6"/>
                </a:solidFill>
              </a:rPr>
              <a:t>  = 4			     [a]</a:t>
            </a:r>
            <a:r>
              <a:rPr baseline="-25000" lang="en">
                <a:solidFill>
                  <a:schemeClr val="accent6"/>
                </a:solidFill>
              </a:rPr>
              <a:t>C</a:t>
            </a:r>
            <a:r>
              <a:rPr lang="en">
                <a:solidFill>
                  <a:schemeClr val="accent6"/>
                </a:solidFill>
              </a:rPr>
              <a:t>  = 3</a:t>
            </a:r>
            <a:endParaRPr>
              <a:solidFill>
                <a:schemeClr val="accent6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						</a:t>
            </a:r>
            <a:r>
              <a:rPr lang="en">
                <a:solidFill>
                  <a:schemeClr val="accent5"/>
                </a:solidFill>
              </a:rPr>
              <a:t>[b]</a:t>
            </a:r>
            <a:r>
              <a:rPr baseline="-25000" lang="en">
                <a:solidFill>
                  <a:schemeClr val="accent5"/>
                </a:solidFill>
              </a:rPr>
              <a:t>A</a:t>
            </a:r>
            <a:r>
              <a:rPr lang="en">
                <a:solidFill>
                  <a:schemeClr val="accent5"/>
                </a:solidFill>
              </a:rPr>
              <a:t>  =  2				   [b]</a:t>
            </a:r>
            <a:r>
              <a:rPr baseline="-25000" lang="en">
                <a:solidFill>
                  <a:schemeClr val="accent5"/>
                </a:solidFill>
              </a:rPr>
              <a:t>B</a:t>
            </a:r>
            <a:r>
              <a:rPr lang="en">
                <a:solidFill>
                  <a:schemeClr val="accent5"/>
                </a:solidFill>
              </a:rPr>
              <a:t>  = 3			     [b]</a:t>
            </a:r>
            <a:r>
              <a:rPr baseline="-25000" lang="en">
                <a:solidFill>
                  <a:schemeClr val="accent5"/>
                </a:solidFill>
              </a:rPr>
              <a:t>C</a:t>
            </a:r>
            <a:r>
              <a:rPr lang="en">
                <a:solidFill>
                  <a:schemeClr val="accent5"/>
                </a:solidFill>
              </a:rPr>
              <a:t>  = 1</a:t>
            </a:r>
            <a:endParaRPr>
              <a:solidFill>
                <a:schemeClr val="accent5"/>
              </a:solidFill>
            </a:endParaRPr>
          </a:p>
          <a:p>
            <a:pPr indent="457200" lvl="0" marL="228600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4"/>
                </a:solidFill>
              </a:rPr>
              <a:t>[c]</a:t>
            </a:r>
            <a:r>
              <a:rPr baseline="-25000" lang="en">
                <a:solidFill>
                  <a:schemeClr val="accent4"/>
                </a:solidFill>
              </a:rPr>
              <a:t>A</a:t>
            </a:r>
            <a:r>
              <a:rPr lang="en">
                <a:solidFill>
                  <a:schemeClr val="accent4"/>
                </a:solidFill>
              </a:rPr>
              <a:t>  =  4				   [c]</a:t>
            </a:r>
            <a:r>
              <a:rPr baseline="-25000" lang="en">
                <a:solidFill>
                  <a:schemeClr val="accent4"/>
                </a:solidFill>
              </a:rPr>
              <a:t>B</a:t>
            </a:r>
            <a:r>
              <a:rPr lang="en">
                <a:solidFill>
                  <a:schemeClr val="accent4"/>
                </a:solidFill>
              </a:rPr>
              <a:t>  = 2			     [c]</a:t>
            </a:r>
            <a:r>
              <a:rPr baseline="-25000" lang="en">
                <a:solidFill>
                  <a:schemeClr val="accent4"/>
                </a:solidFill>
              </a:rPr>
              <a:t>C</a:t>
            </a:r>
            <a:r>
              <a:rPr lang="en">
                <a:solidFill>
                  <a:schemeClr val="accent4"/>
                </a:solidFill>
              </a:rPr>
              <a:t>  = 0</a:t>
            </a:r>
            <a:endParaRPr>
              <a:solidFill>
                <a:schemeClr val="accent4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2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>
              <a:solidFill>
                <a:schemeClr val="accent2"/>
              </a:solidFill>
            </a:endParaRPr>
          </a:p>
        </p:txBody>
      </p:sp>
      <p:pic>
        <p:nvPicPr>
          <p:cNvPr id="535" name="Google Shape;535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02696" y="1106363"/>
            <a:ext cx="554130" cy="554131"/>
          </a:xfrm>
          <a:prstGeom prst="rect">
            <a:avLst/>
          </a:prstGeom>
          <a:noFill/>
          <a:ln>
            <a:noFill/>
          </a:ln>
        </p:spPr>
      </p:pic>
      <p:sp>
        <p:nvSpPr>
          <p:cNvPr id="536" name="Google Shape;536;p44"/>
          <p:cNvSpPr txBox="1"/>
          <p:nvPr/>
        </p:nvSpPr>
        <p:spPr>
          <a:xfrm>
            <a:off x="3048138" y="598475"/>
            <a:ext cx="867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Alice</a:t>
            </a:r>
            <a:br>
              <a:rPr lang="en">
                <a:solidFill>
                  <a:schemeClr val="dk1"/>
                </a:solidFill>
              </a:rPr>
            </a:br>
            <a:r>
              <a:rPr lang="en">
                <a:solidFill>
                  <a:schemeClr val="accent6"/>
                </a:solidFill>
              </a:rPr>
              <a:t>a=4</a:t>
            </a:r>
            <a:endParaRPr>
              <a:solidFill>
                <a:schemeClr val="accent6"/>
              </a:solidFill>
            </a:endParaRPr>
          </a:p>
        </p:txBody>
      </p:sp>
      <p:sp>
        <p:nvSpPr>
          <p:cNvPr id="537" name="Google Shape;537;p44"/>
          <p:cNvSpPr txBox="1"/>
          <p:nvPr/>
        </p:nvSpPr>
        <p:spPr>
          <a:xfrm>
            <a:off x="5540400" y="614325"/>
            <a:ext cx="867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Bob</a:t>
            </a:r>
            <a:br>
              <a:rPr lang="en">
                <a:solidFill>
                  <a:schemeClr val="dk1"/>
                </a:solidFill>
              </a:rPr>
            </a:br>
            <a:r>
              <a:rPr lang="en">
                <a:solidFill>
                  <a:schemeClr val="accent5"/>
                </a:solidFill>
              </a:rPr>
              <a:t>b = 1</a:t>
            </a:r>
            <a:endParaRPr>
              <a:solidFill>
                <a:schemeClr val="accent5"/>
              </a:solidFill>
            </a:endParaRPr>
          </a:p>
        </p:txBody>
      </p:sp>
      <p:pic>
        <p:nvPicPr>
          <p:cNvPr id="538" name="Google Shape;538;p4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107500" y="1106374"/>
            <a:ext cx="554125" cy="554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39" name="Google Shape;539;p4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697150" y="1106368"/>
            <a:ext cx="554130" cy="554131"/>
          </a:xfrm>
          <a:prstGeom prst="rect">
            <a:avLst/>
          </a:prstGeom>
          <a:noFill/>
          <a:ln>
            <a:noFill/>
          </a:ln>
        </p:spPr>
      </p:pic>
      <p:sp>
        <p:nvSpPr>
          <p:cNvPr id="540" name="Google Shape;540;p44"/>
          <p:cNvSpPr txBox="1"/>
          <p:nvPr/>
        </p:nvSpPr>
        <p:spPr>
          <a:xfrm>
            <a:off x="7941075" y="614325"/>
            <a:ext cx="867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Carlos</a:t>
            </a:r>
            <a:br>
              <a:rPr lang="en">
                <a:solidFill>
                  <a:schemeClr val="dk1"/>
                </a:solidFill>
              </a:rPr>
            </a:br>
            <a:r>
              <a:rPr lang="en">
                <a:solidFill>
                  <a:schemeClr val="accent4"/>
                </a:solidFill>
              </a:rPr>
              <a:t>c = 1</a:t>
            </a:r>
            <a:endParaRPr b="1">
              <a:solidFill>
                <a:schemeClr val="accent4"/>
              </a:solidFill>
            </a:endParaRPr>
          </a:p>
        </p:txBody>
      </p:sp>
      <p:sp>
        <p:nvSpPr>
          <p:cNvPr id="541" name="Google Shape;541;p44"/>
          <p:cNvSpPr txBox="1"/>
          <p:nvPr>
            <p:ph idx="1" type="body"/>
          </p:nvPr>
        </p:nvSpPr>
        <p:spPr>
          <a:xfrm>
            <a:off x="311700" y="3317675"/>
            <a:ext cx="8536500" cy="167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"/>
              <a:t>Say we also do this process for b, which is held by Bob, and c, held by Carlos.</a:t>
            </a:r>
            <a:endParaRPr/>
          </a:p>
        </p:txBody>
      </p:sp>
      <p:grpSp>
        <p:nvGrpSpPr>
          <p:cNvPr id="542" name="Google Shape;542;p44"/>
          <p:cNvGrpSpPr/>
          <p:nvPr/>
        </p:nvGrpSpPr>
        <p:grpSpPr>
          <a:xfrm>
            <a:off x="3701750" y="1143250"/>
            <a:ext cx="4984825" cy="635400"/>
            <a:chOff x="3701750" y="1143250"/>
            <a:chExt cx="4984825" cy="635400"/>
          </a:xfrm>
        </p:grpSpPr>
        <p:cxnSp>
          <p:nvCxnSpPr>
            <p:cNvPr id="543" name="Google Shape;543;p44"/>
            <p:cNvCxnSpPr/>
            <p:nvPr/>
          </p:nvCxnSpPr>
          <p:spPr>
            <a:xfrm>
              <a:off x="3701750" y="1149500"/>
              <a:ext cx="155700" cy="54570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544" name="Google Shape;544;p44"/>
            <p:cNvCxnSpPr/>
            <p:nvPr/>
          </p:nvCxnSpPr>
          <p:spPr>
            <a:xfrm>
              <a:off x="3723375" y="1143250"/>
              <a:ext cx="2586300" cy="63240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545" name="Google Shape;545;p44"/>
            <p:cNvCxnSpPr/>
            <p:nvPr/>
          </p:nvCxnSpPr>
          <p:spPr>
            <a:xfrm>
              <a:off x="3723375" y="1143250"/>
              <a:ext cx="4963200" cy="63540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  <p:grpSp>
        <p:nvGrpSpPr>
          <p:cNvPr id="546" name="Google Shape;546;p44"/>
          <p:cNvGrpSpPr/>
          <p:nvPr/>
        </p:nvGrpSpPr>
        <p:grpSpPr>
          <a:xfrm>
            <a:off x="4013250" y="1152275"/>
            <a:ext cx="4706775" cy="1138400"/>
            <a:chOff x="4013250" y="1152275"/>
            <a:chExt cx="4706775" cy="1138400"/>
          </a:xfrm>
        </p:grpSpPr>
        <p:cxnSp>
          <p:nvCxnSpPr>
            <p:cNvPr id="547" name="Google Shape;547;p44"/>
            <p:cNvCxnSpPr/>
            <p:nvPr/>
          </p:nvCxnSpPr>
          <p:spPr>
            <a:xfrm flipH="1">
              <a:off x="4013250" y="1152275"/>
              <a:ext cx="2087700" cy="11268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548" name="Google Shape;548;p44"/>
            <p:cNvCxnSpPr/>
            <p:nvPr/>
          </p:nvCxnSpPr>
          <p:spPr>
            <a:xfrm>
              <a:off x="6100950" y="1168975"/>
              <a:ext cx="214200" cy="11106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549" name="Google Shape;549;p44"/>
            <p:cNvCxnSpPr/>
            <p:nvPr/>
          </p:nvCxnSpPr>
          <p:spPr>
            <a:xfrm>
              <a:off x="6103725" y="1168975"/>
              <a:ext cx="2616300" cy="11217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  <p:grpSp>
        <p:nvGrpSpPr>
          <p:cNvPr id="550" name="Google Shape;550;p44"/>
          <p:cNvGrpSpPr/>
          <p:nvPr/>
        </p:nvGrpSpPr>
        <p:grpSpPr>
          <a:xfrm>
            <a:off x="4043175" y="1138350"/>
            <a:ext cx="4687950" cy="1653175"/>
            <a:chOff x="4043175" y="1138350"/>
            <a:chExt cx="4687950" cy="1653175"/>
          </a:xfrm>
        </p:grpSpPr>
        <p:cxnSp>
          <p:nvCxnSpPr>
            <p:cNvPr id="551" name="Google Shape;551;p44"/>
            <p:cNvCxnSpPr/>
            <p:nvPr/>
          </p:nvCxnSpPr>
          <p:spPr>
            <a:xfrm flipH="1">
              <a:off x="4043175" y="1138350"/>
              <a:ext cx="4451400" cy="1649100"/>
            </a:xfrm>
            <a:prstGeom prst="straightConnector1">
              <a:avLst/>
            </a:prstGeom>
            <a:noFill/>
            <a:ln cap="flat" cmpd="sng" w="9525">
              <a:solidFill>
                <a:schemeClr val="accent4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552" name="Google Shape;552;p44"/>
            <p:cNvCxnSpPr/>
            <p:nvPr/>
          </p:nvCxnSpPr>
          <p:spPr>
            <a:xfrm flipH="1">
              <a:off x="6381975" y="1138350"/>
              <a:ext cx="2112600" cy="1628100"/>
            </a:xfrm>
            <a:prstGeom prst="straightConnector1">
              <a:avLst/>
            </a:prstGeom>
            <a:noFill/>
            <a:ln cap="flat" cmpd="sng" w="9525">
              <a:solidFill>
                <a:schemeClr val="accent4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553" name="Google Shape;553;p44"/>
            <p:cNvCxnSpPr/>
            <p:nvPr/>
          </p:nvCxnSpPr>
          <p:spPr>
            <a:xfrm>
              <a:off x="8500125" y="1143925"/>
              <a:ext cx="231000" cy="1647600"/>
            </a:xfrm>
            <a:prstGeom prst="straightConnector1">
              <a:avLst/>
            </a:prstGeom>
            <a:noFill/>
            <a:ln cap="flat" cmpd="sng" w="9525">
              <a:solidFill>
                <a:schemeClr val="accent4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7" name="Shape 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" name="Google Shape;558;p45"/>
          <p:cNvSpPr txBox="1"/>
          <p:nvPr>
            <p:ph type="title"/>
          </p:nvPr>
        </p:nvSpPr>
        <p:spPr>
          <a:xfrm>
            <a:off x="0" y="0"/>
            <a:ext cx="914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 can do addition without revealing inputs!</a:t>
            </a:r>
            <a:endParaRPr/>
          </a:p>
        </p:txBody>
      </p:sp>
      <p:pic>
        <p:nvPicPr>
          <p:cNvPr id="559" name="Google Shape;559;p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02696" y="1106363"/>
            <a:ext cx="554130" cy="554131"/>
          </a:xfrm>
          <a:prstGeom prst="rect">
            <a:avLst/>
          </a:prstGeom>
          <a:noFill/>
          <a:ln>
            <a:noFill/>
          </a:ln>
        </p:spPr>
      </p:pic>
      <p:sp>
        <p:nvSpPr>
          <p:cNvPr id="560" name="Google Shape;560;p45"/>
          <p:cNvSpPr txBox="1"/>
          <p:nvPr/>
        </p:nvSpPr>
        <p:spPr>
          <a:xfrm>
            <a:off x="3048138" y="598475"/>
            <a:ext cx="867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Alice</a:t>
            </a:r>
            <a:br>
              <a:rPr lang="en">
                <a:solidFill>
                  <a:schemeClr val="dk1"/>
                </a:solidFill>
              </a:rPr>
            </a:br>
            <a:r>
              <a:rPr lang="en">
                <a:solidFill>
                  <a:schemeClr val="accent6"/>
                </a:solidFill>
              </a:rPr>
              <a:t>a=4</a:t>
            </a:r>
            <a:endParaRPr>
              <a:solidFill>
                <a:schemeClr val="accent6"/>
              </a:solidFill>
            </a:endParaRPr>
          </a:p>
        </p:txBody>
      </p:sp>
      <p:sp>
        <p:nvSpPr>
          <p:cNvPr id="561" name="Google Shape;561;p45"/>
          <p:cNvSpPr txBox="1"/>
          <p:nvPr/>
        </p:nvSpPr>
        <p:spPr>
          <a:xfrm>
            <a:off x="5540400" y="614325"/>
            <a:ext cx="867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Bob</a:t>
            </a:r>
            <a:br>
              <a:rPr lang="en">
                <a:solidFill>
                  <a:schemeClr val="dk1"/>
                </a:solidFill>
              </a:rPr>
            </a:br>
            <a:r>
              <a:rPr lang="en">
                <a:solidFill>
                  <a:schemeClr val="accent5"/>
                </a:solidFill>
              </a:rPr>
              <a:t>b = 1</a:t>
            </a:r>
            <a:endParaRPr>
              <a:solidFill>
                <a:schemeClr val="accent5"/>
              </a:solidFill>
            </a:endParaRPr>
          </a:p>
        </p:txBody>
      </p:sp>
      <p:pic>
        <p:nvPicPr>
          <p:cNvPr id="562" name="Google Shape;562;p4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107500" y="1106374"/>
            <a:ext cx="554125" cy="554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63" name="Google Shape;563;p4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697150" y="1106368"/>
            <a:ext cx="554130" cy="554131"/>
          </a:xfrm>
          <a:prstGeom prst="rect">
            <a:avLst/>
          </a:prstGeom>
          <a:noFill/>
          <a:ln>
            <a:noFill/>
          </a:ln>
        </p:spPr>
      </p:pic>
      <p:sp>
        <p:nvSpPr>
          <p:cNvPr id="564" name="Google Shape;564;p45"/>
          <p:cNvSpPr txBox="1"/>
          <p:nvPr/>
        </p:nvSpPr>
        <p:spPr>
          <a:xfrm>
            <a:off x="7941075" y="614325"/>
            <a:ext cx="867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Carlos</a:t>
            </a:r>
            <a:br>
              <a:rPr lang="en">
                <a:solidFill>
                  <a:schemeClr val="dk1"/>
                </a:solidFill>
              </a:rPr>
            </a:br>
            <a:r>
              <a:rPr lang="en">
                <a:solidFill>
                  <a:schemeClr val="accent4"/>
                </a:solidFill>
              </a:rPr>
              <a:t>c = 1</a:t>
            </a:r>
            <a:endParaRPr>
              <a:solidFill>
                <a:schemeClr val="accent4"/>
              </a:solidFill>
            </a:endParaRPr>
          </a:p>
        </p:txBody>
      </p:sp>
      <p:sp>
        <p:nvSpPr>
          <p:cNvPr id="565" name="Google Shape;565;p45"/>
          <p:cNvSpPr txBox="1"/>
          <p:nvPr>
            <p:ph idx="1" type="body"/>
          </p:nvPr>
        </p:nvSpPr>
        <p:spPr>
          <a:xfrm>
            <a:off x="320050" y="1660500"/>
            <a:ext cx="8859300" cy="142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						</a:t>
            </a:r>
            <a:r>
              <a:rPr lang="en">
                <a:solidFill>
                  <a:schemeClr val="accent6"/>
                </a:solidFill>
              </a:rPr>
              <a:t>[a]</a:t>
            </a:r>
            <a:r>
              <a:rPr baseline="-25000" lang="en">
                <a:solidFill>
                  <a:schemeClr val="accent6"/>
                </a:solidFill>
              </a:rPr>
              <a:t>A</a:t>
            </a:r>
            <a:r>
              <a:rPr lang="en">
                <a:solidFill>
                  <a:schemeClr val="accent6"/>
                </a:solidFill>
              </a:rPr>
              <a:t>  =  2				   [a]</a:t>
            </a:r>
            <a:r>
              <a:rPr baseline="-25000" lang="en">
                <a:solidFill>
                  <a:schemeClr val="accent6"/>
                </a:solidFill>
              </a:rPr>
              <a:t>B</a:t>
            </a:r>
            <a:r>
              <a:rPr lang="en">
                <a:solidFill>
                  <a:schemeClr val="accent6"/>
                </a:solidFill>
              </a:rPr>
              <a:t>  = 4			     [a]</a:t>
            </a:r>
            <a:r>
              <a:rPr baseline="-25000" lang="en">
                <a:solidFill>
                  <a:schemeClr val="accent6"/>
                </a:solidFill>
              </a:rPr>
              <a:t>C</a:t>
            </a:r>
            <a:r>
              <a:rPr lang="en">
                <a:solidFill>
                  <a:schemeClr val="accent6"/>
                </a:solidFill>
              </a:rPr>
              <a:t>  = 3</a:t>
            </a:r>
            <a:endParaRPr>
              <a:solidFill>
                <a:schemeClr val="accent6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						</a:t>
            </a:r>
            <a:r>
              <a:rPr lang="en">
                <a:solidFill>
                  <a:schemeClr val="accent5"/>
                </a:solidFill>
              </a:rPr>
              <a:t>[b]</a:t>
            </a:r>
            <a:r>
              <a:rPr baseline="-25000" lang="en">
                <a:solidFill>
                  <a:schemeClr val="accent5"/>
                </a:solidFill>
              </a:rPr>
              <a:t>A</a:t>
            </a:r>
            <a:r>
              <a:rPr lang="en">
                <a:solidFill>
                  <a:schemeClr val="accent5"/>
                </a:solidFill>
              </a:rPr>
              <a:t>  =  2				   [b]</a:t>
            </a:r>
            <a:r>
              <a:rPr baseline="-25000" lang="en">
                <a:solidFill>
                  <a:schemeClr val="accent5"/>
                </a:solidFill>
              </a:rPr>
              <a:t>B</a:t>
            </a:r>
            <a:r>
              <a:rPr lang="en">
                <a:solidFill>
                  <a:schemeClr val="accent5"/>
                </a:solidFill>
              </a:rPr>
              <a:t>  = 3			     [b]</a:t>
            </a:r>
            <a:r>
              <a:rPr baseline="-25000" lang="en">
                <a:solidFill>
                  <a:schemeClr val="accent5"/>
                </a:solidFill>
              </a:rPr>
              <a:t>C</a:t>
            </a:r>
            <a:r>
              <a:rPr lang="en">
                <a:solidFill>
                  <a:schemeClr val="accent5"/>
                </a:solidFill>
              </a:rPr>
              <a:t>  = 1</a:t>
            </a:r>
            <a:endParaRPr>
              <a:solidFill>
                <a:schemeClr val="accent5"/>
              </a:solidFill>
            </a:endParaRPr>
          </a:p>
          <a:p>
            <a:pPr indent="457200" lvl="0" marL="228600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4"/>
                </a:solidFill>
              </a:rPr>
              <a:t>[c]</a:t>
            </a:r>
            <a:r>
              <a:rPr baseline="-25000" lang="en">
                <a:solidFill>
                  <a:schemeClr val="accent4"/>
                </a:solidFill>
              </a:rPr>
              <a:t>A</a:t>
            </a:r>
            <a:r>
              <a:rPr lang="en">
                <a:solidFill>
                  <a:schemeClr val="accent4"/>
                </a:solidFill>
              </a:rPr>
              <a:t>  =  4				   [c]</a:t>
            </a:r>
            <a:r>
              <a:rPr baseline="-25000" lang="en">
                <a:solidFill>
                  <a:schemeClr val="accent4"/>
                </a:solidFill>
              </a:rPr>
              <a:t>B</a:t>
            </a:r>
            <a:r>
              <a:rPr lang="en">
                <a:solidFill>
                  <a:schemeClr val="accent4"/>
                </a:solidFill>
              </a:rPr>
              <a:t>  = 2			     [c]</a:t>
            </a:r>
            <a:r>
              <a:rPr baseline="-25000" lang="en">
                <a:solidFill>
                  <a:schemeClr val="accent4"/>
                </a:solidFill>
              </a:rPr>
              <a:t>C</a:t>
            </a:r>
            <a:r>
              <a:rPr lang="en">
                <a:solidFill>
                  <a:schemeClr val="accent4"/>
                </a:solidFill>
              </a:rPr>
              <a:t>  = 0</a:t>
            </a:r>
            <a:endParaRPr>
              <a:solidFill>
                <a:schemeClr val="accent4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2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>
              <a:solidFill>
                <a:schemeClr val="accent2"/>
              </a:solidFill>
            </a:endParaRPr>
          </a:p>
        </p:txBody>
      </p:sp>
      <p:sp>
        <p:nvSpPr>
          <p:cNvPr id="566" name="Google Shape;566;p45"/>
          <p:cNvSpPr txBox="1"/>
          <p:nvPr>
            <p:ph idx="1" type="body"/>
          </p:nvPr>
        </p:nvSpPr>
        <p:spPr>
          <a:xfrm>
            <a:off x="311700" y="3317675"/>
            <a:ext cx="8867700" cy="167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Sum by adding shares: [a + b + c] = [a] + [b] + [c]</a:t>
            </a:r>
            <a:endParaRPr/>
          </a:p>
          <a:p>
            <a:pPr indent="457200" lvl="0" marL="228600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n">
                <a:solidFill>
                  <a:srgbClr val="D5A6BD"/>
                </a:solidFill>
              </a:rPr>
              <a:t>[a+b+c]</a:t>
            </a:r>
            <a:r>
              <a:rPr baseline="-25000" lang="en">
                <a:solidFill>
                  <a:srgbClr val="D5A6BD"/>
                </a:solidFill>
              </a:rPr>
              <a:t>A</a:t>
            </a:r>
            <a:r>
              <a:rPr lang="en">
                <a:solidFill>
                  <a:srgbClr val="D5A6BD"/>
                </a:solidFill>
              </a:rPr>
              <a:t>  =  3			   [a+b+c]</a:t>
            </a:r>
            <a:r>
              <a:rPr baseline="-25000" lang="en">
                <a:solidFill>
                  <a:srgbClr val="D5A6BD"/>
                </a:solidFill>
              </a:rPr>
              <a:t>B</a:t>
            </a:r>
            <a:r>
              <a:rPr lang="en">
                <a:solidFill>
                  <a:srgbClr val="D5A6BD"/>
                </a:solidFill>
              </a:rPr>
              <a:t>  = 4		  [a+b+c]</a:t>
            </a:r>
            <a:r>
              <a:rPr baseline="-25000" lang="en">
                <a:solidFill>
                  <a:srgbClr val="D5A6BD"/>
                </a:solidFill>
              </a:rPr>
              <a:t>C</a:t>
            </a:r>
            <a:r>
              <a:rPr lang="en">
                <a:solidFill>
                  <a:srgbClr val="D5A6BD"/>
                </a:solidFill>
              </a:rPr>
              <a:t>= 4</a:t>
            </a:r>
            <a:endParaRPr b="1">
              <a:solidFill>
                <a:srgbClr val="D5A6BD"/>
              </a:solidFill>
            </a:endParaRPr>
          </a:p>
        </p:txBody>
      </p:sp>
      <p:cxnSp>
        <p:nvCxnSpPr>
          <p:cNvPr id="567" name="Google Shape;567;p45"/>
          <p:cNvCxnSpPr/>
          <p:nvPr/>
        </p:nvCxnSpPr>
        <p:spPr>
          <a:xfrm>
            <a:off x="4092075" y="2189450"/>
            <a:ext cx="300900" cy="17010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68" name="Google Shape;568;p45"/>
          <p:cNvCxnSpPr/>
          <p:nvPr/>
        </p:nvCxnSpPr>
        <p:spPr>
          <a:xfrm>
            <a:off x="6473675" y="2072075"/>
            <a:ext cx="300900" cy="17010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69" name="Google Shape;569;p45"/>
          <p:cNvCxnSpPr/>
          <p:nvPr/>
        </p:nvCxnSpPr>
        <p:spPr>
          <a:xfrm>
            <a:off x="8843100" y="2072075"/>
            <a:ext cx="170400" cy="18297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70" name="Google Shape;570;p45"/>
          <p:cNvCxnSpPr/>
          <p:nvPr/>
        </p:nvCxnSpPr>
        <p:spPr>
          <a:xfrm>
            <a:off x="4031500" y="2586075"/>
            <a:ext cx="353100" cy="131010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71" name="Google Shape;571;p45"/>
          <p:cNvCxnSpPr/>
          <p:nvPr/>
        </p:nvCxnSpPr>
        <p:spPr>
          <a:xfrm>
            <a:off x="6396050" y="2505625"/>
            <a:ext cx="353100" cy="131010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72" name="Google Shape;572;p45"/>
          <p:cNvCxnSpPr/>
          <p:nvPr/>
        </p:nvCxnSpPr>
        <p:spPr>
          <a:xfrm>
            <a:off x="8808675" y="2586075"/>
            <a:ext cx="190500" cy="131580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73" name="Google Shape;573;p45"/>
          <p:cNvCxnSpPr/>
          <p:nvPr/>
        </p:nvCxnSpPr>
        <p:spPr>
          <a:xfrm>
            <a:off x="4031500" y="3042325"/>
            <a:ext cx="347400" cy="873600"/>
          </a:xfrm>
          <a:prstGeom prst="straightConnector1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74" name="Google Shape;574;p45"/>
          <p:cNvCxnSpPr/>
          <p:nvPr/>
        </p:nvCxnSpPr>
        <p:spPr>
          <a:xfrm>
            <a:off x="6398900" y="3016850"/>
            <a:ext cx="347400" cy="873600"/>
          </a:xfrm>
          <a:prstGeom prst="straightConnector1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75" name="Google Shape;575;p45"/>
          <p:cNvCxnSpPr/>
          <p:nvPr/>
        </p:nvCxnSpPr>
        <p:spPr>
          <a:xfrm>
            <a:off x="8766300" y="3084000"/>
            <a:ext cx="190200" cy="817800"/>
          </a:xfrm>
          <a:prstGeom prst="straightConnector1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9" name="Shape 5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0" name="Google Shape;580;p46"/>
          <p:cNvSpPr txBox="1"/>
          <p:nvPr>
            <p:ph type="title"/>
          </p:nvPr>
        </p:nvSpPr>
        <p:spPr>
          <a:xfrm>
            <a:off x="0" y="0"/>
            <a:ext cx="914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 can do addition without revealing inputs!</a:t>
            </a:r>
            <a:endParaRPr/>
          </a:p>
        </p:txBody>
      </p:sp>
      <p:pic>
        <p:nvPicPr>
          <p:cNvPr id="581" name="Google Shape;581;p4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02696" y="1106363"/>
            <a:ext cx="554130" cy="554131"/>
          </a:xfrm>
          <a:prstGeom prst="rect">
            <a:avLst/>
          </a:prstGeom>
          <a:noFill/>
          <a:ln>
            <a:noFill/>
          </a:ln>
        </p:spPr>
      </p:pic>
      <p:sp>
        <p:nvSpPr>
          <p:cNvPr id="582" name="Google Shape;582;p46"/>
          <p:cNvSpPr txBox="1"/>
          <p:nvPr/>
        </p:nvSpPr>
        <p:spPr>
          <a:xfrm>
            <a:off x="3048138" y="598475"/>
            <a:ext cx="867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Alice</a:t>
            </a:r>
            <a:br>
              <a:rPr lang="en">
                <a:solidFill>
                  <a:schemeClr val="dk1"/>
                </a:solidFill>
              </a:rPr>
            </a:br>
            <a:r>
              <a:rPr lang="en">
                <a:solidFill>
                  <a:schemeClr val="accent6"/>
                </a:solidFill>
              </a:rPr>
              <a:t>a=4</a:t>
            </a:r>
            <a:endParaRPr>
              <a:solidFill>
                <a:schemeClr val="accent6"/>
              </a:solidFill>
            </a:endParaRPr>
          </a:p>
        </p:txBody>
      </p:sp>
      <p:sp>
        <p:nvSpPr>
          <p:cNvPr id="583" name="Google Shape;583;p46"/>
          <p:cNvSpPr txBox="1"/>
          <p:nvPr/>
        </p:nvSpPr>
        <p:spPr>
          <a:xfrm>
            <a:off x="5540400" y="614325"/>
            <a:ext cx="867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Bob</a:t>
            </a:r>
            <a:br>
              <a:rPr lang="en">
                <a:solidFill>
                  <a:schemeClr val="dk1"/>
                </a:solidFill>
              </a:rPr>
            </a:br>
            <a:r>
              <a:rPr lang="en">
                <a:solidFill>
                  <a:schemeClr val="accent5"/>
                </a:solidFill>
              </a:rPr>
              <a:t>b = 1</a:t>
            </a:r>
            <a:endParaRPr>
              <a:solidFill>
                <a:schemeClr val="accent5"/>
              </a:solidFill>
            </a:endParaRPr>
          </a:p>
        </p:txBody>
      </p:sp>
      <p:pic>
        <p:nvPicPr>
          <p:cNvPr id="584" name="Google Shape;584;p4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107500" y="1106374"/>
            <a:ext cx="554125" cy="554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85" name="Google Shape;585;p4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697150" y="1106368"/>
            <a:ext cx="554130" cy="554131"/>
          </a:xfrm>
          <a:prstGeom prst="rect">
            <a:avLst/>
          </a:prstGeom>
          <a:noFill/>
          <a:ln>
            <a:noFill/>
          </a:ln>
        </p:spPr>
      </p:pic>
      <p:sp>
        <p:nvSpPr>
          <p:cNvPr id="586" name="Google Shape;586;p46"/>
          <p:cNvSpPr txBox="1"/>
          <p:nvPr/>
        </p:nvSpPr>
        <p:spPr>
          <a:xfrm>
            <a:off x="7941075" y="614325"/>
            <a:ext cx="867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Carlos</a:t>
            </a:r>
            <a:br>
              <a:rPr lang="en">
                <a:solidFill>
                  <a:schemeClr val="dk1"/>
                </a:solidFill>
              </a:rPr>
            </a:br>
            <a:r>
              <a:rPr lang="en">
                <a:solidFill>
                  <a:schemeClr val="accent4"/>
                </a:solidFill>
              </a:rPr>
              <a:t>c = 1</a:t>
            </a:r>
            <a:endParaRPr>
              <a:solidFill>
                <a:schemeClr val="accent4"/>
              </a:solidFill>
            </a:endParaRPr>
          </a:p>
        </p:txBody>
      </p:sp>
      <p:sp>
        <p:nvSpPr>
          <p:cNvPr id="587" name="Google Shape;587;p46"/>
          <p:cNvSpPr txBox="1"/>
          <p:nvPr>
            <p:ph idx="1" type="body"/>
          </p:nvPr>
        </p:nvSpPr>
        <p:spPr>
          <a:xfrm>
            <a:off x="320050" y="1660500"/>
            <a:ext cx="8859300" cy="142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						</a:t>
            </a:r>
            <a:r>
              <a:rPr lang="en">
                <a:solidFill>
                  <a:schemeClr val="accent6"/>
                </a:solidFill>
              </a:rPr>
              <a:t>[a]</a:t>
            </a:r>
            <a:r>
              <a:rPr baseline="-25000" lang="en">
                <a:solidFill>
                  <a:schemeClr val="accent6"/>
                </a:solidFill>
              </a:rPr>
              <a:t>A</a:t>
            </a:r>
            <a:r>
              <a:rPr lang="en">
                <a:solidFill>
                  <a:schemeClr val="accent6"/>
                </a:solidFill>
              </a:rPr>
              <a:t>  =  2				   [a]</a:t>
            </a:r>
            <a:r>
              <a:rPr baseline="-25000" lang="en">
                <a:solidFill>
                  <a:schemeClr val="accent6"/>
                </a:solidFill>
              </a:rPr>
              <a:t>B</a:t>
            </a:r>
            <a:r>
              <a:rPr lang="en">
                <a:solidFill>
                  <a:schemeClr val="accent6"/>
                </a:solidFill>
              </a:rPr>
              <a:t>  = 4			     [a]</a:t>
            </a:r>
            <a:r>
              <a:rPr baseline="-25000" lang="en">
                <a:solidFill>
                  <a:schemeClr val="accent6"/>
                </a:solidFill>
              </a:rPr>
              <a:t>C</a:t>
            </a:r>
            <a:r>
              <a:rPr lang="en">
                <a:solidFill>
                  <a:schemeClr val="accent6"/>
                </a:solidFill>
              </a:rPr>
              <a:t>  = 3</a:t>
            </a:r>
            <a:endParaRPr>
              <a:solidFill>
                <a:schemeClr val="accent6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						</a:t>
            </a:r>
            <a:r>
              <a:rPr lang="en">
                <a:solidFill>
                  <a:schemeClr val="accent5"/>
                </a:solidFill>
              </a:rPr>
              <a:t>[b]</a:t>
            </a:r>
            <a:r>
              <a:rPr baseline="-25000" lang="en">
                <a:solidFill>
                  <a:schemeClr val="accent5"/>
                </a:solidFill>
              </a:rPr>
              <a:t>A</a:t>
            </a:r>
            <a:r>
              <a:rPr lang="en">
                <a:solidFill>
                  <a:schemeClr val="accent5"/>
                </a:solidFill>
              </a:rPr>
              <a:t>  =  2				   [b]</a:t>
            </a:r>
            <a:r>
              <a:rPr baseline="-25000" lang="en">
                <a:solidFill>
                  <a:schemeClr val="accent5"/>
                </a:solidFill>
              </a:rPr>
              <a:t>B</a:t>
            </a:r>
            <a:r>
              <a:rPr lang="en">
                <a:solidFill>
                  <a:schemeClr val="accent5"/>
                </a:solidFill>
              </a:rPr>
              <a:t>  = 3			     [b]</a:t>
            </a:r>
            <a:r>
              <a:rPr baseline="-25000" lang="en">
                <a:solidFill>
                  <a:schemeClr val="accent5"/>
                </a:solidFill>
              </a:rPr>
              <a:t>C</a:t>
            </a:r>
            <a:r>
              <a:rPr lang="en">
                <a:solidFill>
                  <a:schemeClr val="accent5"/>
                </a:solidFill>
              </a:rPr>
              <a:t>  = 1</a:t>
            </a:r>
            <a:endParaRPr>
              <a:solidFill>
                <a:schemeClr val="accent5"/>
              </a:solidFill>
            </a:endParaRPr>
          </a:p>
          <a:p>
            <a:pPr indent="457200" lvl="0" marL="228600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4"/>
                </a:solidFill>
              </a:rPr>
              <a:t>[c]</a:t>
            </a:r>
            <a:r>
              <a:rPr baseline="-25000" lang="en">
                <a:solidFill>
                  <a:schemeClr val="accent4"/>
                </a:solidFill>
              </a:rPr>
              <a:t>A</a:t>
            </a:r>
            <a:r>
              <a:rPr lang="en">
                <a:solidFill>
                  <a:schemeClr val="accent4"/>
                </a:solidFill>
              </a:rPr>
              <a:t>  =  4				   [c]</a:t>
            </a:r>
            <a:r>
              <a:rPr baseline="-25000" lang="en">
                <a:solidFill>
                  <a:schemeClr val="accent4"/>
                </a:solidFill>
              </a:rPr>
              <a:t>B</a:t>
            </a:r>
            <a:r>
              <a:rPr lang="en">
                <a:solidFill>
                  <a:schemeClr val="accent4"/>
                </a:solidFill>
              </a:rPr>
              <a:t>  = 2			     [c]</a:t>
            </a:r>
            <a:r>
              <a:rPr baseline="-25000" lang="en">
                <a:solidFill>
                  <a:schemeClr val="accent4"/>
                </a:solidFill>
              </a:rPr>
              <a:t>C</a:t>
            </a:r>
            <a:r>
              <a:rPr lang="en">
                <a:solidFill>
                  <a:schemeClr val="accent4"/>
                </a:solidFill>
              </a:rPr>
              <a:t>  = 0</a:t>
            </a:r>
            <a:endParaRPr>
              <a:solidFill>
                <a:schemeClr val="accent4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2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>
              <a:solidFill>
                <a:schemeClr val="accent2"/>
              </a:solidFill>
            </a:endParaRPr>
          </a:p>
        </p:txBody>
      </p:sp>
      <p:sp>
        <p:nvSpPr>
          <p:cNvPr id="588" name="Google Shape;588;p46"/>
          <p:cNvSpPr txBox="1"/>
          <p:nvPr>
            <p:ph idx="1" type="body"/>
          </p:nvPr>
        </p:nvSpPr>
        <p:spPr>
          <a:xfrm>
            <a:off x="311700" y="3317675"/>
            <a:ext cx="8867700" cy="167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Sum by adding shares: [a + b + c] = [a] + [b] + [c]</a:t>
            </a:r>
            <a:endParaRPr/>
          </a:p>
          <a:p>
            <a:pPr indent="457200" lvl="0" marL="228600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D5A6BD"/>
                </a:solidFill>
              </a:rPr>
              <a:t>[a+b+c]</a:t>
            </a:r>
            <a:r>
              <a:rPr baseline="-25000" lang="en">
                <a:solidFill>
                  <a:srgbClr val="D5A6BD"/>
                </a:solidFill>
              </a:rPr>
              <a:t>A</a:t>
            </a:r>
            <a:r>
              <a:rPr lang="en">
                <a:solidFill>
                  <a:srgbClr val="D5A6BD"/>
                </a:solidFill>
              </a:rPr>
              <a:t>  =  3			   [a+b+c]</a:t>
            </a:r>
            <a:r>
              <a:rPr baseline="-25000" lang="en">
                <a:solidFill>
                  <a:srgbClr val="D5A6BD"/>
                </a:solidFill>
              </a:rPr>
              <a:t>B</a:t>
            </a:r>
            <a:r>
              <a:rPr lang="en">
                <a:solidFill>
                  <a:srgbClr val="D5A6BD"/>
                </a:solidFill>
              </a:rPr>
              <a:t>  = 4		  [a+b+c]</a:t>
            </a:r>
            <a:r>
              <a:rPr baseline="-25000" lang="en">
                <a:solidFill>
                  <a:srgbClr val="D5A6BD"/>
                </a:solidFill>
              </a:rPr>
              <a:t>C</a:t>
            </a:r>
            <a:r>
              <a:rPr lang="en">
                <a:solidFill>
                  <a:srgbClr val="D5A6BD"/>
                </a:solidFill>
              </a:rPr>
              <a:t>=</a:t>
            </a:r>
            <a:r>
              <a:rPr lang="en">
                <a:solidFill>
                  <a:srgbClr val="D5A6BD"/>
                </a:solidFill>
              </a:rPr>
              <a:t> 4</a:t>
            </a:r>
            <a:endParaRPr>
              <a:solidFill>
                <a:srgbClr val="D5A6BD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Reveal the sum (a+b+c) without revealing a, b, or c:</a:t>
            </a:r>
            <a:br>
              <a:rPr lang="en"/>
            </a:br>
            <a:r>
              <a:rPr lang="en"/>
              <a:t>							</a:t>
            </a:r>
            <a:r>
              <a:rPr lang="en">
                <a:solidFill>
                  <a:srgbClr val="D5A6BD"/>
                </a:solidFill>
              </a:rPr>
              <a:t>3 + 4 + 4 </a:t>
            </a:r>
            <a:r>
              <a:rPr lang="en"/>
              <a:t>= 1 = </a:t>
            </a:r>
            <a:r>
              <a:rPr lang="en">
                <a:solidFill>
                  <a:schemeClr val="accent6"/>
                </a:solidFill>
              </a:rPr>
              <a:t>4</a:t>
            </a:r>
            <a:r>
              <a:rPr lang="en"/>
              <a:t> + </a:t>
            </a:r>
            <a:r>
              <a:rPr lang="en">
                <a:solidFill>
                  <a:schemeClr val="accent5"/>
                </a:solidFill>
              </a:rPr>
              <a:t>1</a:t>
            </a:r>
            <a:r>
              <a:rPr lang="en"/>
              <a:t> + </a:t>
            </a:r>
            <a:r>
              <a:rPr lang="en">
                <a:solidFill>
                  <a:schemeClr val="accent4"/>
                </a:solidFill>
              </a:rPr>
              <a:t>1</a:t>
            </a:r>
            <a:endParaRPr>
              <a:solidFill>
                <a:schemeClr val="accent4"/>
              </a:solidFill>
            </a:endParaRPr>
          </a:p>
          <a:p>
            <a:pPr indent="457200" lvl="0" marL="228600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>
              <a:solidFill>
                <a:schemeClr val="accent2"/>
              </a:solidFill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2" name="Shape 5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" name="Google Shape;593;p47"/>
          <p:cNvSpPr txBox="1"/>
          <p:nvPr>
            <p:ph type="title"/>
          </p:nvPr>
        </p:nvSpPr>
        <p:spPr>
          <a:xfrm>
            <a:off x="0" y="0"/>
            <a:ext cx="914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Voting, version 2</a:t>
            </a:r>
            <a:endParaRPr/>
          </a:p>
        </p:txBody>
      </p:sp>
      <p:pic>
        <p:nvPicPr>
          <p:cNvPr id="594" name="Google Shape;594;p4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02696" y="1106363"/>
            <a:ext cx="554130" cy="554131"/>
          </a:xfrm>
          <a:prstGeom prst="rect">
            <a:avLst/>
          </a:prstGeom>
          <a:noFill/>
          <a:ln>
            <a:noFill/>
          </a:ln>
        </p:spPr>
      </p:pic>
      <p:pic>
        <p:nvPicPr>
          <p:cNvPr id="595" name="Google Shape;595;p4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47071" y="1106375"/>
            <a:ext cx="554125" cy="554132"/>
          </a:xfrm>
          <a:prstGeom prst="rect">
            <a:avLst/>
          </a:prstGeom>
          <a:noFill/>
          <a:ln>
            <a:noFill/>
          </a:ln>
        </p:spPr>
      </p:pic>
      <p:sp>
        <p:nvSpPr>
          <p:cNvPr id="596" name="Google Shape;596;p47"/>
          <p:cNvSpPr txBox="1"/>
          <p:nvPr/>
        </p:nvSpPr>
        <p:spPr>
          <a:xfrm>
            <a:off x="3048152" y="598475"/>
            <a:ext cx="978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Alice</a:t>
            </a:r>
            <a:br>
              <a:rPr lang="en">
                <a:solidFill>
                  <a:schemeClr val="dk1"/>
                </a:solidFill>
              </a:rPr>
            </a:br>
            <a:r>
              <a:rPr lang="en">
                <a:solidFill>
                  <a:schemeClr val="accent6"/>
                </a:solidFill>
              </a:rPr>
              <a:t>a=1 (Yes)</a:t>
            </a:r>
            <a:endParaRPr>
              <a:solidFill>
                <a:schemeClr val="accent6"/>
              </a:solidFill>
            </a:endParaRPr>
          </a:p>
        </p:txBody>
      </p:sp>
      <p:sp>
        <p:nvSpPr>
          <p:cNvPr id="597" name="Google Shape;597;p47"/>
          <p:cNvSpPr txBox="1"/>
          <p:nvPr/>
        </p:nvSpPr>
        <p:spPr>
          <a:xfrm>
            <a:off x="5540400" y="614325"/>
            <a:ext cx="945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Bob</a:t>
            </a:r>
            <a:br>
              <a:rPr lang="en">
                <a:solidFill>
                  <a:schemeClr val="dk1"/>
                </a:solidFill>
              </a:rPr>
            </a:br>
            <a:r>
              <a:rPr lang="en">
                <a:solidFill>
                  <a:schemeClr val="accent5"/>
                </a:solidFill>
              </a:rPr>
              <a:t>b=0 (No)</a:t>
            </a:r>
            <a:endParaRPr>
              <a:solidFill>
                <a:schemeClr val="accent5"/>
              </a:solidFill>
            </a:endParaRPr>
          </a:p>
        </p:txBody>
      </p:sp>
      <p:pic>
        <p:nvPicPr>
          <p:cNvPr id="598" name="Google Shape;598;p4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107500" y="1106374"/>
            <a:ext cx="554125" cy="554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99" name="Google Shape;599;p4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697150" y="1106368"/>
            <a:ext cx="554130" cy="554131"/>
          </a:xfrm>
          <a:prstGeom prst="rect">
            <a:avLst/>
          </a:prstGeom>
          <a:noFill/>
          <a:ln>
            <a:noFill/>
          </a:ln>
        </p:spPr>
      </p:pic>
      <p:sp>
        <p:nvSpPr>
          <p:cNvPr id="600" name="Google Shape;600;p47"/>
          <p:cNvSpPr txBox="1"/>
          <p:nvPr/>
        </p:nvSpPr>
        <p:spPr>
          <a:xfrm>
            <a:off x="7941075" y="614325"/>
            <a:ext cx="945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Carlos</a:t>
            </a:r>
            <a:br>
              <a:rPr lang="en">
                <a:solidFill>
                  <a:schemeClr val="dk1"/>
                </a:solidFill>
              </a:rPr>
            </a:br>
            <a:r>
              <a:rPr lang="en">
                <a:solidFill>
                  <a:schemeClr val="accent4"/>
                </a:solidFill>
              </a:rPr>
              <a:t>c=1 (Yes)</a:t>
            </a:r>
            <a:endParaRPr>
              <a:solidFill>
                <a:schemeClr val="accent4"/>
              </a:solidFill>
            </a:endParaRPr>
          </a:p>
        </p:txBody>
      </p:sp>
      <p:sp>
        <p:nvSpPr>
          <p:cNvPr id="601" name="Google Shape;601;p47"/>
          <p:cNvSpPr txBox="1"/>
          <p:nvPr/>
        </p:nvSpPr>
        <p:spPr>
          <a:xfrm>
            <a:off x="903651" y="585925"/>
            <a:ext cx="9621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Sarah</a:t>
            </a:r>
            <a:br>
              <a:rPr lang="en">
                <a:solidFill>
                  <a:schemeClr val="dk1"/>
                </a:solidFill>
              </a:rPr>
            </a:br>
            <a:r>
              <a:rPr lang="en">
                <a:solidFill>
                  <a:srgbClr val="B4A7D6"/>
                </a:solidFill>
              </a:rPr>
              <a:t>s=1 (Yes)</a:t>
            </a:r>
            <a:endParaRPr>
              <a:solidFill>
                <a:srgbClr val="B4A7D6"/>
              </a:solidFill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5" name="Shape 6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6" name="Google Shape;606;p48"/>
          <p:cNvSpPr txBox="1"/>
          <p:nvPr>
            <p:ph type="title"/>
          </p:nvPr>
        </p:nvSpPr>
        <p:spPr>
          <a:xfrm>
            <a:off x="0" y="0"/>
            <a:ext cx="914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Voting, version 2</a:t>
            </a:r>
            <a:endParaRPr/>
          </a:p>
        </p:txBody>
      </p:sp>
      <p:pic>
        <p:nvPicPr>
          <p:cNvPr id="607" name="Google Shape;607;p4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02696" y="1106363"/>
            <a:ext cx="554130" cy="554131"/>
          </a:xfrm>
          <a:prstGeom prst="rect">
            <a:avLst/>
          </a:prstGeom>
          <a:noFill/>
          <a:ln>
            <a:noFill/>
          </a:ln>
        </p:spPr>
      </p:pic>
      <p:pic>
        <p:nvPicPr>
          <p:cNvPr id="608" name="Google Shape;608;p4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47071" y="1106375"/>
            <a:ext cx="554125" cy="554132"/>
          </a:xfrm>
          <a:prstGeom prst="rect">
            <a:avLst/>
          </a:prstGeom>
          <a:noFill/>
          <a:ln>
            <a:noFill/>
          </a:ln>
        </p:spPr>
      </p:pic>
      <p:sp>
        <p:nvSpPr>
          <p:cNvPr id="609" name="Google Shape;609;p48"/>
          <p:cNvSpPr txBox="1"/>
          <p:nvPr/>
        </p:nvSpPr>
        <p:spPr>
          <a:xfrm>
            <a:off x="3048152" y="598475"/>
            <a:ext cx="978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Alice</a:t>
            </a:r>
            <a:br>
              <a:rPr lang="en">
                <a:solidFill>
                  <a:schemeClr val="dk1"/>
                </a:solidFill>
              </a:rPr>
            </a:br>
            <a:r>
              <a:rPr lang="en">
                <a:solidFill>
                  <a:schemeClr val="accent6"/>
                </a:solidFill>
              </a:rPr>
              <a:t>a=1 (Yes)</a:t>
            </a:r>
            <a:endParaRPr>
              <a:solidFill>
                <a:schemeClr val="accent6"/>
              </a:solidFill>
            </a:endParaRPr>
          </a:p>
        </p:txBody>
      </p:sp>
      <p:sp>
        <p:nvSpPr>
          <p:cNvPr id="610" name="Google Shape;610;p48"/>
          <p:cNvSpPr txBox="1"/>
          <p:nvPr/>
        </p:nvSpPr>
        <p:spPr>
          <a:xfrm>
            <a:off x="5540400" y="614325"/>
            <a:ext cx="945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Bob</a:t>
            </a:r>
            <a:br>
              <a:rPr lang="en">
                <a:solidFill>
                  <a:schemeClr val="dk1"/>
                </a:solidFill>
              </a:rPr>
            </a:br>
            <a:r>
              <a:rPr lang="en">
                <a:solidFill>
                  <a:schemeClr val="accent5"/>
                </a:solidFill>
              </a:rPr>
              <a:t>b=0 (No)</a:t>
            </a:r>
            <a:endParaRPr>
              <a:solidFill>
                <a:schemeClr val="accent5"/>
              </a:solidFill>
            </a:endParaRPr>
          </a:p>
        </p:txBody>
      </p:sp>
      <p:pic>
        <p:nvPicPr>
          <p:cNvPr id="611" name="Google Shape;611;p4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107500" y="1106374"/>
            <a:ext cx="554125" cy="554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12" name="Google Shape;612;p4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697150" y="1106368"/>
            <a:ext cx="554130" cy="554131"/>
          </a:xfrm>
          <a:prstGeom prst="rect">
            <a:avLst/>
          </a:prstGeom>
          <a:noFill/>
          <a:ln>
            <a:noFill/>
          </a:ln>
        </p:spPr>
      </p:pic>
      <p:sp>
        <p:nvSpPr>
          <p:cNvPr id="613" name="Google Shape;613;p48"/>
          <p:cNvSpPr txBox="1"/>
          <p:nvPr/>
        </p:nvSpPr>
        <p:spPr>
          <a:xfrm>
            <a:off x="7941075" y="614325"/>
            <a:ext cx="945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Carlos</a:t>
            </a:r>
            <a:br>
              <a:rPr lang="en">
                <a:solidFill>
                  <a:schemeClr val="dk1"/>
                </a:solidFill>
              </a:rPr>
            </a:br>
            <a:r>
              <a:rPr lang="en">
                <a:solidFill>
                  <a:schemeClr val="accent4"/>
                </a:solidFill>
              </a:rPr>
              <a:t>c=1 (Yes)</a:t>
            </a:r>
            <a:endParaRPr>
              <a:solidFill>
                <a:schemeClr val="accent4"/>
              </a:solidFill>
            </a:endParaRPr>
          </a:p>
        </p:txBody>
      </p:sp>
      <p:sp>
        <p:nvSpPr>
          <p:cNvPr id="614" name="Google Shape;614;p48"/>
          <p:cNvSpPr txBox="1"/>
          <p:nvPr/>
        </p:nvSpPr>
        <p:spPr>
          <a:xfrm>
            <a:off x="903651" y="585925"/>
            <a:ext cx="9621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Sarah</a:t>
            </a:r>
            <a:br>
              <a:rPr lang="en">
                <a:solidFill>
                  <a:schemeClr val="dk1"/>
                </a:solidFill>
              </a:rPr>
            </a:br>
            <a:r>
              <a:rPr lang="en">
                <a:solidFill>
                  <a:srgbClr val="B4A7D6"/>
                </a:solidFill>
              </a:rPr>
              <a:t>s=1 (Yes)</a:t>
            </a:r>
            <a:endParaRPr>
              <a:solidFill>
                <a:srgbClr val="B4A7D6"/>
              </a:solidFill>
            </a:endParaRPr>
          </a:p>
        </p:txBody>
      </p:sp>
      <p:sp>
        <p:nvSpPr>
          <p:cNvPr id="615" name="Google Shape;615;p48"/>
          <p:cNvSpPr txBox="1"/>
          <p:nvPr>
            <p:ph idx="1" type="body"/>
          </p:nvPr>
        </p:nvSpPr>
        <p:spPr>
          <a:xfrm>
            <a:off x="320050" y="1660500"/>
            <a:ext cx="8859300" cy="142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	</a:t>
            </a:r>
            <a:r>
              <a:rPr lang="en">
                <a:solidFill>
                  <a:srgbClr val="B4A7D6"/>
                </a:solidFill>
              </a:rPr>
              <a:t>[s]</a:t>
            </a:r>
            <a:r>
              <a:rPr baseline="-25000" lang="en">
                <a:solidFill>
                  <a:srgbClr val="B4A7D6"/>
                </a:solidFill>
              </a:rPr>
              <a:t>S</a:t>
            </a:r>
            <a:r>
              <a:rPr lang="en">
                <a:solidFill>
                  <a:srgbClr val="B4A7D6"/>
                </a:solidFill>
              </a:rPr>
              <a:t> = 3				[s]</a:t>
            </a:r>
            <a:r>
              <a:rPr baseline="-25000" lang="en">
                <a:solidFill>
                  <a:srgbClr val="B4A7D6"/>
                </a:solidFill>
              </a:rPr>
              <a:t>A</a:t>
            </a:r>
            <a:r>
              <a:rPr lang="en">
                <a:solidFill>
                  <a:srgbClr val="B4A7D6"/>
                </a:solidFill>
              </a:rPr>
              <a:t>  =  1				   [s]</a:t>
            </a:r>
            <a:r>
              <a:rPr baseline="-25000" lang="en">
                <a:solidFill>
                  <a:srgbClr val="B4A7D6"/>
                </a:solidFill>
              </a:rPr>
              <a:t>B </a:t>
            </a:r>
            <a:r>
              <a:rPr lang="en">
                <a:solidFill>
                  <a:srgbClr val="B4A7D6"/>
                </a:solidFill>
              </a:rPr>
              <a:t>  = 4			     [s]</a:t>
            </a:r>
            <a:r>
              <a:rPr baseline="-25000" lang="en">
                <a:solidFill>
                  <a:srgbClr val="B4A7D6"/>
                </a:solidFill>
              </a:rPr>
              <a:t>C</a:t>
            </a:r>
            <a:r>
              <a:rPr lang="en">
                <a:solidFill>
                  <a:srgbClr val="B4A7D6"/>
                </a:solidFill>
              </a:rPr>
              <a:t>  = 3</a:t>
            </a:r>
            <a:br>
              <a:rPr lang="en"/>
            </a:br>
            <a:r>
              <a:rPr lang="en"/>
              <a:t>	</a:t>
            </a:r>
            <a:r>
              <a:rPr lang="en">
                <a:solidFill>
                  <a:schemeClr val="accent6"/>
                </a:solidFill>
              </a:rPr>
              <a:t>[a]</a:t>
            </a:r>
            <a:r>
              <a:rPr baseline="-25000" lang="en">
                <a:solidFill>
                  <a:schemeClr val="accent6"/>
                </a:solidFill>
              </a:rPr>
              <a:t>S</a:t>
            </a:r>
            <a:r>
              <a:rPr lang="en">
                <a:solidFill>
                  <a:schemeClr val="accent6"/>
                </a:solidFill>
              </a:rPr>
              <a:t> = 2	</a:t>
            </a:r>
            <a:r>
              <a:rPr lang="en"/>
              <a:t>			</a:t>
            </a:r>
            <a:r>
              <a:rPr lang="en">
                <a:solidFill>
                  <a:schemeClr val="accent6"/>
                </a:solidFill>
              </a:rPr>
              <a:t>[a]</a:t>
            </a:r>
            <a:r>
              <a:rPr baseline="-25000" lang="en">
                <a:solidFill>
                  <a:schemeClr val="accent6"/>
                </a:solidFill>
              </a:rPr>
              <a:t>A</a:t>
            </a:r>
            <a:r>
              <a:rPr lang="en">
                <a:solidFill>
                  <a:schemeClr val="accent6"/>
                </a:solidFill>
              </a:rPr>
              <a:t>  =  2				   [a]</a:t>
            </a:r>
            <a:r>
              <a:rPr baseline="-25000" lang="en">
                <a:solidFill>
                  <a:schemeClr val="accent6"/>
                </a:solidFill>
              </a:rPr>
              <a:t>B</a:t>
            </a:r>
            <a:r>
              <a:rPr lang="en">
                <a:solidFill>
                  <a:schemeClr val="accent6"/>
                </a:solidFill>
              </a:rPr>
              <a:t>  = 4			     [a]</a:t>
            </a:r>
            <a:r>
              <a:rPr baseline="-25000" lang="en">
                <a:solidFill>
                  <a:schemeClr val="accent6"/>
                </a:solidFill>
              </a:rPr>
              <a:t>C</a:t>
            </a:r>
            <a:r>
              <a:rPr lang="en">
                <a:solidFill>
                  <a:schemeClr val="accent6"/>
                </a:solidFill>
              </a:rPr>
              <a:t>  = 3</a:t>
            </a:r>
            <a:r>
              <a:rPr lang="en">
                <a:solidFill>
                  <a:schemeClr val="accent5"/>
                </a:solidFill>
              </a:rPr>
              <a:t>	[b]</a:t>
            </a:r>
            <a:r>
              <a:rPr baseline="-25000" lang="en">
                <a:solidFill>
                  <a:schemeClr val="accent5"/>
                </a:solidFill>
              </a:rPr>
              <a:t>S</a:t>
            </a:r>
            <a:r>
              <a:rPr lang="en">
                <a:solidFill>
                  <a:schemeClr val="accent5"/>
                </a:solidFill>
              </a:rPr>
              <a:t> = 4		</a:t>
            </a:r>
            <a:r>
              <a:rPr lang="en"/>
              <a:t>		</a:t>
            </a:r>
            <a:r>
              <a:rPr lang="en">
                <a:solidFill>
                  <a:schemeClr val="accent5"/>
                </a:solidFill>
              </a:rPr>
              <a:t>[b]</a:t>
            </a:r>
            <a:r>
              <a:rPr baseline="-25000" lang="en">
                <a:solidFill>
                  <a:schemeClr val="accent5"/>
                </a:solidFill>
              </a:rPr>
              <a:t>A</a:t>
            </a:r>
            <a:r>
              <a:rPr lang="en">
                <a:solidFill>
                  <a:schemeClr val="accent5"/>
                </a:solidFill>
              </a:rPr>
              <a:t>  =  2				   [b]</a:t>
            </a:r>
            <a:r>
              <a:rPr baseline="-25000" lang="en">
                <a:solidFill>
                  <a:schemeClr val="accent5"/>
                </a:solidFill>
              </a:rPr>
              <a:t>B</a:t>
            </a:r>
            <a:r>
              <a:rPr lang="en">
                <a:solidFill>
                  <a:schemeClr val="accent5"/>
                </a:solidFill>
              </a:rPr>
              <a:t>  = 3			     [b]</a:t>
            </a:r>
            <a:r>
              <a:rPr baseline="-25000" lang="en">
                <a:solidFill>
                  <a:schemeClr val="accent5"/>
                </a:solidFill>
              </a:rPr>
              <a:t>C</a:t>
            </a:r>
            <a:r>
              <a:rPr lang="en">
                <a:solidFill>
                  <a:schemeClr val="accent5"/>
                </a:solidFill>
              </a:rPr>
              <a:t>  = 1</a:t>
            </a:r>
            <a:br>
              <a:rPr lang="en">
                <a:solidFill>
                  <a:schemeClr val="accent5"/>
                </a:solidFill>
              </a:rPr>
            </a:br>
            <a:r>
              <a:rPr lang="en">
                <a:solidFill>
                  <a:schemeClr val="accent4"/>
                </a:solidFill>
              </a:rPr>
              <a:t>	[c]</a:t>
            </a:r>
            <a:r>
              <a:rPr baseline="-25000" lang="en">
                <a:solidFill>
                  <a:schemeClr val="accent4"/>
                </a:solidFill>
              </a:rPr>
              <a:t>S</a:t>
            </a:r>
            <a:r>
              <a:rPr lang="en">
                <a:solidFill>
                  <a:schemeClr val="accent4"/>
                </a:solidFill>
              </a:rPr>
              <a:t> = 0</a:t>
            </a:r>
            <a:r>
              <a:rPr lang="en">
                <a:solidFill>
                  <a:schemeClr val="accent5"/>
                </a:solidFill>
              </a:rPr>
              <a:t>				</a:t>
            </a:r>
            <a:r>
              <a:rPr lang="en">
                <a:solidFill>
                  <a:schemeClr val="accent4"/>
                </a:solidFill>
              </a:rPr>
              <a:t>[c]</a:t>
            </a:r>
            <a:r>
              <a:rPr baseline="-25000" lang="en">
                <a:solidFill>
                  <a:schemeClr val="accent4"/>
                </a:solidFill>
              </a:rPr>
              <a:t>A</a:t>
            </a:r>
            <a:r>
              <a:rPr lang="en">
                <a:solidFill>
                  <a:schemeClr val="accent4"/>
                </a:solidFill>
              </a:rPr>
              <a:t>  =  4				   [c]</a:t>
            </a:r>
            <a:r>
              <a:rPr baseline="-25000" lang="en">
                <a:solidFill>
                  <a:schemeClr val="accent4"/>
                </a:solidFill>
              </a:rPr>
              <a:t>B</a:t>
            </a:r>
            <a:r>
              <a:rPr lang="en">
                <a:solidFill>
                  <a:schemeClr val="accent4"/>
                </a:solidFill>
              </a:rPr>
              <a:t>  = 2			     [c]</a:t>
            </a:r>
            <a:r>
              <a:rPr baseline="-25000" lang="en">
                <a:solidFill>
                  <a:schemeClr val="accent4"/>
                </a:solidFill>
              </a:rPr>
              <a:t>C</a:t>
            </a:r>
            <a:r>
              <a:rPr lang="en">
                <a:solidFill>
                  <a:schemeClr val="accent4"/>
                </a:solidFill>
              </a:rPr>
              <a:t>  = 0</a:t>
            </a:r>
            <a:endParaRPr>
              <a:solidFill>
                <a:schemeClr val="accent4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2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>
              <a:solidFill>
                <a:schemeClr val="accent2"/>
              </a:solidFill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9" name="Shape 6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0" name="Google Shape;620;p49"/>
          <p:cNvSpPr txBox="1"/>
          <p:nvPr>
            <p:ph type="title"/>
          </p:nvPr>
        </p:nvSpPr>
        <p:spPr>
          <a:xfrm>
            <a:off x="0" y="0"/>
            <a:ext cx="914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Voting, version 2</a:t>
            </a:r>
            <a:endParaRPr/>
          </a:p>
        </p:txBody>
      </p:sp>
      <p:pic>
        <p:nvPicPr>
          <p:cNvPr id="621" name="Google Shape;621;p4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02696" y="1106363"/>
            <a:ext cx="554130" cy="554131"/>
          </a:xfrm>
          <a:prstGeom prst="rect">
            <a:avLst/>
          </a:prstGeom>
          <a:noFill/>
          <a:ln>
            <a:noFill/>
          </a:ln>
        </p:spPr>
      </p:pic>
      <p:pic>
        <p:nvPicPr>
          <p:cNvPr id="622" name="Google Shape;622;p4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47071" y="1106375"/>
            <a:ext cx="554125" cy="554132"/>
          </a:xfrm>
          <a:prstGeom prst="rect">
            <a:avLst/>
          </a:prstGeom>
          <a:noFill/>
          <a:ln>
            <a:noFill/>
          </a:ln>
        </p:spPr>
      </p:pic>
      <p:sp>
        <p:nvSpPr>
          <p:cNvPr id="623" name="Google Shape;623;p49"/>
          <p:cNvSpPr txBox="1"/>
          <p:nvPr/>
        </p:nvSpPr>
        <p:spPr>
          <a:xfrm>
            <a:off x="3048152" y="598475"/>
            <a:ext cx="978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Alice</a:t>
            </a:r>
            <a:br>
              <a:rPr lang="en">
                <a:solidFill>
                  <a:schemeClr val="dk1"/>
                </a:solidFill>
              </a:rPr>
            </a:br>
            <a:r>
              <a:rPr lang="en">
                <a:solidFill>
                  <a:schemeClr val="accent6"/>
                </a:solidFill>
              </a:rPr>
              <a:t>a=1 (Yes)</a:t>
            </a:r>
            <a:endParaRPr>
              <a:solidFill>
                <a:schemeClr val="accent6"/>
              </a:solidFill>
            </a:endParaRPr>
          </a:p>
        </p:txBody>
      </p:sp>
      <p:sp>
        <p:nvSpPr>
          <p:cNvPr id="624" name="Google Shape;624;p49"/>
          <p:cNvSpPr txBox="1"/>
          <p:nvPr/>
        </p:nvSpPr>
        <p:spPr>
          <a:xfrm>
            <a:off x="5540400" y="614325"/>
            <a:ext cx="945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Bob</a:t>
            </a:r>
            <a:br>
              <a:rPr lang="en">
                <a:solidFill>
                  <a:schemeClr val="dk1"/>
                </a:solidFill>
              </a:rPr>
            </a:br>
            <a:r>
              <a:rPr lang="en">
                <a:solidFill>
                  <a:schemeClr val="accent5"/>
                </a:solidFill>
              </a:rPr>
              <a:t>b=0 (No)</a:t>
            </a:r>
            <a:endParaRPr>
              <a:solidFill>
                <a:schemeClr val="accent5"/>
              </a:solidFill>
            </a:endParaRPr>
          </a:p>
        </p:txBody>
      </p:sp>
      <p:pic>
        <p:nvPicPr>
          <p:cNvPr id="625" name="Google Shape;625;p4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107500" y="1106374"/>
            <a:ext cx="554125" cy="554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26" name="Google Shape;626;p4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697150" y="1106368"/>
            <a:ext cx="554130" cy="554131"/>
          </a:xfrm>
          <a:prstGeom prst="rect">
            <a:avLst/>
          </a:prstGeom>
          <a:noFill/>
          <a:ln>
            <a:noFill/>
          </a:ln>
        </p:spPr>
      </p:pic>
      <p:sp>
        <p:nvSpPr>
          <p:cNvPr id="627" name="Google Shape;627;p49"/>
          <p:cNvSpPr txBox="1"/>
          <p:nvPr/>
        </p:nvSpPr>
        <p:spPr>
          <a:xfrm>
            <a:off x="7941075" y="614325"/>
            <a:ext cx="945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Carlos</a:t>
            </a:r>
            <a:br>
              <a:rPr lang="en">
                <a:solidFill>
                  <a:schemeClr val="dk1"/>
                </a:solidFill>
              </a:rPr>
            </a:br>
            <a:r>
              <a:rPr lang="en">
                <a:solidFill>
                  <a:schemeClr val="accent4"/>
                </a:solidFill>
              </a:rPr>
              <a:t>c=1 (Yes)</a:t>
            </a:r>
            <a:endParaRPr>
              <a:solidFill>
                <a:schemeClr val="accent4"/>
              </a:solidFill>
            </a:endParaRPr>
          </a:p>
        </p:txBody>
      </p:sp>
      <p:sp>
        <p:nvSpPr>
          <p:cNvPr id="628" name="Google Shape;628;p49"/>
          <p:cNvSpPr txBox="1"/>
          <p:nvPr/>
        </p:nvSpPr>
        <p:spPr>
          <a:xfrm>
            <a:off x="903651" y="585925"/>
            <a:ext cx="9621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Sarah</a:t>
            </a:r>
            <a:br>
              <a:rPr lang="en">
                <a:solidFill>
                  <a:schemeClr val="dk1"/>
                </a:solidFill>
              </a:rPr>
            </a:br>
            <a:r>
              <a:rPr lang="en">
                <a:solidFill>
                  <a:srgbClr val="B4A7D6"/>
                </a:solidFill>
              </a:rPr>
              <a:t>s=1 (Yes)</a:t>
            </a:r>
            <a:endParaRPr>
              <a:solidFill>
                <a:srgbClr val="B4A7D6"/>
              </a:solidFill>
            </a:endParaRPr>
          </a:p>
        </p:txBody>
      </p:sp>
      <p:sp>
        <p:nvSpPr>
          <p:cNvPr id="629" name="Google Shape;629;p49"/>
          <p:cNvSpPr txBox="1"/>
          <p:nvPr>
            <p:ph idx="1" type="body"/>
          </p:nvPr>
        </p:nvSpPr>
        <p:spPr>
          <a:xfrm>
            <a:off x="320050" y="1660500"/>
            <a:ext cx="8859300" cy="324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	</a:t>
            </a:r>
            <a:r>
              <a:rPr lang="en">
                <a:solidFill>
                  <a:srgbClr val="B4A7D6"/>
                </a:solidFill>
              </a:rPr>
              <a:t>[s]</a:t>
            </a:r>
            <a:r>
              <a:rPr baseline="-25000" lang="en">
                <a:solidFill>
                  <a:srgbClr val="B4A7D6"/>
                </a:solidFill>
              </a:rPr>
              <a:t>S</a:t>
            </a:r>
            <a:r>
              <a:rPr lang="en">
                <a:solidFill>
                  <a:srgbClr val="B4A7D6"/>
                </a:solidFill>
              </a:rPr>
              <a:t> = 3				[s]</a:t>
            </a:r>
            <a:r>
              <a:rPr baseline="-25000" lang="en">
                <a:solidFill>
                  <a:srgbClr val="B4A7D6"/>
                </a:solidFill>
              </a:rPr>
              <a:t>A</a:t>
            </a:r>
            <a:r>
              <a:rPr lang="en">
                <a:solidFill>
                  <a:srgbClr val="B4A7D6"/>
                </a:solidFill>
              </a:rPr>
              <a:t>  =  1				   [s]</a:t>
            </a:r>
            <a:r>
              <a:rPr baseline="-25000" lang="en">
                <a:solidFill>
                  <a:srgbClr val="B4A7D6"/>
                </a:solidFill>
              </a:rPr>
              <a:t>B </a:t>
            </a:r>
            <a:r>
              <a:rPr lang="en">
                <a:solidFill>
                  <a:srgbClr val="B4A7D6"/>
                </a:solidFill>
              </a:rPr>
              <a:t>  = 4			     [s]</a:t>
            </a:r>
            <a:r>
              <a:rPr baseline="-25000" lang="en">
                <a:solidFill>
                  <a:srgbClr val="B4A7D6"/>
                </a:solidFill>
              </a:rPr>
              <a:t>C</a:t>
            </a:r>
            <a:r>
              <a:rPr lang="en">
                <a:solidFill>
                  <a:srgbClr val="B4A7D6"/>
                </a:solidFill>
              </a:rPr>
              <a:t>  = 3</a:t>
            </a:r>
            <a:br>
              <a:rPr lang="en"/>
            </a:br>
            <a:r>
              <a:rPr lang="en"/>
              <a:t>	</a:t>
            </a:r>
            <a:r>
              <a:rPr lang="en">
                <a:solidFill>
                  <a:schemeClr val="accent6"/>
                </a:solidFill>
              </a:rPr>
              <a:t>[a]</a:t>
            </a:r>
            <a:r>
              <a:rPr baseline="-25000" lang="en">
                <a:solidFill>
                  <a:schemeClr val="accent6"/>
                </a:solidFill>
              </a:rPr>
              <a:t>S</a:t>
            </a:r>
            <a:r>
              <a:rPr lang="en">
                <a:solidFill>
                  <a:schemeClr val="accent6"/>
                </a:solidFill>
              </a:rPr>
              <a:t> = 2	</a:t>
            </a:r>
            <a:r>
              <a:rPr lang="en"/>
              <a:t>			</a:t>
            </a:r>
            <a:r>
              <a:rPr lang="en">
                <a:solidFill>
                  <a:schemeClr val="accent6"/>
                </a:solidFill>
              </a:rPr>
              <a:t>[a]</a:t>
            </a:r>
            <a:r>
              <a:rPr baseline="-25000" lang="en">
                <a:solidFill>
                  <a:schemeClr val="accent6"/>
                </a:solidFill>
              </a:rPr>
              <a:t>A</a:t>
            </a:r>
            <a:r>
              <a:rPr lang="en">
                <a:solidFill>
                  <a:schemeClr val="accent6"/>
                </a:solidFill>
              </a:rPr>
              <a:t>  =  2				   [a]</a:t>
            </a:r>
            <a:r>
              <a:rPr baseline="-25000" lang="en">
                <a:solidFill>
                  <a:schemeClr val="accent6"/>
                </a:solidFill>
              </a:rPr>
              <a:t>B</a:t>
            </a:r>
            <a:r>
              <a:rPr lang="en">
                <a:solidFill>
                  <a:schemeClr val="accent6"/>
                </a:solidFill>
              </a:rPr>
              <a:t>  = 4			     [a]</a:t>
            </a:r>
            <a:r>
              <a:rPr baseline="-25000" lang="en">
                <a:solidFill>
                  <a:schemeClr val="accent6"/>
                </a:solidFill>
              </a:rPr>
              <a:t>C</a:t>
            </a:r>
            <a:r>
              <a:rPr lang="en">
                <a:solidFill>
                  <a:schemeClr val="accent6"/>
                </a:solidFill>
              </a:rPr>
              <a:t>  = 3</a:t>
            </a:r>
            <a:r>
              <a:rPr lang="en">
                <a:solidFill>
                  <a:schemeClr val="accent5"/>
                </a:solidFill>
              </a:rPr>
              <a:t>	[b]</a:t>
            </a:r>
            <a:r>
              <a:rPr baseline="-25000" lang="en">
                <a:solidFill>
                  <a:schemeClr val="accent5"/>
                </a:solidFill>
              </a:rPr>
              <a:t>S</a:t>
            </a:r>
            <a:r>
              <a:rPr lang="en">
                <a:solidFill>
                  <a:schemeClr val="accent5"/>
                </a:solidFill>
              </a:rPr>
              <a:t> = 4		</a:t>
            </a:r>
            <a:r>
              <a:rPr lang="en"/>
              <a:t>		</a:t>
            </a:r>
            <a:r>
              <a:rPr lang="en">
                <a:solidFill>
                  <a:schemeClr val="accent5"/>
                </a:solidFill>
              </a:rPr>
              <a:t>[b]</a:t>
            </a:r>
            <a:r>
              <a:rPr baseline="-25000" lang="en">
                <a:solidFill>
                  <a:schemeClr val="accent5"/>
                </a:solidFill>
              </a:rPr>
              <a:t>A</a:t>
            </a:r>
            <a:r>
              <a:rPr lang="en">
                <a:solidFill>
                  <a:schemeClr val="accent5"/>
                </a:solidFill>
              </a:rPr>
              <a:t>  =  2				   [b]</a:t>
            </a:r>
            <a:r>
              <a:rPr baseline="-25000" lang="en">
                <a:solidFill>
                  <a:schemeClr val="accent5"/>
                </a:solidFill>
              </a:rPr>
              <a:t>B</a:t>
            </a:r>
            <a:r>
              <a:rPr lang="en">
                <a:solidFill>
                  <a:schemeClr val="accent5"/>
                </a:solidFill>
              </a:rPr>
              <a:t>  = 3			     [b]</a:t>
            </a:r>
            <a:r>
              <a:rPr baseline="-25000" lang="en">
                <a:solidFill>
                  <a:schemeClr val="accent5"/>
                </a:solidFill>
              </a:rPr>
              <a:t>C</a:t>
            </a:r>
            <a:r>
              <a:rPr lang="en">
                <a:solidFill>
                  <a:schemeClr val="accent5"/>
                </a:solidFill>
              </a:rPr>
              <a:t>  = 1</a:t>
            </a:r>
            <a:br>
              <a:rPr lang="en">
                <a:solidFill>
                  <a:schemeClr val="accent5"/>
                </a:solidFill>
              </a:rPr>
            </a:br>
            <a:r>
              <a:rPr lang="en">
                <a:solidFill>
                  <a:schemeClr val="accent4"/>
                </a:solidFill>
              </a:rPr>
              <a:t>    </a:t>
            </a:r>
            <a:r>
              <a:rPr lang="en">
                <a:solidFill>
                  <a:schemeClr val="accent2"/>
                </a:solidFill>
              </a:rPr>
              <a:t>+</a:t>
            </a:r>
            <a:r>
              <a:rPr lang="en">
                <a:solidFill>
                  <a:schemeClr val="accent4"/>
                </a:solidFill>
              </a:rPr>
              <a:t> </a:t>
            </a:r>
            <a:r>
              <a:rPr lang="en">
                <a:solidFill>
                  <a:schemeClr val="accent4"/>
                </a:solidFill>
              </a:rPr>
              <a:t>[c]</a:t>
            </a:r>
            <a:r>
              <a:rPr baseline="-25000" lang="en">
                <a:solidFill>
                  <a:schemeClr val="accent4"/>
                </a:solidFill>
              </a:rPr>
              <a:t>S</a:t>
            </a:r>
            <a:r>
              <a:rPr lang="en">
                <a:solidFill>
                  <a:schemeClr val="accent4"/>
                </a:solidFill>
              </a:rPr>
              <a:t> = 0</a:t>
            </a:r>
            <a:r>
              <a:rPr lang="en">
                <a:solidFill>
                  <a:schemeClr val="accent5"/>
                </a:solidFill>
              </a:rPr>
              <a:t>			    </a:t>
            </a:r>
            <a:r>
              <a:rPr lang="en">
                <a:solidFill>
                  <a:schemeClr val="accent2"/>
                </a:solidFill>
              </a:rPr>
              <a:t>+</a:t>
            </a:r>
            <a:r>
              <a:rPr lang="en">
                <a:solidFill>
                  <a:schemeClr val="accent5"/>
                </a:solidFill>
              </a:rPr>
              <a:t> </a:t>
            </a:r>
            <a:r>
              <a:rPr lang="en">
                <a:solidFill>
                  <a:schemeClr val="accent4"/>
                </a:solidFill>
              </a:rPr>
              <a:t>[c]</a:t>
            </a:r>
            <a:r>
              <a:rPr baseline="-25000" lang="en">
                <a:solidFill>
                  <a:schemeClr val="accent4"/>
                </a:solidFill>
              </a:rPr>
              <a:t>A</a:t>
            </a:r>
            <a:r>
              <a:rPr lang="en">
                <a:solidFill>
                  <a:schemeClr val="accent4"/>
                </a:solidFill>
              </a:rPr>
              <a:t>  =  4			       </a:t>
            </a:r>
            <a:r>
              <a:rPr lang="en">
                <a:solidFill>
                  <a:schemeClr val="accent2"/>
                </a:solidFill>
              </a:rPr>
              <a:t>+</a:t>
            </a:r>
            <a:r>
              <a:rPr lang="en">
                <a:solidFill>
                  <a:schemeClr val="accent4"/>
                </a:solidFill>
              </a:rPr>
              <a:t> [c]</a:t>
            </a:r>
            <a:r>
              <a:rPr baseline="-25000" lang="en">
                <a:solidFill>
                  <a:schemeClr val="accent4"/>
                </a:solidFill>
              </a:rPr>
              <a:t>B</a:t>
            </a:r>
            <a:r>
              <a:rPr lang="en">
                <a:solidFill>
                  <a:schemeClr val="accent4"/>
                </a:solidFill>
              </a:rPr>
              <a:t>  = 2			  </a:t>
            </a:r>
            <a:r>
              <a:rPr lang="en">
                <a:solidFill>
                  <a:schemeClr val="accent2"/>
                </a:solidFill>
              </a:rPr>
              <a:t>+</a:t>
            </a:r>
            <a:r>
              <a:rPr lang="en">
                <a:solidFill>
                  <a:schemeClr val="accent4"/>
                </a:solidFill>
              </a:rPr>
              <a:t> [c]</a:t>
            </a:r>
            <a:r>
              <a:rPr baseline="-25000" lang="en">
                <a:solidFill>
                  <a:schemeClr val="accent4"/>
                </a:solidFill>
              </a:rPr>
              <a:t>C</a:t>
            </a:r>
            <a:r>
              <a:rPr lang="en">
                <a:solidFill>
                  <a:schemeClr val="accent4"/>
                </a:solidFill>
              </a:rPr>
              <a:t>  = 0</a:t>
            </a:r>
            <a:endParaRPr>
              <a:solidFill>
                <a:schemeClr val="accent4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</a:rPr>
              <a:t> </a:t>
            </a:r>
            <a:endParaRPr>
              <a:solidFill>
                <a:schemeClr val="accent2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2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2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>
              <a:solidFill>
                <a:schemeClr val="accent2"/>
              </a:solidFill>
            </a:endParaRPr>
          </a:p>
        </p:txBody>
      </p:sp>
      <p:cxnSp>
        <p:nvCxnSpPr>
          <p:cNvPr id="630" name="Google Shape;630;p49"/>
          <p:cNvCxnSpPr/>
          <p:nvPr/>
        </p:nvCxnSpPr>
        <p:spPr>
          <a:xfrm>
            <a:off x="599200" y="3123725"/>
            <a:ext cx="1257900" cy="0"/>
          </a:xfrm>
          <a:prstGeom prst="straightConnector1">
            <a:avLst/>
          </a:prstGeom>
          <a:noFill/>
          <a:ln cap="flat" cmpd="sng" w="952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31" name="Google Shape;631;p49"/>
          <p:cNvCxnSpPr/>
          <p:nvPr/>
        </p:nvCxnSpPr>
        <p:spPr>
          <a:xfrm>
            <a:off x="3017725" y="3123725"/>
            <a:ext cx="1257900" cy="0"/>
          </a:xfrm>
          <a:prstGeom prst="straightConnector1">
            <a:avLst/>
          </a:prstGeom>
          <a:noFill/>
          <a:ln cap="flat" cmpd="sng" w="952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32" name="Google Shape;632;p49"/>
          <p:cNvCxnSpPr/>
          <p:nvPr/>
        </p:nvCxnSpPr>
        <p:spPr>
          <a:xfrm>
            <a:off x="5458950" y="3123725"/>
            <a:ext cx="1257900" cy="0"/>
          </a:xfrm>
          <a:prstGeom prst="straightConnector1">
            <a:avLst/>
          </a:prstGeom>
          <a:noFill/>
          <a:ln cap="flat" cmpd="sng" w="952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33" name="Google Shape;633;p49"/>
          <p:cNvCxnSpPr/>
          <p:nvPr/>
        </p:nvCxnSpPr>
        <p:spPr>
          <a:xfrm>
            <a:off x="7834875" y="3123725"/>
            <a:ext cx="1257900" cy="0"/>
          </a:xfrm>
          <a:prstGeom prst="straightConnector1">
            <a:avLst/>
          </a:prstGeom>
          <a:noFill/>
          <a:ln cap="flat" cmpd="sng" w="952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7" name="Shape 6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8" name="Google Shape;638;p50"/>
          <p:cNvSpPr txBox="1"/>
          <p:nvPr>
            <p:ph type="title"/>
          </p:nvPr>
        </p:nvSpPr>
        <p:spPr>
          <a:xfrm>
            <a:off x="0" y="0"/>
            <a:ext cx="914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Voting, version 2</a:t>
            </a:r>
            <a:endParaRPr/>
          </a:p>
        </p:txBody>
      </p:sp>
      <p:pic>
        <p:nvPicPr>
          <p:cNvPr id="639" name="Google Shape;639;p5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02696" y="1106363"/>
            <a:ext cx="554130" cy="554131"/>
          </a:xfrm>
          <a:prstGeom prst="rect">
            <a:avLst/>
          </a:prstGeom>
          <a:noFill/>
          <a:ln>
            <a:noFill/>
          </a:ln>
        </p:spPr>
      </p:pic>
      <p:pic>
        <p:nvPicPr>
          <p:cNvPr id="640" name="Google Shape;640;p5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47071" y="1106375"/>
            <a:ext cx="554125" cy="554132"/>
          </a:xfrm>
          <a:prstGeom prst="rect">
            <a:avLst/>
          </a:prstGeom>
          <a:noFill/>
          <a:ln>
            <a:noFill/>
          </a:ln>
        </p:spPr>
      </p:pic>
      <p:sp>
        <p:nvSpPr>
          <p:cNvPr id="641" name="Google Shape;641;p50"/>
          <p:cNvSpPr txBox="1"/>
          <p:nvPr/>
        </p:nvSpPr>
        <p:spPr>
          <a:xfrm>
            <a:off x="3048152" y="598475"/>
            <a:ext cx="978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Alice</a:t>
            </a:r>
            <a:br>
              <a:rPr lang="en">
                <a:solidFill>
                  <a:schemeClr val="dk1"/>
                </a:solidFill>
              </a:rPr>
            </a:br>
            <a:r>
              <a:rPr lang="en">
                <a:solidFill>
                  <a:schemeClr val="accent6"/>
                </a:solidFill>
              </a:rPr>
              <a:t>a=1 (Yes)</a:t>
            </a:r>
            <a:endParaRPr>
              <a:solidFill>
                <a:schemeClr val="accent6"/>
              </a:solidFill>
            </a:endParaRPr>
          </a:p>
        </p:txBody>
      </p:sp>
      <p:sp>
        <p:nvSpPr>
          <p:cNvPr id="642" name="Google Shape;642;p50"/>
          <p:cNvSpPr txBox="1"/>
          <p:nvPr/>
        </p:nvSpPr>
        <p:spPr>
          <a:xfrm>
            <a:off x="5540400" y="614325"/>
            <a:ext cx="945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Bob</a:t>
            </a:r>
            <a:br>
              <a:rPr lang="en">
                <a:solidFill>
                  <a:schemeClr val="dk1"/>
                </a:solidFill>
              </a:rPr>
            </a:br>
            <a:r>
              <a:rPr lang="en">
                <a:solidFill>
                  <a:schemeClr val="accent5"/>
                </a:solidFill>
              </a:rPr>
              <a:t>b=0 (No)</a:t>
            </a:r>
            <a:endParaRPr>
              <a:solidFill>
                <a:schemeClr val="accent5"/>
              </a:solidFill>
            </a:endParaRPr>
          </a:p>
        </p:txBody>
      </p:sp>
      <p:pic>
        <p:nvPicPr>
          <p:cNvPr id="643" name="Google Shape;643;p5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107500" y="1106374"/>
            <a:ext cx="554125" cy="554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44" name="Google Shape;644;p5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697150" y="1106368"/>
            <a:ext cx="554130" cy="554131"/>
          </a:xfrm>
          <a:prstGeom prst="rect">
            <a:avLst/>
          </a:prstGeom>
          <a:noFill/>
          <a:ln>
            <a:noFill/>
          </a:ln>
        </p:spPr>
      </p:pic>
      <p:sp>
        <p:nvSpPr>
          <p:cNvPr id="645" name="Google Shape;645;p50"/>
          <p:cNvSpPr txBox="1"/>
          <p:nvPr/>
        </p:nvSpPr>
        <p:spPr>
          <a:xfrm>
            <a:off x="7941075" y="614325"/>
            <a:ext cx="945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Carlos</a:t>
            </a:r>
            <a:br>
              <a:rPr lang="en">
                <a:solidFill>
                  <a:schemeClr val="dk1"/>
                </a:solidFill>
              </a:rPr>
            </a:br>
            <a:r>
              <a:rPr lang="en">
                <a:solidFill>
                  <a:schemeClr val="accent4"/>
                </a:solidFill>
              </a:rPr>
              <a:t>c=1 (Yes)</a:t>
            </a:r>
            <a:endParaRPr>
              <a:solidFill>
                <a:schemeClr val="accent4"/>
              </a:solidFill>
            </a:endParaRPr>
          </a:p>
        </p:txBody>
      </p:sp>
      <p:sp>
        <p:nvSpPr>
          <p:cNvPr id="646" name="Google Shape;646;p50"/>
          <p:cNvSpPr txBox="1"/>
          <p:nvPr/>
        </p:nvSpPr>
        <p:spPr>
          <a:xfrm>
            <a:off x="903651" y="585925"/>
            <a:ext cx="9621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Sarah</a:t>
            </a:r>
            <a:br>
              <a:rPr lang="en">
                <a:solidFill>
                  <a:schemeClr val="dk1"/>
                </a:solidFill>
              </a:rPr>
            </a:br>
            <a:r>
              <a:rPr lang="en">
                <a:solidFill>
                  <a:srgbClr val="B4A7D6"/>
                </a:solidFill>
              </a:rPr>
              <a:t>s=1 (Yes)</a:t>
            </a:r>
            <a:endParaRPr>
              <a:solidFill>
                <a:srgbClr val="B4A7D6"/>
              </a:solidFill>
            </a:endParaRPr>
          </a:p>
        </p:txBody>
      </p:sp>
      <p:sp>
        <p:nvSpPr>
          <p:cNvPr id="647" name="Google Shape;647;p50"/>
          <p:cNvSpPr txBox="1"/>
          <p:nvPr>
            <p:ph idx="1" type="body"/>
          </p:nvPr>
        </p:nvSpPr>
        <p:spPr>
          <a:xfrm>
            <a:off x="320050" y="1660500"/>
            <a:ext cx="8859300" cy="324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	</a:t>
            </a:r>
            <a:r>
              <a:rPr lang="en">
                <a:solidFill>
                  <a:srgbClr val="B4A7D6"/>
                </a:solidFill>
              </a:rPr>
              <a:t>[s]</a:t>
            </a:r>
            <a:r>
              <a:rPr baseline="-25000" lang="en">
                <a:solidFill>
                  <a:srgbClr val="B4A7D6"/>
                </a:solidFill>
              </a:rPr>
              <a:t>S</a:t>
            </a:r>
            <a:r>
              <a:rPr lang="en">
                <a:solidFill>
                  <a:srgbClr val="B4A7D6"/>
                </a:solidFill>
              </a:rPr>
              <a:t> = 3				[s]</a:t>
            </a:r>
            <a:r>
              <a:rPr baseline="-25000" lang="en">
                <a:solidFill>
                  <a:srgbClr val="B4A7D6"/>
                </a:solidFill>
              </a:rPr>
              <a:t>A</a:t>
            </a:r>
            <a:r>
              <a:rPr lang="en">
                <a:solidFill>
                  <a:srgbClr val="B4A7D6"/>
                </a:solidFill>
              </a:rPr>
              <a:t>  =  1				   [s]</a:t>
            </a:r>
            <a:r>
              <a:rPr baseline="-25000" lang="en">
                <a:solidFill>
                  <a:srgbClr val="B4A7D6"/>
                </a:solidFill>
              </a:rPr>
              <a:t>B </a:t>
            </a:r>
            <a:r>
              <a:rPr lang="en">
                <a:solidFill>
                  <a:srgbClr val="B4A7D6"/>
                </a:solidFill>
              </a:rPr>
              <a:t>  = 4			     [s]</a:t>
            </a:r>
            <a:r>
              <a:rPr baseline="-25000" lang="en">
                <a:solidFill>
                  <a:srgbClr val="B4A7D6"/>
                </a:solidFill>
              </a:rPr>
              <a:t>C</a:t>
            </a:r>
            <a:r>
              <a:rPr lang="en">
                <a:solidFill>
                  <a:srgbClr val="B4A7D6"/>
                </a:solidFill>
              </a:rPr>
              <a:t>  = 3</a:t>
            </a:r>
            <a:br>
              <a:rPr lang="en"/>
            </a:br>
            <a:r>
              <a:rPr lang="en"/>
              <a:t>	</a:t>
            </a:r>
            <a:r>
              <a:rPr lang="en">
                <a:solidFill>
                  <a:schemeClr val="accent6"/>
                </a:solidFill>
              </a:rPr>
              <a:t>[a]</a:t>
            </a:r>
            <a:r>
              <a:rPr baseline="-25000" lang="en">
                <a:solidFill>
                  <a:schemeClr val="accent6"/>
                </a:solidFill>
              </a:rPr>
              <a:t>S</a:t>
            </a:r>
            <a:r>
              <a:rPr lang="en">
                <a:solidFill>
                  <a:schemeClr val="accent6"/>
                </a:solidFill>
              </a:rPr>
              <a:t> = 2	</a:t>
            </a:r>
            <a:r>
              <a:rPr lang="en"/>
              <a:t>			</a:t>
            </a:r>
            <a:r>
              <a:rPr lang="en">
                <a:solidFill>
                  <a:schemeClr val="accent6"/>
                </a:solidFill>
              </a:rPr>
              <a:t>[a]</a:t>
            </a:r>
            <a:r>
              <a:rPr baseline="-25000" lang="en">
                <a:solidFill>
                  <a:schemeClr val="accent6"/>
                </a:solidFill>
              </a:rPr>
              <a:t>A</a:t>
            </a:r>
            <a:r>
              <a:rPr lang="en">
                <a:solidFill>
                  <a:schemeClr val="accent6"/>
                </a:solidFill>
              </a:rPr>
              <a:t>  =  2				   [a]</a:t>
            </a:r>
            <a:r>
              <a:rPr baseline="-25000" lang="en">
                <a:solidFill>
                  <a:schemeClr val="accent6"/>
                </a:solidFill>
              </a:rPr>
              <a:t>B</a:t>
            </a:r>
            <a:r>
              <a:rPr lang="en">
                <a:solidFill>
                  <a:schemeClr val="accent6"/>
                </a:solidFill>
              </a:rPr>
              <a:t>  = 4			     [a]</a:t>
            </a:r>
            <a:r>
              <a:rPr baseline="-25000" lang="en">
                <a:solidFill>
                  <a:schemeClr val="accent6"/>
                </a:solidFill>
              </a:rPr>
              <a:t>C</a:t>
            </a:r>
            <a:r>
              <a:rPr lang="en">
                <a:solidFill>
                  <a:schemeClr val="accent6"/>
                </a:solidFill>
              </a:rPr>
              <a:t>  = 3</a:t>
            </a:r>
            <a:r>
              <a:rPr lang="en">
                <a:solidFill>
                  <a:schemeClr val="accent5"/>
                </a:solidFill>
              </a:rPr>
              <a:t>	[b]</a:t>
            </a:r>
            <a:r>
              <a:rPr baseline="-25000" lang="en">
                <a:solidFill>
                  <a:schemeClr val="accent5"/>
                </a:solidFill>
              </a:rPr>
              <a:t>S</a:t>
            </a:r>
            <a:r>
              <a:rPr lang="en">
                <a:solidFill>
                  <a:schemeClr val="accent5"/>
                </a:solidFill>
              </a:rPr>
              <a:t> = 4		</a:t>
            </a:r>
            <a:r>
              <a:rPr lang="en"/>
              <a:t>		</a:t>
            </a:r>
            <a:r>
              <a:rPr lang="en">
                <a:solidFill>
                  <a:schemeClr val="accent5"/>
                </a:solidFill>
              </a:rPr>
              <a:t>[b]</a:t>
            </a:r>
            <a:r>
              <a:rPr baseline="-25000" lang="en">
                <a:solidFill>
                  <a:schemeClr val="accent5"/>
                </a:solidFill>
              </a:rPr>
              <a:t>A</a:t>
            </a:r>
            <a:r>
              <a:rPr lang="en">
                <a:solidFill>
                  <a:schemeClr val="accent5"/>
                </a:solidFill>
              </a:rPr>
              <a:t>  =  2				   [b]</a:t>
            </a:r>
            <a:r>
              <a:rPr baseline="-25000" lang="en">
                <a:solidFill>
                  <a:schemeClr val="accent5"/>
                </a:solidFill>
              </a:rPr>
              <a:t>B</a:t>
            </a:r>
            <a:r>
              <a:rPr lang="en">
                <a:solidFill>
                  <a:schemeClr val="accent5"/>
                </a:solidFill>
              </a:rPr>
              <a:t>  = 3			     [b]</a:t>
            </a:r>
            <a:r>
              <a:rPr baseline="-25000" lang="en">
                <a:solidFill>
                  <a:schemeClr val="accent5"/>
                </a:solidFill>
              </a:rPr>
              <a:t>C</a:t>
            </a:r>
            <a:r>
              <a:rPr lang="en">
                <a:solidFill>
                  <a:schemeClr val="accent5"/>
                </a:solidFill>
              </a:rPr>
              <a:t>  = 1</a:t>
            </a:r>
            <a:br>
              <a:rPr lang="en">
                <a:solidFill>
                  <a:schemeClr val="accent5"/>
                </a:solidFill>
              </a:rPr>
            </a:br>
            <a:r>
              <a:rPr lang="en">
                <a:solidFill>
                  <a:schemeClr val="accent4"/>
                </a:solidFill>
              </a:rPr>
              <a:t>    </a:t>
            </a:r>
            <a:r>
              <a:rPr lang="en">
                <a:solidFill>
                  <a:schemeClr val="accent2"/>
                </a:solidFill>
              </a:rPr>
              <a:t>+</a:t>
            </a:r>
            <a:r>
              <a:rPr lang="en">
                <a:solidFill>
                  <a:schemeClr val="accent4"/>
                </a:solidFill>
              </a:rPr>
              <a:t> [c]</a:t>
            </a:r>
            <a:r>
              <a:rPr baseline="-25000" lang="en">
                <a:solidFill>
                  <a:schemeClr val="accent4"/>
                </a:solidFill>
              </a:rPr>
              <a:t>S</a:t>
            </a:r>
            <a:r>
              <a:rPr lang="en">
                <a:solidFill>
                  <a:schemeClr val="accent4"/>
                </a:solidFill>
              </a:rPr>
              <a:t> = 0</a:t>
            </a:r>
            <a:r>
              <a:rPr lang="en">
                <a:solidFill>
                  <a:schemeClr val="accent5"/>
                </a:solidFill>
              </a:rPr>
              <a:t>			    </a:t>
            </a:r>
            <a:r>
              <a:rPr lang="en">
                <a:solidFill>
                  <a:schemeClr val="accent2"/>
                </a:solidFill>
              </a:rPr>
              <a:t>+</a:t>
            </a:r>
            <a:r>
              <a:rPr lang="en">
                <a:solidFill>
                  <a:schemeClr val="accent5"/>
                </a:solidFill>
              </a:rPr>
              <a:t> </a:t>
            </a:r>
            <a:r>
              <a:rPr lang="en">
                <a:solidFill>
                  <a:schemeClr val="accent4"/>
                </a:solidFill>
              </a:rPr>
              <a:t>[c]</a:t>
            </a:r>
            <a:r>
              <a:rPr baseline="-25000" lang="en">
                <a:solidFill>
                  <a:schemeClr val="accent4"/>
                </a:solidFill>
              </a:rPr>
              <a:t>A</a:t>
            </a:r>
            <a:r>
              <a:rPr lang="en">
                <a:solidFill>
                  <a:schemeClr val="accent4"/>
                </a:solidFill>
              </a:rPr>
              <a:t>  =  4			       </a:t>
            </a:r>
            <a:r>
              <a:rPr lang="en">
                <a:solidFill>
                  <a:schemeClr val="accent2"/>
                </a:solidFill>
              </a:rPr>
              <a:t>+</a:t>
            </a:r>
            <a:r>
              <a:rPr lang="en">
                <a:solidFill>
                  <a:schemeClr val="accent4"/>
                </a:solidFill>
              </a:rPr>
              <a:t> [c]</a:t>
            </a:r>
            <a:r>
              <a:rPr baseline="-25000" lang="en">
                <a:solidFill>
                  <a:schemeClr val="accent4"/>
                </a:solidFill>
              </a:rPr>
              <a:t>B</a:t>
            </a:r>
            <a:r>
              <a:rPr lang="en">
                <a:solidFill>
                  <a:schemeClr val="accent4"/>
                </a:solidFill>
              </a:rPr>
              <a:t>  = 2			  </a:t>
            </a:r>
            <a:r>
              <a:rPr lang="en">
                <a:solidFill>
                  <a:schemeClr val="accent2"/>
                </a:solidFill>
              </a:rPr>
              <a:t>+</a:t>
            </a:r>
            <a:r>
              <a:rPr lang="en">
                <a:solidFill>
                  <a:schemeClr val="accent4"/>
                </a:solidFill>
              </a:rPr>
              <a:t> [c]</a:t>
            </a:r>
            <a:r>
              <a:rPr baseline="-25000" lang="en">
                <a:solidFill>
                  <a:schemeClr val="accent4"/>
                </a:solidFill>
              </a:rPr>
              <a:t>C</a:t>
            </a:r>
            <a:r>
              <a:rPr lang="en">
                <a:solidFill>
                  <a:schemeClr val="accent4"/>
                </a:solidFill>
              </a:rPr>
              <a:t>  = 0</a:t>
            </a:r>
            <a:endParaRPr>
              <a:solidFill>
                <a:schemeClr val="accent4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</a:rPr>
              <a:t>  [sum]</a:t>
            </a:r>
            <a:r>
              <a:rPr baseline="-25000" lang="en">
                <a:solidFill>
                  <a:schemeClr val="accent2"/>
                </a:solidFill>
              </a:rPr>
              <a:t>S</a:t>
            </a:r>
            <a:r>
              <a:rPr lang="en">
                <a:solidFill>
                  <a:schemeClr val="accent2"/>
                </a:solidFill>
              </a:rPr>
              <a:t> = 4			   [sum]</a:t>
            </a:r>
            <a:r>
              <a:rPr baseline="-25000" lang="en">
                <a:solidFill>
                  <a:schemeClr val="accent2"/>
                </a:solidFill>
              </a:rPr>
              <a:t>A</a:t>
            </a:r>
            <a:r>
              <a:rPr lang="en">
                <a:solidFill>
                  <a:schemeClr val="accent2"/>
                </a:solidFill>
              </a:rPr>
              <a:t> = 4			      [sum]</a:t>
            </a:r>
            <a:r>
              <a:rPr baseline="-25000" lang="en">
                <a:solidFill>
                  <a:schemeClr val="accent2"/>
                </a:solidFill>
              </a:rPr>
              <a:t>B</a:t>
            </a:r>
            <a:r>
              <a:rPr lang="en">
                <a:solidFill>
                  <a:schemeClr val="accent2"/>
                </a:solidFill>
              </a:rPr>
              <a:t> = 3			 [sum]</a:t>
            </a:r>
            <a:r>
              <a:rPr baseline="-25000" lang="en">
                <a:solidFill>
                  <a:schemeClr val="accent2"/>
                </a:solidFill>
              </a:rPr>
              <a:t>C</a:t>
            </a:r>
            <a:r>
              <a:rPr lang="en">
                <a:solidFill>
                  <a:schemeClr val="accent2"/>
                </a:solidFill>
              </a:rPr>
              <a:t> = 2</a:t>
            </a:r>
            <a:endParaRPr>
              <a:solidFill>
                <a:schemeClr val="accent2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2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2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>
              <a:solidFill>
                <a:schemeClr val="accent2"/>
              </a:solidFill>
            </a:endParaRPr>
          </a:p>
        </p:txBody>
      </p:sp>
      <p:cxnSp>
        <p:nvCxnSpPr>
          <p:cNvPr id="648" name="Google Shape;648;p50"/>
          <p:cNvCxnSpPr/>
          <p:nvPr/>
        </p:nvCxnSpPr>
        <p:spPr>
          <a:xfrm>
            <a:off x="599200" y="3123725"/>
            <a:ext cx="1257900" cy="0"/>
          </a:xfrm>
          <a:prstGeom prst="straightConnector1">
            <a:avLst/>
          </a:prstGeom>
          <a:noFill/>
          <a:ln cap="flat" cmpd="sng" w="952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49" name="Google Shape;649;p50"/>
          <p:cNvCxnSpPr/>
          <p:nvPr/>
        </p:nvCxnSpPr>
        <p:spPr>
          <a:xfrm>
            <a:off x="3017725" y="3123725"/>
            <a:ext cx="1257900" cy="0"/>
          </a:xfrm>
          <a:prstGeom prst="straightConnector1">
            <a:avLst/>
          </a:prstGeom>
          <a:noFill/>
          <a:ln cap="flat" cmpd="sng" w="952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50" name="Google Shape;650;p50"/>
          <p:cNvCxnSpPr/>
          <p:nvPr/>
        </p:nvCxnSpPr>
        <p:spPr>
          <a:xfrm>
            <a:off x="5458950" y="3123725"/>
            <a:ext cx="1257900" cy="0"/>
          </a:xfrm>
          <a:prstGeom prst="straightConnector1">
            <a:avLst/>
          </a:prstGeom>
          <a:noFill/>
          <a:ln cap="flat" cmpd="sng" w="952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51" name="Google Shape;651;p50"/>
          <p:cNvCxnSpPr/>
          <p:nvPr/>
        </p:nvCxnSpPr>
        <p:spPr>
          <a:xfrm>
            <a:off x="7834875" y="3123725"/>
            <a:ext cx="1257900" cy="0"/>
          </a:xfrm>
          <a:prstGeom prst="straightConnector1">
            <a:avLst/>
          </a:prstGeom>
          <a:noFill/>
          <a:ln cap="flat" cmpd="sng" w="952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5" name="Shape 6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6" name="Google Shape;656;p51"/>
          <p:cNvSpPr txBox="1"/>
          <p:nvPr>
            <p:ph type="title"/>
          </p:nvPr>
        </p:nvSpPr>
        <p:spPr>
          <a:xfrm>
            <a:off x="0" y="0"/>
            <a:ext cx="914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Voting, version 2</a:t>
            </a:r>
            <a:endParaRPr/>
          </a:p>
        </p:txBody>
      </p:sp>
      <p:pic>
        <p:nvPicPr>
          <p:cNvPr id="657" name="Google Shape;657;p5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02696" y="1106363"/>
            <a:ext cx="554130" cy="554131"/>
          </a:xfrm>
          <a:prstGeom prst="rect">
            <a:avLst/>
          </a:prstGeom>
          <a:noFill/>
          <a:ln>
            <a:noFill/>
          </a:ln>
        </p:spPr>
      </p:pic>
      <p:pic>
        <p:nvPicPr>
          <p:cNvPr id="658" name="Google Shape;658;p5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47071" y="1106375"/>
            <a:ext cx="554125" cy="554132"/>
          </a:xfrm>
          <a:prstGeom prst="rect">
            <a:avLst/>
          </a:prstGeom>
          <a:noFill/>
          <a:ln>
            <a:noFill/>
          </a:ln>
        </p:spPr>
      </p:pic>
      <p:sp>
        <p:nvSpPr>
          <p:cNvPr id="659" name="Google Shape;659;p51"/>
          <p:cNvSpPr txBox="1"/>
          <p:nvPr/>
        </p:nvSpPr>
        <p:spPr>
          <a:xfrm>
            <a:off x="3048152" y="598475"/>
            <a:ext cx="978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Alice</a:t>
            </a:r>
            <a:br>
              <a:rPr lang="en">
                <a:solidFill>
                  <a:schemeClr val="dk1"/>
                </a:solidFill>
              </a:rPr>
            </a:br>
            <a:r>
              <a:rPr lang="en">
                <a:solidFill>
                  <a:schemeClr val="accent6"/>
                </a:solidFill>
              </a:rPr>
              <a:t>a=1 (Yes)</a:t>
            </a:r>
            <a:endParaRPr>
              <a:solidFill>
                <a:schemeClr val="accent6"/>
              </a:solidFill>
            </a:endParaRPr>
          </a:p>
        </p:txBody>
      </p:sp>
      <p:sp>
        <p:nvSpPr>
          <p:cNvPr id="660" name="Google Shape;660;p51"/>
          <p:cNvSpPr txBox="1"/>
          <p:nvPr/>
        </p:nvSpPr>
        <p:spPr>
          <a:xfrm>
            <a:off x="5540400" y="614325"/>
            <a:ext cx="945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Bob</a:t>
            </a:r>
            <a:br>
              <a:rPr lang="en">
                <a:solidFill>
                  <a:schemeClr val="dk1"/>
                </a:solidFill>
              </a:rPr>
            </a:br>
            <a:r>
              <a:rPr lang="en">
                <a:solidFill>
                  <a:schemeClr val="accent5"/>
                </a:solidFill>
              </a:rPr>
              <a:t>b=0 (No)</a:t>
            </a:r>
            <a:endParaRPr>
              <a:solidFill>
                <a:schemeClr val="accent5"/>
              </a:solidFill>
            </a:endParaRPr>
          </a:p>
        </p:txBody>
      </p:sp>
      <p:pic>
        <p:nvPicPr>
          <p:cNvPr id="661" name="Google Shape;661;p5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107500" y="1106374"/>
            <a:ext cx="554125" cy="554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62" name="Google Shape;662;p5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697150" y="1106368"/>
            <a:ext cx="554130" cy="554131"/>
          </a:xfrm>
          <a:prstGeom prst="rect">
            <a:avLst/>
          </a:prstGeom>
          <a:noFill/>
          <a:ln>
            <a:noFill/>
          </a:ln>
        </p:spPr>
      </p:pic>
      <p:sp>
        <p:nvSpPr>
          <p:cNvPr id="663" name="Google Shape;663;p51"/>
          <p:cNvSpPr txBox="1"/>
          <p:nvPr/>
        </p:nvSpPr>
        <p:spPr>
          <a:xfrm>
            <a:off x="7941075" y="614325"/>
            <a:ext cx="945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Carlos</a:t>
            </a:r>
            <a:br>
              <a:rPr lang="en">
                <a:solidFill>
                  <a:schemeClr val="dk1"/>
                </a:solidFill>
              </a:rPr>
            </a:br>
            <a:r>
              <a:rPr lang="en">
                <a:solidFill>
                  <a:schemeClr val="accent4"/>
                </a:solidFill>
              </a:rPr>
              <a:t>c=1 (Yes)</a:t>
            </a:r>
            <a:endParaRPr>
              <a:solidFill>
                <a:schemeClr val="accent4"/>
              </a:solidFill>
            </a:endParaRPr>
          </a:p>
        </p:txBody>
      </p:sp>
      <p:sp>
        <p:nvSpPr>
          <p:cNvPr id="664" name="Google Shape;664;p51"/>
          <p:cNvSpPr txBox="1"/>
          <p:nvPr/>
        </p:nvSpPr>
        <p:spPr>
          <a:xfrm>
            <a:off x="903651" y="585925"/>
            <a:ext cx="9621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Sarah</a:t>
            </a:r>
            <a:br>
              <a:rPr lang="en">
                <a:solidFill>
                  <a:schemeClr val="dk1"/>
                </a:solidFill>
              </a:rPr>
            </a:br>
            <a:r>
              <a:rPr lang="en">
                <a:solidFill>
                  <a:srgbClr val="B4A7D6"/>
                </a:solidFill>
              </a:rPr>
              <a:t>s=1 (Yes)</a:t>
            </a:r>
            <a:endParaRPr>
              <a:solidFill>
                <a:srgbClr val="B4A7D6"/>
              </a:solidFill>
            </a:endParaRPr>
          </a:p>
        </p:txBody>
      </p:sp>
      <p:sp>
        <p:nvSpPr>
          <p:cNvPr id="665" name="Google Shape;665;p51"/>
          <p:cNvSpPr txBox="1"/>
          <p:nvPr>
            <p:ph idx="1" type="body"/>
          </p:nvPr>
        </p:nvSpPr>
        <p:spPr>
          <a:xfrm>
            <a:off x="320050" y="1660500"/>
            <a:ext cx="8859300" cy="324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	</a:t>
            </a:r>
            <a:r>
              <a:rPr lang="en">
                <a:solidFill>
                  <a:srgbClr val="B4A7D6"/>
                </a:solidFill>
              </a:rPr>
              <a:t>[s]</a:t>
            </a:r>
            <a:r>
              <a:rPr baseline="-25000" lang="en">
                <a:solidFill>
                  <a:srgbClr val="B4A7D6"/>
                </a:solidFill>
              </a:rPr>
              <a:t>S</a:t>
            </a:r>
            <a:r>
              <a:rPr lang="en">
                <a:solidFill>
                  <a:srgbClr val="B4A7D6"/>
                </a:solidFill>
              </a:rPr>
              <a:t> = 3				[s]</a:t>
            </a:r>
            <a:r>
              <a:rPr baseline="-25000" lang="en">
                <a:solidFill>
                  <a:srgbClr val="B4A7D6"/>
                </a:solidFill>
              </a:rPr>
              <a:t>A</a:t>
            </a:r>
            <a:r>
              <a:rPr lang="en">
                <a:solidFill>
                  <a:srgbClr val="B4A7D6"/>
                </a:solidFill>
              </a:rPr>
              <a:t>  =  1				   [s]</a:t>
            </a:r>
            <a:r>
              <a:rPr baseline="-25000" lang="en">
                <a:solidFill>
                  <a:srgbClr val="B4A7D6"/>
                </a:solidFill>
              </a:rPr>
              <a:t>B </a:t>
            </a:r>
            <a:r>
              <a:rPr lang="en">
                <a:solidFill>
                  <a:srgbClr val="B4A7D6"/>
                </a:solidFill>
              </a:rPr>
              <a:t>  = 4			     [s]</a:t>
            </a:r>
            <a:r>
              <a:rPr baseline="-25000" lang="en">
                <a:solidFill>
                  <a:srgbClr val="B4A7D6"/>
                </a:solidFill>
              </a:rPr>
              <a:t>C</a:t>
            </a:r>
            <a:r>
              <a:rPr lang="en">
                <a:solidFill>
                  <a:srgbClr val="B4A7D6"/>
                </a:solidFill>
              </a:rPr>
              <a:t>  = 3</a:t>
            </a:r>
            <a:br>
              <a:rPr lang="en"/>
            </a:br>
            <a:r>
              <a:rPr lang="en"/>
              <a:t>	</a:t>
            </a:r>
            <a:r>
              <a:rPr lang="en">
                <a:solidFill>
                  <a:schemeClr val="accent6"/>
                </a:solidFill>
              </a:rPr>
              <a:t>[a]</a:t>
            </a:r>
            <a:r>
              <a:rPr baseline="-25000" lang="en">
                <a:solidFill>
                  <a:schemeClr val="accent6"/>
                </a:solidFill>
              </a:rPr>
              <a:t>S</a:t>
            </a:r>
            <a:r>
              <a:rPr lang="en">
                <a:solidFill>
                  <a:schemeClr val="accent6"/>
                </a:solidFill>
              </a:rPr>
              <a:t> = 2	</a:t>
            </a:r>
            <a:r>
              <a:rPr lang="en"/>
              <a:t>			</a:t>
            </a:r>
            <a:r>
              <a:rPr lang="en">
                <a:solidFill>
                  <a:schemeClr val="accent6"/>
                </a:solidFill>
              </a:rPr>
              <a:t>[a]</a:t>
            </a:r>
            <a:r>
              <a:rPr baseline="-25000" lang="en">
                <a:solidFill>
                  <a:schemeClr val="accent6"/>
                </a:solidFill>
              </a:rPr>
              <a:t>A</a:t>
            </a:r>
            <a:r>
              <a:rPr lang="en">
                <a:solidFill>
                  <a:schemeClr val="accent6"/>
                </a:solidFill>
              </a:rPr>
              <a:t>  =  2				   [a]</a:t>
            </a:r>
            <a:r>
              <a:rPr baseline="-25000" lang="en">
                <a:solidFill>
                  <a:schemeClr val="accent6"/>
                </a:solidFill>
              </a:rPr>
              <a:t>B</a:t>
            </a:r>
            <a:r>
              <a:rPr lang="en">
                <a:solidFill>
                  <a:schemeClr val="accent6"/>
                </a:solidFill>
              </a:rPr>
              <a:t>  = 4			     [a]</a:t>
            </a:r>
            <a:r>
              <a:rPr baseline="-25000" lang="en">
                <a:solidFill>
                  <a:schemeClr val="accent6"/>
                </a:solidFill>
              </a:rPr>
              <a:t>C</a:t>
            </a:r>
            <a:r>
              <a:rPr lang="en">
                <a:solidFill>
                  <a:schemeClr val="accent6"/>
                </a:solidFill>
              </a:rPr>
              <a:t>  = 3</a:t>
            </a:r>
            <a:r>
              <a:rPr lang="en">
                <a:solidFill>
                  <a:schemeClr val="accent5"/>
                </a:solidFill>
              </a:rPr>
              <a:t>	[b]</a:t>
            </a:r>
            <a:r>
              <a:rPr baseline="-25000" lang="en">
                <a:solidFill>
                  <a:schemeClr val="accent5"/>
                </a:solidFill>
              </a:rPr>
              <a:t>S</a:t>
            </a:r>
            <a:r>
              <a:rPr lang="en">
                <a:solidFill>
                  <a:schemeClr val="accent5"/>
                </a:solidFill>
              </a:rPr>
              <a:t> = 4		</a:t>
            </a:r>
            <a:r>
              <a:rPr lang="en"/>
              <a:t>		</a:t>
            </a:r>
            <a:r>
              <a:rPr lang="en">
                <a:solidFill>
                  <a:schemeClr val="accent5"/>
                </a:solidFill>
              </a:rPr>
              <a:t>[b]</a:t>
            </a:r>
            <a:r>
              <a:rPr baseline="-25000" lang="en">
                <a:solidFill>
                  <a:schemeClr val="accent5"/>
                </a:solidFill>
              </a:rPr>
              <a:t>A</a:t>
            </a:r>
            <a:r>
              <a:rPr lang="en">
                <a:solidFill>
                  <a:schemeClr val="accent5"/>
                </a:solidFill>
              </a:rPr>
              <a:t>  =  2				   [b]</a:t>
            </a:r>
            <a:r>
              <a:rPr baseline="-25000" lang="en">
                <a:solidFill>
                  <a:schemeClr val="accent5"/>
                </a:solidFill>
              </a:rPr>
              <a:t>B</a:t>
            </a:r>
            <a:r>
              <a:rPr lang="en">
                <a:solidFill>
                  <a:schemeClr val="accent5"/>
                </a:solidFill>
              </a:rPr>
              <a:t>  = 3			     [b]</a:t>
            </a:r>
            <a:r>
              <a:rPr baseline="-25000" lang="en">
                <a:solidFill>
                  <a:schemeClr val="accent5"/>
                </a:solidFill>
              </a:rPr>
              <a:t>C</a:t>
            </a:r>
            <a:r>
              <a:rPr lang="en">
                <a:solidFill>
                  <a:schemeClr val="accent5"/>
                </a:solidFill>
              </a:rPr>
              <a:t>  = 1</a:t>
            </a:r>
            <a:br>
              <a:rPr lang="en">
                <a:solidFill>
                  <a:schemeClr val="accent5"/>
                </a:solidFill>
              </a:rPr>
            </a:br>
            <a:r>
              <a:rPr lang="en">
                <a:solidFill>
                  <a:schemeClr val="accent4"/>
                </a:solidFill>
              </a:rPr>
              <a:t>    </a:t>
            </a:r>
            <a:r>
              <a:rPr lang="en">
                <a:solidFill>
                  <a:schemeClr val="accent2"/>
                </a:solidFill>
              </a:rPr>
              <a:t>+</a:t>
            </a:r>
            <a:r>
              <a:rPr lang="en">
                <a:solidFill>
                  <a:schemeClr val="accent4"/>
                </a:solidFill>
              </a:rPr>
              <a:t> [c]</a:t>
            </a:r>
            <a:r>
              <a:rPr baseline="-25000" lang="en">
                <a:solidFill>
                  <a:schemeClr val="accent4"/>
                </a:solidFill>
              </a:rPr>
              <a:t>S</a:t>
            </a:r>
            <a:r>
              <a:rPr lang="en">
                <a:solidFill>
                  <a:schemeClr val="accent4"/>
                </a:solidFill>
              </a:rPr>
              <a:t> = 0</a:t>
            </a:r>
            <a:r>
              <a:rPr lang="en">
                <a:solidFill>
                  <a:schemeClr val="accent5"/>
                </a:solidFill>
              </a:rPr>
              <a:t>			    </a:t>
            </a:r>
            <a:r>
              <a:rPr lang="en">
                <a:solidFill>
                  <a:schemeClr val="accent2"/>
                </a:solidFill>
              </a:rPr>
              <a:t>+</a:t>
            </a:r>
            <a:r>
              <a:rPr lang="en">
                <a:solidFill>
                  <a:schemeClr val="accent5"/>
                </a:solidFill>
              </a:rPr>
              <a:t> </a:t>
            </a:r>
            <a:r>
              <a:rPr lang="en">
                <a:solidFill>
                  <a:schemeClr val="accent4"/>
                </a:solidFill>
              </a:rPr>
              <a:t>[c]</a:t>
            </a:r>
            <a:r>
              <a:rPr baseline="-25000" lang="en">
                <a:solidFill>
                  <a:schemeClr val="accent4"/>
                </a:solidFill>
              </a:rPr>
              <a:t>A</a:t>
            </a:r>
            <a:r>
              <a:rPr lang="en">
                <a:solidFill>
                  <a:schemeClr val="accent4"/>
                </a:solidFill>
              </a:rPr>
              <a:t>  =  4			       </a:t>
            </a:r>
            <a:r>
              <a:rPr lang="en">
                <a:solidFill>
                  <a:schemeClr val="accent2"/>
                </a:solidFill>
              </a:rPr>
              <a:t>+</a:t>
            </a:r>
            <a:r>
              <a:rPr lang="en">
                <a:solidFill>
                  <a:schemeClr val="accent4"/>
                </a:solidFill>
              </a:rPr>
              <a:t> [c]</a:t>
            </a:r>
            <a:r>
              <a:rPr baseline="-25000" lang="en">
                <a:solidFill>
                  <a:schemeClr val="accent4"/>
                </a:solidFill>
              </a:rPr>
              <a:t>B</a:t>
            </a:r>
            <a:r>
              <a:rPr lang="en">
                <a:solidFill>
                  <a:schemeClr val="accent4"/>
                </a:solidFill>
              </a:rPr>
              <a:t>  = 2			  </a:t>
            </a:r>
            <a:r>
              <a:rPr lang="en">
                <a:solidFill>
                  <a:schemeClr val="accent2"/>
                </a:solidFill>
              </a:rPr>
              <a:t>+</a:t>
            </a:r>
            <a:r>
              <a:rPr lang="en">
                <a:solidFill>
                  <a:schemeClr val="accent4"/>
                </a:solidFill>
              </a:rPr>
              <a:t> [c]</a:t>
            </a:r>
            <a:r>
              <a:rPr baseline="-25000" lang="en">
                <a:solidFill>
                  <a:schemeClr val="accent4"/>
                </a:solidFill>
              </a:rPr>
              <a:t>C</a:t>
            </a:r>
            <a:r>
              <a:rPr lang="en">
                <a:solidFill>
                  <a:schemeClr val="accent4"/>
                </a:solidFill>
              </a:rPr>
              <a:t>  = 0</a:t>
            </a:r>
            <a:endParaRPr>
              <a:solidFill>
                <a:schemeClr val="accent4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</a:rPr>
              <a:t>  [sum]</a:t>
            </a:r>
            <a:r>
              <a:rPr baseline="-25000" lang="en">
                <a:solidFill>
                  <a:schemeClr val="accent2"/>
                </a:solidFill>
              </a:rPr>
              <a:t>S</a:t>
            </a:r>
            <a:r>
              <a:rPr lang="en">
                <a:solidFill>
                  <a:schemeClr val="accent2"/>
                </a:solidFill>
              </a:rPr>
              <a:t> = 4			   [sum]</a:t>
            </a:r>
            <a:r>
              <a:rPr baseline="-25000" lang="en">
                <a:solidFill>
                  <a:schemeClr val="accent2"/>
                </a:solidFill>
              </a:rPr>
              <a:t>A</a:t>
            </a:r>
            <a:r>
              <a:rPr lang="en">
                <a:solidFill>
                  <a:schemeClr val="accent2"/>
                </a:solidFill>
              </a:rPr>
              <a:t> = 4			      [sum]</a:t>
            </a:r>
            <a:r>
              <a:rPr baseline="-25000" lang="en">
                <a:solidFill>
                  <a:schemeClr val="accent2"/>
                </a:solidFill>
              </a:rPr>
              <a:t>B</a:t>
            </a:r>
            <a:r>
              <a:rPr lang="en">
                <a:solidFill>
                  <a:schemeClr val="accent2"/>
                </a:solidFill>
              </a:rPr>
              <a:t> = 3			 [sum]</a:t>
            </a:r>
            <a:r>
              <a:rPr baseline="-25000" lang="en">
                <a:solidFill>
                  <a:schemeClr val="accent2"/>
                </a:solidFill>
              </a:rPr>
              <a:t>C</a:t>
            </a:r>
            <a:r>
              <a:rPr lang="en">
                <a:solidFill>
                  <a:schemeClr val="accent2"/>
                </a:solidFill>
              </a:rPr>
              <a:t> = 2</a:t>
            </a:r>
            <a:endParaRPr>
              <a:solidFill>
                <a:schemeClr val="accent2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</a:rPr>
              <a:t>All parties reveal [sum]</a:t>
            </a:r>
            <a:endParaRPr>
              <a:solidFill>
                <a:schemeClr val="accent2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2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>
              <a:solidFill>
                <a:schemeClr val="accent2"/>
              </a:solidFill>
            </a:endParaRPr>
          </a:p>
        </p:txBody>
      </p:sp>
      <p:cxnSp>
        <p:nvCxnSpPr>
          <p:cNvPr id="666" name="Google Shape;666;p51"/>
          <p:cNvCxnSpPr/>
          <p:nvPr/>
        </p:nvCxnSpPr>
        <p:spPr>
          <a:xfrm>
            <a:off x="599200" y="3123725"/>
            <a:ext cx="1257900" cy="0"/>
          </a:xfrm>
          <a:prstGeom prst="straightConnector1">
            <a:avLst/>
          </a:prstGeom>
          <a:noFill/>
          <a:ln cap="flat" cmpd="sng" w="952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67" name="Google Shape;667;p51"/>
          <p:cNvCxnSpPr/>
          <p:nvPr/>
        </p:nvCxnSpPr>
        <p:spPr>
          <a:xfrm>
            <a:off x="3017725" y="3123725"/>
            <a:ext cx="1257900" cy="0"/>
          </a:xfrm>
          <a:prstGeom prst="straightConnector1">
            <a:avLst/>
          </a:prstGeom>
          <a:noFill/>
          <a:ln cap="flat" cmpd="sng" w="952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68" name="Google Shape;668;p51"/>
          <p:cNvCxnSpPr/>
          <p:nvPr/>
        </p:nvCxnSpPr>
        <p:spPr>
          <a:xfrm>
            <a:off x="5458950" y="3123725"/>
            <a:ext cx="1257900" cy="0"/>
          </a:xfrm>
          <a:prstGeom prst="straightConnector1">
            <a:avLst/>
          </a:prstGeom>
          <a:noFill/>
          <a:ln cap="flat" cmpd="sng" w="952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69" name="Google Shape;669;p51"/>
          <p:cNvCxnSpPr/>
          <p:nvPr/>
        </p:nvCxnSpPr>
        <p:spPr>
          <a:xfrm>
            <a:off x="7834875" y="3123725"/>
            <a:ext cx="1257900" cy="0"/>
          </a:xfrm>
          <a:prstGeom prst="straightConnector1">
            <a:avLst/>
          </a:prstGeom>
          <a:noFill/>
          <a:ln cap="flat" cmpd="sng" w="952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3" name="Shape 6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4" name="Google Shape;674;p52"/>
          <p:cNvSpPr txBox="1"/>
          <p:nvPr>
            <p:ph type="title"/>
          </p:nvPr>
        </p:nvSpPr>
        <p:spPr>
          <a:xfrm>
            <a:off x="0" y="0"/>
            <a:ext cx="914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Voting, version 2</a:t>
            </a:r>
            <a:endParaRPr/>
          </a:p>
        </p:txBody>
      </p:sp>
      <p:pic>
        <p:nvPicPr>
          <p:cNvPr id="675" name="Google Shape;675;p5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02696" y="1106363"/>
            <a:ext cx="554130" cy="554131"/>
          </a:xfrm>
          <a:prstGeom prst="rect">
            <a:avLst/>
          </a:prstGeom>
          <a:noFill/>
          <a:ln>
            <a:noFill/>
          </a:ln>
        </p:spPr>
      </p:pic>
      <p:pic>
        <p:nvPicPr>
          <p:cNvPr id="676" name="Google Shape;676;p5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47071" y="1106375"/>
            <a:ext cx="554125" cy="554132"/>
          </a:xfrm>
          <a:prstGeom prst="rect">
            <a:avLst/>
          </a:prstGeom>
          <a:noFill/>
          <a:ln>
            <a:noFill/>
          </a:ln>
        </p:spPr>
      </p:pic>
      <p:sp>
        <p:nvSpPr>
          <p:cNvPr id="677" name="Google Shape;677;p52"/>
          <p:cNvSpPr txBox="1"/>
          <p:nvPr/>
        </p:nvSpPr>
        <p:spPr>
          <a:xfrm>
            <a:off x="3048152" y="598475"/>
            <a:ext cx="978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Alice</a:t>
            </a:r>
            <a:br>
              <a:rPr lang="en">
                <a:solidFill>
                  <a:schemeClr val="dk1"/>
                </a:solidFill>
              </a:rPr>
            </a:br>
            <a:r>
              <a:rPr lang="en">
                <a:solidFill>
                  <a:schemeClr val="accent6"/>
                </a:solidFill>
              </a:rPr>
              <a:t>a=1 (Yes)</a:t>
            </a:r>
            <a:endParaRPr>
              <a:solidFill>
                <a:schemeClr val="accent6"/>
              </a:solidFill>
            </a:endParaRPr>
          </a:p>
        </p:txBody>
      </p:sp>
      <p:sp>
        <p:nvSpPr>
          <p:cNvPr id="678" name="Google Shape;678;p52"/>
          <p:cNvSpPr txBox="1"/>
          <p:nvPr/>
        </p:nvSpPr>
        <p:spPr>
          <a:xfrm>
            <a:off x="5540400" y="614325"/>
            <a:ext cx="945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Bob</a:t>
            </a:r>
            <a:br>
              <a:rPr lang="en">
                <a:solidFill>
                  <a:schemeClr val="dk1"/>
                </a:solidFill>
              </a:rPr>
            </a:br>
            <a:r>
              <a:rPr lang="en">
                <a:solidFill>
                  <a:schemeClr val="accent5"/>
                </a:solidFill>
              </a:rPr>
              <a:t>b=0 (No)</a:t>
            </a:r>
            <a:endParaRPr>
              <a:solidFill>
                <a:schemeClr val="accent5"/>
              </a:solidFill>
            </a:endParaRPr>
          </a:p>
        </p:txBody>
      </p:sp>
      <p:pic>
        <p:nvPicPr>
          <p:cNvPr id="679" name="Google Shape;679;p5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107500" y="1106374"/>
            <a:ext cx="554125" cy="554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80" name="Google Shape;680;p5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697150" y="1106368"/>
            <a:ext cx="554130" cy="554131"/>
          </a:xfrm>
          <a:prstGeom prst="rect">
            <a:avLst/>
          </a:prstGeom>
          <a:noFill/>
          <a:ln>
            <a:noFill/>
          </a:ln>
        </p:spPr>
      </p:pic>
      <p:sp>
        <p:nvSpPr>
          <p:cNvPr id="681" name="Google Shape;681;p52"/>
          <p:cNvSpPr txBox="1"/>
          <p:nvPr/>
        </p:nvSpPr>
        <p:spPr>
          <a:xfrm>
            <a:off x="7941075" y="614325"/>
            <a:ext cx="945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Carlos</a:t>
            </a:r>
            <a:br>
              <a:rPr lang="en">
                <a:solidFill>
                  <a:schemeClr val="dk1"/>
                </a:solidFill>
              </a:rPr>
            </a:br>
            <a:r>
              <a:rPr lang="en">
                <a:solidFill>
                  <a:schemeClr val="accent4"/>
                </a:solidFill>
              </a:rPr>
              <a:t>c=1 (Yes)</a:t>
            </a:r>
            <a:endParaRPr>
              <a:solidFill>
                <a:schemeClr val="accent4"/>
              </a:solidFill>
            </a:endParaRPr>
          </a:p>
        </p:txBody>
      </p:sp>
      <p:sp>
        <p:nvSpPr>
          <p:cNvPr id="682" name="Google Shape;682;p52"/>
          <p:cNvSpPr txBox="1"/>
          <p:nvPr/>
        </p:nvSpPr>
        <p:spPr>
          <a:xfrm>
            <a:off x="903651" y="585925"/>
            <a:ext cx="9621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Sarah</a:t>
            </a:r>
            <a:br>
              <a:rPr lang="en">
                <a:solidFill>
                  <a:schemeClr val="dk1"/>
                </a:solidFill>
              </a:rPr>
            </a:br>
            <a:r>
              <a:rPr lang="en">
                <a:solidFill>
                  <a:srgbClr val="B4A7D6"/>
                </a:solidFill>
              </a:rPr>
              <a:t>s=1 (Yes)</a:t>
            </a:r>
            <a:endParaRPr>
              <a:solidFill>
                <a:srgbClr val="B4A7D6"/>
              </a:solidFill>
            </a:endParaRPr>
          </a:p>
        </p:txBody>
      </p:sp>
      <p:sp>
        <p:nvSpPr>
          <p:cNvPr id="683" name="Google Shape;683;p52"/>
          <p:cNvSpPr txBox="1"/>
          <p:nvPr>
            <p:ph idx="1" type="body"/>
          </p:nvPr>
        </p:nvSpPr>
        <p:spPr>
          <a:xfrm>
            <a:off x="320050" y="1660500"/>
            <a:ext cx="8859300" cy="324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	</a:t>
            </a:r>
            <a:r>
              <a:rPr lang="en">
                <a:solidFill>
                  <a:srgbClr val="B4A7D6"/>
                </a:solidFill>
              </a:rPr>
              <a:t>[s]</a:t>
            </a:r>
            <a:r>
              <a:rPr baseline="-25000" lang="en">
                <a:solidFill>
                  <a:srgbClr val="B4A7D6"/>
                </a:solidFill>
              </a:rPr>
              <a:t>S</a:t>
            </a:r>
            <a:r>
              <a:rPr lang="en">
                <a:solidFill>
                  <a:srgbClr val="B4A7D6"/>
                </a:solidFill>
              </a:rPr>
              <a:t> = 3				[s]</a:t>
            </a:r>
            <a:r>
              <a:rPr baseline="-25000" lang="en">
                <a:solidFill>
                  <a:srgbClr val="B4A7D6"/>
                </a:solidFill>
              </a:rPr>
              <a:t>A</a:t>
            </a:r>
            <a:r>
              <a:rPr lang="en">
                <a:solidFill>
                  <a:srgbClr val="B4A7D6"/>
                </a:solidFill>
              </a:rPr>
              <a:t>  =  1				   [s]</a:t>
            </a:r>
            <a:r>
              <a:rPr baseline="-25000" lang="en">
                <a:solidFill>
                  <a:srgbClr val="B4A7D6"/>
                </a:solidFill>
              </a:rPr>
              <a:t>B </a:t>
            </a:r>
            <a:r>
              <a:rPr lang="en">
                <a:solidFill>
                  <a:srgbClr val="B4A7D6"/>
                </a:solidFill>
              </a:rPr>
              <a:t>  = 4			     [s]</a:t>
            </a:r>
            <a:r>
              <a:rPr baseline="-25000" lang="en">
                <a:solidFill>
                  <a:srgbClr val="B4A7D6"/>
                </a:solidFill>
              </a:rPr>
              <a:t>C</a:t>
            </a:r>
            <a:r>
              <a:rPr lang="en">
                <a:solidFill>
                  <a:srgbClr val="B4A7D6"/>
                </a:solidFill>
              </a:rPr>
              <a:t>  = 3</a:t>
            </a:r>
            <a:br>
              <a:rPr lang="en"/>
            </a:br>
            <a:r>
              <a:rPr lang="en"/>
              <a:t>	</a:t>
            </a:r>
            <a:r>
              <a:rPr lang="en">
                <a:solidFill>
                  <a:schemeClr val="accent6"/>
                </a:solidFill>
              </a:rPr>
              <a:t>[a]</a:t>
            </a:r>
            <a:r>
              <a:rPr baseline="-25000" lang="en">
                <a:solidFill>
                  <a:schemeClr val="accent6"/>
                </a:solidFill>
              </a:rPr>
              <a:t>S</a:t>
            </a:r>
            <a:r>
              <a:rPr lang="en">
                <a:solidFill>
                  <a:schemeClr val="accent6"/>
                </a:solidFill>
              </a:rPr>
              <a:t> = 2	</a:t>
            </a:r>
            <a:r>
              <a:rPr lang="en"/>
              <a:t>			</a:t>
            </a:r>
            <a:r>
              <a:rPr lang="en">
                <a:solidFill>
                  <a:schemeClr val="accent6"/>
                </a:solidFill>
              </a:rPr>
              <a:t>[a]</a:t>
            </a:r>
            <a:r>
              <a:rPr baseline="-25000" lang="en">
                <a:solidFill>
                  <a:schemeClr val="accent6"/>
                </a:solidFill>
              </a:rPr>
              <a:t>A</a:t>
            </a:r>
            <a:r>
              <a:rPr lang="en">
                <a:solidFill>
                  <a:schemeClr val="accent6"/>
                </a:solidFill>
              </a:rPr>
              <a:t>  =  2				   [a]</a:t>
            </a:r>
            <a:r>
              <a:rPr baseline="-25000" lang="en">
                <a:solidFill>
                  <a:schemeClr val="accent6"/>
                </a:solidFill>
              </a:rPr>
              <a:t>B</a:t>
            </a:r>
            <a:r>
              <a:rPr lang="en">
                <a:solidFill>
                  <a:schemeClr val="accent6"/>
                </a:solidFill>
              </a:rPr>
              <a:t>  = 4			     [a]</a:t>
            </a:r>
            <a:r>
              <a:rPr baseline="-25000" lang="en">
                <a:solidFill>
                  <a:schemeClr val="accent6"/>
                </a:solidFill>
              </a:rPr>
              <a:t>C</a:t>
            </a:r>
            <a:r>
              <a:rPr lang="en">
                <a:solidFill>
                  <a:schemeClr val="accent6"/>
                </a:solidFill>
              </a:rPr>
              <a:t>  = 3</a:t>
            </a:r>
            <a:r>
              <a:rPr lang="en">
                <a:solidFill>
                  <a:schemeClr val="accent5"/>
                </a:solidFill>
              </a:rPr>
              <a:t>	[b]</a:t>
            </a:r>
            <a:r>
              <a:rPr baseline="-25000" lang="en">
                <a:solidFill>
                  <a:schemeClr val="accent5"/>
                </a:solidFill>
              </a:rPr>
              <a:t>S</a:t>
            </a:r>
            <a:r>
              <a:rPr lang="en">
                <a:solidFill>
                  <a:schemeClr val="accent5"/>
                </a:solidFill>
              </a:rPr>
              <a:t> = 4		</a:t>
            </a:r>
            <a:r>
              <a:rPr lang="en"/>
              <a:t>		</a:t>
            </a:r>
            <a:r>
              <a:rPr lang="en">
                <a:solidFill>
                  <a:schemeClr val="accent5"/>
                </a:solidFill>
              </a:rPr>
              <a:t>[b]</a:t>
            </a:r>
            <a:r>
              <a:rPr baseline="-25000" lang="en">
                <a:solidFill>
                  <a:schemeClr val="accent5"/>
                </a:solidFill>
              </a:rPr>
              <a:t>A</a:t>
            </a:r>
            <a:r>
              <a:rPr lang="en">
                <a:solidFill>
                  <a:schemeClr val="accent5"/>
                </a:solidFill>
              </a:rPr>
              <a:t>  =  2				   [b]</a:t>
            </a:r>
            <a:r>
              <a:rPr baseline="-25000" lang="en">
                <a:solidFill>
                  <a:schemeClr val="accent5"/>
                </a:solidFill>
              </a:rPr>
              <a:t>B</a:t>
            </a:r>
            <a:r>
              <a:rPr lang="en">
                <a:solidFill>
                  <a:schemeClr val="accent5"/>
                </a:solidFill>
              </a:rPr>
              <a:t>  = 3			     [b]</a:t>
            </a:r>
            <a:r>
              <a:rPr baseline="-25000" lang="en">
                <a:solidFill>
                  <a:schemeClr val="accent5"/>
                </a:solidFill>
              </a:rPr>
              <a:t>C</a:t>
            </a:r>
            <a:r>
              <a:rPr lang="en">
                <a:solidFill>
                  <a:schemeClr val="accent5"/>
                </a:solidFill>
              </a:rPr>
              <a:t>  = 1</a:t>
            </a:r>
            <a:br>
              <a:rPr lang="en">
                <a:solidFill>
                  <a:schemeClr val="accent5"/>
                </a:solidFill>
              </a:rPr>
            </a:br>
            <a:r>
              <a:rPr lang="en">
                <a:solidFill>
                  <a:schemeClr val="accent4"/>
                </a:solidFill>
              </a:rPr>
              <a:t>    </a:t>
            </a:r>
            <a:r>
              <a:rPr lang="en">
                <a:solidFill>
                  <a:schemeClr val="accent2"/>
                </a:solidFill>
              </a:rPr>
              <a:t>+</a:t>
            </a:r>
            <a:r>
              <a:rPr lang="en">
                <a:solidFill>
                  <a:schemeClr val="accent4"/>
                </a:solidFill>
              </a:rPr>
              <a:t> [c]</a:t>
            </a:r>
            <a:r>
              <a:rPr baseline="-25000" lang="en">
                <a:solidFill>
                  <a:schemeClr val="accent4"/>
                </a:solidFill>
              </a:rPr>
              <a:t>S</a:t>
            </a:r>
            <a:r>
              <a:rPr lang="en">
                <a:solidFill>
                  <a:schemeClr val="accent4"/>
                </a:solidFill>
              </a:rPr>
              <a:t> = 0</a:t>
            </a:r>
            <a:r>
              <a:rPr lang="en">
                <a:solidFill>
                  <a:schemeClr val="accent5"/>
                </a:solidFill>
              </a:rPr>
              <a:t>			    </a:t>
            </a:r>
            <a:r>
              <a:rPr lang="en">
                <a:solidFill>
                  <a:schemeClr val="accent2"/>
                </a:solidFill>
              </a:rPr>
              <a:t>+</a:t>
            </a:r>
            <a:r>
              <a:rPr lang="en">
                <a:solidFill>
                  <a:schemeClr val="accent5"/>
                </a:solidFill>
              </a:rPr>
              <a:t> </a:t>
            </a:r>
            <a:r>
              <a:rPr lang="en">
                <a:solidFill>
                  <a:schemeClr val="accent4"/>
                </a:solidFill>
              </a:rPr>
              <a:t>[c]</a:t>
            </a:r>
            <a:r>
              <a:rPr baseline="-25000" lang="en">
                <a:solidFill>
                  <a:schemeClr val="accent4"/>
                </a:solidFill>
              </a:rPr>
              <a:t>A</a:t>
            </a:r>
            <a:r>
              <a:rPr lang="en">
                <a:solidFill>
                  <a:schemeClr val="accent4"/>
                </a:solidFill>
              </a:rPr>
              <a:t>  =  4			       </a:t>
            </a:r>
            <a:r>
              <a:rPr lang="en">
                <a:solidFill>
                  <a:schemeClr val="accent2"/>
                </a:solidFill>
              </a:rPr>
              <a:t>+</a:t>
            </a:r>
            <a:r>
              <a:rPr lang="en">
                <a:solidFill>
                  <a:schemeClr val="accent4"/>
                </a:solidFill>
              </a:rPr>
              <a:t> [c]</a:t>
            </a:r>
            <a:r>
              <a:rPr baseline="-25000" lang="en">
                <a:solidFill>
                  <a:schemeClr val="accent4"/>
                </a:solidFill>
              </a:rPr>
              <a:t>B</a:t>
            </a:r>
            <a:r>
              <a:rPr lang="en">
                <a:solidFill>
                  <a:schemeClr val="accent4"/>
                </a:solidFill>
              </a:rPr>
              <a:t>  = 2			  </a:t>
            </a:r>
            <a:r>
              <a:rPr lang="en">
                <a:solidFill>
                  <a:schemeClr val="accent2"/>
                </a:solidFill>
              </a:rPr>
              <a:t>+</a:t>
            </a:r>
            <a:r>
              <a:rPr lang="en">
                <a:solidFill>
                  <a:schemeClr val="accent4"/>
                </a:solidFill>
              </a:rPr>
              <a:t> [c]</a:t>
            </a:r>
            <a:r>
              <a:rPr baseline="-25000" lang="en">
                <a:solidFill>
                  <a:schemeClr val="accent4"/>
                </a:solidFill>
              </a:rPr>
              <a:t>C</a:t>
            </a:r>
            <a:r>
              <a:rPr lang="en">
                <a:solidFill>
                  <a:schemeClr val="accent4"/>
                </a:solidFill>
              </a:rPr>
              <a:t>  = 0</a:t>
            </a:r>
            <a:endParaRPr>
              <a:solidFill>
                <a:schemeClr val="accent4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</a:rPr>
              <a:t>  [sum]</a:t>
            </a:r>
            <a:r>
              <a:rPr baseline="-25000" lang="en">
                <a:solidFill>
                  <a:schemeClr val="accent2"/>
                </a:solidFill>
              </a:rPr>
              <a:t>S</a:t>
            </a:r>
            <a:r>
              <a:rPr lang="en">
                <a:solidFill>
                  <a:schemeClr val="accent2"/>
                </a:solidFill>
              </a:rPr>
              <a:t> = 4			   [sum]</a:t>
            </a:r>
            <a:r>
              <a:rPr baseline="-25000" lang="en">
                <a:solidFill>
                  <a:schemeClr val="accent2"/>
                </a:solidFill>
              </a:rPr>
              <a:t>A</a:t>
            </a:r>
            <a:r>
              <a:rPr lang="en">
                <a:solidFill>
                  <a:schemeClr val="accent2"/>
                </a:solidFill>
              </a:rPr>
              <a:t> = 4			      [sum]</a:t>
            </a:r>
            <a:r>
              <a:rPr baseline="-25000" lang="en">
                <a:solidFill>
                  <a:schemeClr val="accent2"/>
                </a:solidFill>
              </a:rPr>
              <a:t>B</a:t>
            </a:r>
            <a:r>
              <a:rPr lang="en">
                <a:solidFill>
                  <a:schemeClr val="accent2"/>
                </a:solidFill>
              </a:rPr>
              <a:t> = 3			 [sum]</a:t>
            </a:r>
            <a:r>
              <a:rPr baseline="-25000" lang="en">
                <a:solidFill>
                  <a:schemeClr val="accent2"/>
                </a:solidFill>
              </a:rPr>
              <a:t>C</a:t>
            </a:r>
            <a:r>
              <a:rPr lang="en">
                <a:solidFill>
                  <a:schemeClr val="accent2"/>
                </a:solidFill>
              </a:rPr>
              <a:t> = 2</a:t>
            </a:r>
            <a:endParaRPr>
              <a:solidFill>
                <a:schemeClr val="accent2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</a:rPr>
              <a:t>All parties reveal [sum]</a:t>
            </a:r>
            <a:endParaRPr>
              <a:solidFill>
                <a:schemeClr val="accent2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</a:rPr>
              <a:t>Sum = 4 + 4 + 3 + 2       = 3 Yes votes</a:t>
            </a:r>
            <a:endParaRPr>
              <a:solidFill>
                <a:schemeClr val="accent2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2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>
              <a:solidFill>
                <a:schemeClr val="accent2"/>
              </a:solidFill>
            </a:endParaRPr>
          </a:p>
        </p:txBody>
      </p:sp>
      <p:cxnSp>
        <p:nvCxnSpPr>
          <p:cNvPr id="684" name="Google Shape;684;p52"/>
          <p:cNvCxnSpPr/>
          <p:nvPr/>
        </p:nvCxnSpPr>
        <p:spPr>
          <a:xfrm>
            <a:off x="599200" y="3123725"/>
            <a:ext cx="1257900" cy="0"/>
          </a:xfrm>
          <a:prstGeom prst="straightConnector1">
            <a:avLst/>
          </a:prstGeom>
          <a:noFill/>
          <a:ln cap="flat" cmpd="sng" w="952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85" name="Google Shape;685;p52"/>
          <p:cNvCxnSpPr/>
          <p:nvPr/>
        </p:nvCxnSpPr>
        <p:spPr>
          <a:xfrm>
            <a:off x="3017725" y="3123725"/>
            <a:ext cx="1257900" cy="0"/>
          </a:xfrm>
          <a:prstGeom prst="straightConnector1">
            <a:avLst/>
          </a:prstGeom>
          <a:noFill/>
          <a:ln cap="flat" cmpd="sng" w="952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86" name="Google Shape;686;p52"/>
          <p:cNvCxnSpPr/>
          <p:nvPr/>
        </p:nvCxnSpPr>
        <p:spPr>
          <a:xfrm>
            <a:off x="5458950" y="3123725"/>
            <a:ext cx="1257900" cy="0"/>
          </a:xfrm>
          <a:prstGeom prst="straightConnector1">
            <a:avLst/>
          </a:prstGeom>
          <a:noFill/>
          <a:ln cap="flat" cmpd="sng" w="952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87" name="Google Shape;687;p52"/>
          <p:cNvCxnSpPr/>
          <p:nvPr/>
        </p:nvCxnSpPr>
        <p:spPr>
          <a:xfrm>
            <a:off x="7834875" y="3123725"/>
            <a:ext cx="1257900" cy="0"/>
          </a:xfrm>
          <a:prstGeom prst="straightConnector1">
            <a:avLst/>
          </a:prstGeom>
          <a:noFill/>
          <a:ln cap="flat" cmpd="sng" w="952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1" name="Shape 6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2" name="Google Shape;692;p53"/>
          <p:cNvSpPr txBox="1"/>
          <p:nvPr>
            <p:ph type="title"/>
          </p:nvPr>
        </p:nvSpPr>
        <p:spPr>
          <a:xfrm>
            <a:off x="0" y="0"/>
            <a:ext cx="914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Okay great so we can add.  So what?</a:t>
            </a:r>
            <a:endParaRPr/>
          </a:p>
        </p:txBody>
      </p:sp>
      <p:sp>
        <p:nvSpPr>
          <p:cNvPr id="693" name="Google Shape;693;p53"/>
          <p:cNvSpPr txBox="1"/>
          <p:nvPr>
            <p:ph idx="1" type="body"/>
          </p:nvPr>
        </p:nvSpPr>
        <p:spPr>
          <a:xfrm>
            <a:off x="311700" y="822075"/>
            <a:ext cx="4322700" cy="416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Adding already lets you do a lot of things, like counting votes!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Adding also lets you multiply a secret value by a public integer, e.g. [2a] = 2[a].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If we have time, we will also learn to multiply secret values, i.e. computing [x*y] from [x] and [y]. </a:t>
            </a:r>
            <a:r>
              <a:rPr lang="en">
                <a:solidFill>
                  <a:srgbClr val="D5A6BD"/>
                </a:solidFill>
              </a:rPr>
              <a:t> (Be careful!  It’s not [x]*[y]!)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n"/>
              <a:t>On Thursday: build simple programs using +, -, *, &gt;</a:t>
            </a:r>
            <a:endParaRPr/>
          </a:p>
        </p:txBody>
      </p:sp>
      <p:sp>
        <p:nvSpPr>
          <p:cNvPr id="694" name="Google Shape;694;p53"/>
          <p:cNvSpPr/>
          <p:nvPr/>
        </p:nvSpPr>
        <p:spPr>
          <a:xfrm>
            <a:off x="6511525" y="2184925"/>
            <a:ext cx="667200" cy="6861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/>
              <a:t>+</a:t>
            </a:r>
            <a:endParaRPr sz="2600"/>
          </a:p>
        </p:txBody>
      </p:sp>
      <p:sp>
        <p:nvSpPr>
          <p:cNvPr id="695" name="Google Shape;695;p53"/>
          <p:cNvSpPr/>
          <p:nvPr/>
        </p:nvSpPr>
        <p:spPr>
          <a:xfrm>
            <a:off x="7831075" y="3304400"/>
            <a:ext cx="667200" cy="6861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/>
              <a:t>x</a:t>
            </a:r>
            <a:endParaRPr sz="2600"/>
          </a:p>
        </p:txBody>
      </p:sp>
      <p:sp>
        <p:nvSpPr>
          <p:cNvPr id="696" name="Google Shape;696;p53"/>
          <p:cNvSpPr/>
          <p:nvPr/>
        </p:nvSpPr>
        <p:spPr>
          <a:xfrm>
            <a:off x="5626475" y="1119700"/>
            <a:ext cx="667200" cy="6861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/>
              <a:t>x</a:t>
            </a:r>
            <a:endParaRPr sz="2600"/>
          </a:p>
        </p:txBody>
      </p:sp>
      <p:sp>
        <p:nvSpPr>
          <p:cNvPr id="697" name="Google Shape;697;p53"/>
          <p:cNvSpPr/>
          <p:nvPr/>
        </p:nvSpPr>
        <p:spPr>
          <a:xfrm>
            <a:off x="7178725" y="1153775"/>
            <a:ext cx="667200" cy="6861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/>
              <a:t>x</a:t>
            </a:r>
            <a:endParaRPr sz="2600"/>
          </a:p>
        </p:txBody>
      </p:sp>
      <p:cxnSp>
        <p:nvCxnSpPr>
          <p:cNvPr id="698" name="Google Shape;698;p53"/>
          <p:cNvCxnSpPr/>
          <p:nvPr/>
        </p:nvCxnSpPr>
        <p:spPr>
          <a:xfrm>
            <a:off x="5719250" y="853450"/>
            <a:ext cx="0" cy="38190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99" name="Google Shape;699;p53"/>
          <p:cNvCxnSpPr/>
          <p:nvPr/>
        </p:nvCxnSpPr>
        <p:spPr>
          <a:xfrm>
            <a:off x="6201075" y="853450"/>
            <a:ext cx="0" cy="38190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00" name="Google Shape;700;p53"/>
          <p:cNvCxnSpPr/>
          <p:nvPr/>
        </p:nvCxnSpPr>
        <p:spPr>
          <a:xfrm>
            <a:off x="7270700" y="853450"/>
            <a:ext cx="0" cy="38190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01" name="Google Shape;701;p53"/>
          <p:cNvCxnSpPr/>
          <p:nvPr/>
        </p:nvCxnSpPr>
        <p:spPr>
          <a:xfrm>
            <a:off x="7775250" y="873325"/>
            <a:ext cx="0" cy="38190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02" name="Google Shape;702;p53"/>
          <p:cNvCxnSpPr>
            <a:endCxn id="694" idx="1"/>
          </p:cNvCxnSpPr>
          <p:nvPr/>
        </p:nvCxnSpPr>
        <p:spPr>
          <a:xfrm>
            <a:off x="6062034" y="1744202"/>
            <a:ext cx="547200" cy="54120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03" name="Google Shape;703;p53"/>
          <p:cNvCxnSpPr>
            <a:stCxn id="697" idx="4"/>
          </p:cNvCxnSpPr>
          <p:nvPr/>
        </p:nvCxnSpPr>
        <p:spPr>
          <a:xfrm flipH="1">
            <a:off x="7017025" y="1839875"/>
            <a:ext cx="495300" cy="44040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04" name="Google Shape;704;p53"/>
          <p:cNvCxnSpPr>
            <a:endCxn id="695" idx="1"/>
          </p:cNvCxnSpPr>
          <p:nvPr/>
        </p:nvCxnSpPr>
        <p:spPr>
          <a:xfrm>
            <a:off x="6845184" y="2870877"/>
            <a:ext cx="1083600" cy="53400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05" name="Google Shape;705;p53"/>
          <p:cNvCxnSpPr>
            <a:endCxn id="695" idx="7"/>
          </p:cNvCxnSpPr>
          <p:nvPr/>
        </p:nvCxnSpPr>
        <p:spPr>
          <a:xfrm>
            <a:off x="8379266" y="873177"/>
            <a:ext cx="21300" cy="253170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06" name="Google Shape;706;p53"/>
          <p:cNvCxnSpPr/>
          <p:nvPr/>
        </p:nvCxnSpPr>
        <p:spPr>
          <a:xfrm>
            <a:off x="8164675" y="3990500"/>
            <a:ext cx="0" cy="38190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07" name="Google Shape;707;p53"/>
          <p:cNvSpPr txBox="1"/>
          <p:nvPr/>
        </p:nvSpPr>
        <p:spPr>
          <a:xfrm>
            <a:off x="6062025" y="4483250"/>
            <a:ext cx="2490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</a:rPr>
              <a:t>An example circuit we could compute under MPC</a:t>
            </a:r>
            <a:endParaRPr>
              <a:solidFill>
                <a:schemeClr val="accent2"/>
              </a:solidFill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1" name="Shape 7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2" name="Google Shape;712;p54"/>
          <p:cNvSpPr txBox="1"/>
          <p:nvPr>
            <p:ph type="title"/>
          </p:nvPr>
        </p:nvSpPr>
        <p:spPr>
          <a:xfrm>
            <a:off x="0" y="0"/>
            <a:ext cx="914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to </a:t>
            </a:r>
            <a:endParaRPr/>
          </a:p>
        </p:txBody>
      </p:sp>
      <p:sp>
        <p:nvSpPr>
          <p:cNvPr id="713" name="Google Shape;713;p54"/>
          <p:cNvSpPr txBox="1"/>
          <p:nvPr>
            <p:ph idx="1" type="body"/>
          </p:nvPr>
        </p:nvSpPr>
        <p:spPr>
          <a:xfrm>
            <a:off x="311700" y="822075"/>
            <a:ext cx="8520600" cy="416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7" name="Shape 7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8" name="Google Shape;718;p55"/>
          <p:cNvSpPr txBox="1"/>
          <p:nvPr>
            <p:ph type="title"/>
          </p:nvPr>
        </p:nvSpPr>
        <p:spPr>
          <a:xfrm>
            <a:off x="0" y="0"/>
            <a:ext cx="914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Two (main) flavors of </a:t>
            </a:r>
            <a:r>
              <a:rPr b="1" i="1" lang="en"/>
              <a:t>methods</a:t>
            </a:r>
            <a:r>
              <a:rPr lang="en"/>
              <a:t>:</a:t>
            </a:r>
            <a:endParaRPr/>
          </a:p>
        </p:txBody>
      </p:sp>
      <p:sp>
        <p:nvSpPr>
          <p:cNvPr id="719" name="Google Shape;719;p55"/>
          <p:cNvSpPr txBox="1"/>
          <p:nvPr>
            <p:ph idx="1" type="body"/>
          </p:nvPr>
        </p:nvSpPr>
        <p:spPr>
          <a:xfrm>
            <a:off x="311700" y="822075"/>
            <a:ext cx="8520600" cy="416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1. </a:t>
            </a:r>
            <a:r>
              <a:rPr lang="en"/>
              <a:t>“Secret sharing”</a:t>
            </a:r>
            <a:br>
              <a:rPr lang="en"/>
            </a:br>
            <a:r>
              <a:rPr lang="en"/>
              <a:t>		What we just saw</a:t>
            </a:r>
            <a:br>
              <a:rPr lang="en"/>
            </a:br>
            <a:r>
              <a:rPr lang="en"/>
              <a:t>		Any number of parties (some special properties for 2, 3, or 4)</a:t>
            </a:r>
            <a:br>
              <a:rPr lang="en"/>
            </a:br>
            <a:r>
              <a:rPr lang="en"/>
              <a:t>		</a:t>
            </a:r>
            <a:br>
              <a:rPr lang="en"/>
            </a:br>
            <a:r>
              <a:rPr lang="en"/>
              <a:t>		An important variant: </a:t>
            </a:r>
            <a:r>
              <a:rPr b="1" i="1" lang="en"/>
              <a:t>Threshold secret sharing: </a:t>
            </a:r>
            <a:br>
              <a:rPr b="1" i="1" lang="en"/>
            </a:br>
            <a:r>
              <a:rPr b="1" i="1" lang="en"/>
              <a:t>		</a:t>
            </a:r>
            <a:r>
              <a:rPr lang="en"/>
              <a:t>t-out-of-n shares required to reconstruct output</a:t>
            </a:r>
            <a:br>
              <a:rPr lang="en"/>
            </a:br>
            <a:br>
              <a:rPr lang="en"/>
            </a:br>
            <a:r>
              <a:rPr lang="en"/>
              <a:t>		Other variants (multiplicative, Galois fields, polynomial interpolation…)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n"/>
              <a:t>2. “Garbled circuits” (not today)</a:t>
            </a:r>
            <a:endParaRPr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3" name="Shape 7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4" name="Google Shape;724;p56"/>
          <p:cNvSpPr txBox="1"/>
          <p:nvPr>
            <p:ph type="title"/>
          </p:nvPr>
        </p:nvSpPr>
        <p:spPr>
          <a:xfrm>
            <a:off x="0" y="0"/>
            <a:ext cx="914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Two (main) flavors of </a:t>
            </a:r>
            <a:r>
              <a:rPr b="1" i="1" lang="en"/>
              <a:t>threat models</a:t>
            </a:r>
            <a:r>
              <a:rPr lang="en"/>
              <a:t>:</a:t>
            </a:r>
            <a:endParaRPr/>
          </a:p>
        </p:txBody>
      </p:sp>
      <p:sp>
        <p:nvSpPr>
          <p:cNvPr id="725" name="Google Shape;725;p56"/>
          <p:cNvSpPr txBox="1"/>
          <p:nvPr>
            <p:ph idx="1" type="body"/>
          </p:nvPr>
        </p:nvSpPr>
        <p:spPr>
          <a:xfrm>
            <a:off x="311700" y="822075"/>
            <a:ext cx="8520600" cy="416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A. </a:t>
            </a:r>
            <a:r>
              <a:rPr lang="en"/>
              <a:t>“Semi-honest” / “Honest-but-curious” security: </a:t>
            </a:r>
            <a:br>
              <a:rPr lang="en"/>
            </a:br>
            <a:r>
              <a:rPr lang="en"/>
              <a:t>		What we’re doing this week</a:t>
            </a:r>
            <a:br>
              <a:rPr lang="en"/>
            </a:br>
            <a:r>
              <a:rPr lang="en"/>
              <a:t>		All parties follow the protocol</a:t>
            </a:r>
            <a:br>
              <a:rPr lang="en"/>
            </a:br>
            <a:r>
              <a:rPr lang="en"/>
              <a:t>		Up to t parties may “pool their knowledge” to try to learn more</a:t>
            </a:r>
            <a:br>
              <a:rPr lang="en"/>
            </a:br>
            <a:r>
              <a:rPr lang="en"/>
              <a:t>		Typical values of t: </a:t>
            </a:r>
            <a:r>
              <a:rPr b="1" lang="en"/>
              <a:t>(n-1)</a:t>
            </a:r>
            <a:r>
              <a:rPr lang="en"/>
              <a:t>, n/2, n/3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n"/>
              <a:t>B. “Malicious” security:</a:t>
            </a:r>
            <a:br>
              <a:rPr lang="en"/>
            </a:br>
            <a:r>
              <a:rPr lang="en"/>
              <a:t>		Up to r parties may </a:t>
            </a:r>
            <a:r>
              <a:rPr i="1" lang="en"/>
              <a:t>deviate</a:t>
            </a:r>
            <a:r>
              <a:rPr lang="en"/>
              <a:t> from the protocol </a:t>
            </a:r>
            <a:br>
              <a:rPr lang="en"/>
            </a:br>
            <a:r>
              <a:rPr lang="en"/>
              <a:t>		(e.g. if protocol says to send “x+y” to party 1, may send “x+y+1” instead)</a:t>
            </a:r>
            <a:br>
              <a:rPr lang="en"/>
            </a:br>
            <a:endParaRPr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9" name="Shape 7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0" name="Google Shape;730;p57"/>
          <p:cNvSpPr txBox="1"/>
          <p:nvPr>
            <p:ph type="title"/>
          </p:nvPr>
        </p:nvSpPr>
        <p:spPr>
          <a:xfrm>
            <a:off x="0" y="0"/>
            <a:ext cx="914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Q: Where is MPC used?</a:t>
            </a:r>
            <a:endParaRPr/>
          </a:p>
        </p:txBody>
      </p:sp>
      <p:sp>
        <p:nvSpPr>
          <p:cNvPr id="731" name="Google Shape;731;p57"/>
          <p:cNvSpPr txBox="1"/>
          <p:nvPr>
            <p:ph idx="1" type="body"/>
          </p:nvPr>
        </p:nvSpPr>
        <p:spPr>
          <a:xfrm>
            <a:off x="311700" y="822075"/>
            <a:ext cx="8520600" cy="416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A: Lots of </a:t>
            </a:r>
            <a:r>
              <a:rPr lang="en"/>
              <a:t>places, and not as much as it could be!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A few especially noteworthy deployments:</a:t>
            </a:r>
            <a:endParaRPr/>
          </a:p>
          <a:p>
            <a:pPr indent="-342900" lvl="0" marL="457200" rtl="0" algn="l">
              <a:spcBef>
                <a:spcPts val="1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Auctions to compute market clearing prices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2009: sugar beets in Denmark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2012, 2016: home renewable energy generation in the U.S. and Belgium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2015: Detecting tax fraud in Estonia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2017: Measuring the gender and racial pay gap in Boston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2021: Some ad calculations on Facebook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2018-present: Machine learning under MPC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Usually: one party holds model, one party holds input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Sometimes: training ML models on secret data</a:t>
            </a:r>
            <a:endParaRPr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5" name="Shape 7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6" name="Google Shape;736;p58"/>
          <p:cNvSpPr txBox="1"/>
          <p:nvPr>
            <p:ph type="title"/>
          </p:nvPr>
        </p:nvSpPr>
        <p:spPr>
          <a:xfrm>
            <a:off x="0" y="0"/>
            <a:ext cx="914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Quick intro to multiplication</a:t>
            </a:r>
            <a:endParaRPr/>
          </a:p>
        </p:txBody>
      </p:sp>
      <p:sp>
        <p:nvSpPr>
          <p:cNvPr id="737" name="Google Shape;737;p58"/>
          <p:cNvSpPr txBox="1"/>
          <p:nvPr>
            <p:ph idx="1" type="body"/>
          </p:nvPr>
        </p:nvSpPr>
        <p:spPr>
          <a:xfrm>
            <a:off x="320050" y="1660500"/>
            <a:ext cx="8859300" cy="142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						</a:t>
            </a:r>
            <a:r>
              <a:rPr lang="en">
                <a:solidFill>
                  <a:schemeClr val="accent6"/>
                </a:solidFill>
              </a:rPr>
              <a:t>[x]</a:t>
            </a:r>
            <a:r>
              <a:rPr baseline="-25000" lang="en">
                <a:solidFill>
                  <a:schemeClr val="accent6"/>
                </a:solidFill>
              </a:rPr>
              <a:t>A</a:t>
            </a:r>
            <a:r>
              <a:rPr lang="en">
                <a:solidFill>
                  <a:schemeClr val="accent6"/>
                </a:solidFill>
              </a:rPr>
              <a:t>  =  2				   [x]</a:t>
            </a:r>
            <a:r>
              <a:rPr baseline="-25000" lang="en">
                <a:solidFill>
                  <a:schemeClr val="accent6"/>
                </a:solidFill>
              </a:rPr>
              <a:t>B</a:t>
            </a:r>
            <a:r>
              <a:rPr lang="en">
                <a:solidFill>
                  <a:schemeClr val="accent6"/>
                </a:solidFill>
              </a:rPr>
              <a:t>  = 3			     [x]</a:t>
            </a:r>
            <a:r>
              <a:rPr baseline="-25000" lang="en">
                <a:solidFill>
                  <a:schemeClr val="accent6"/>
                </a:solidFill>
              </a:rPr>
              <a:t>C</a:t>
            </a:r>
            <a:r>
              <a:rPr lang="en">
                <a:solidFill>
                  <a:schemeClr val="accent6"/>
                </a:solidFill>
              </a:rPr>
              <a:t>  = 2</a:t>
            </a:r>
            <a:r>
              <a:rPr lang="en">
                <a:solidFill>
                  <a:schemeClr val="accent5"/>
                </a:solidFill>
              </a:rPr>
              <a:t>						</a:t>
            </a:r>
            <a:r>
              <a:rPr lang="en">
                <a:solidFill>
                  <a:schemeClr val="accent4"/>
                </a:solidFill>
              </a:rPr>
              <a:t>[y]</a:t>
            </a:r>
            <a:r>
              <a:rPr baseline="-25000" lang="en">
                <a:solidFill>
                  <a:schemeClr val="accent4"/>
                </a:solidFill>
              </a:rPr>
              <a:t>A</a:t>
            </a:r>
            <a:r>
              <a:rPr lang="en">
                <a:solidFill>
                  <a:schemeClr val="accent4"/>
                </a:solidFill>
              </a:rPr>
              <a:t>  =  2				   [y]</a:t>
            </a:r>
            <a:r>
              <a:rPr baseline="-25000" lang="en">
                <a:solidFill>
                  <a:schemeClr val="accent4"/>
                </a:solidFill>
              </a:rPr>
              <a:t>B</a:t>
            </a:r>
            <a:r>
              <a:rPr lang="en">
                <a:solidFill>
                  <a:schemeClr val="accent4"/>
                </a:solidFill>
              </a:rPr>
              <a:t>  = 2			     [y]</a:t>
            </a:r>
            <a:r>
              <a:rPr baseline="-25000" lang="en">
                <a:solidFill>
                  <a:schemeClr val="accent4"/>
                </a:solidFill>
              </a:rPr>
              <a:t>C</a:t>
            </a:r>
            <a:r>
              <a:rPr lang="en">
                <a:solidFill>
                  <a:schemeClr val="accent4"/>
                </a:solidFill>
              </a:rPr>
              <a:t>  = 0</a:t>
            </a:r>
            <a:endParaRPr>
              <a:solidFill>
                <a:schemeClr val="accent4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2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n">
                <a:solidFill>
                  <a:schemeClr val="accent2"/>
                </a:solidFill>
              </a:rPr>
              <a:t>How do we compute [x*y] ?</a:t>
            </a:r>
            <a:endParaRPr>
              <a:solidFill>
                <a:schemeClr val="accent2"/>
              </a:solidFill>
            </a:endParaRPr>
          </a:p>
        </p:txBody>
      </p:sp>
      <p:pic>
        <p:nvPicPr>
          <p:cNvPr id="738" name="Google Shape;738;p5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02696" y="1106363"/>
            <a:ext cx="554130" cy="554131"/>
          </a:xfrm>
          <a:prstGeom prst="rect">
            <a:avLst/>
          </a:prstGeom>
          <a:noFill/>
          <a:ln>
            <a:noFill/>
          </a:ln>
        </p:spPr>
      </p:pic>
      <p:sp>
        <p:nvSpPr>
          <p:cNvPr id="739" name="Google Shape;739;p58"/>
          <p:cNvSpPr txBox="1"/>
          <p:nvPr/>
        </p:nvSpPr>
        <p:spPr>
          <a:xfrm>
            <a:off x="3048138" y="598475"/>
            <a:ext cx="867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Alice</a:t>
            </a:r>
            <a:endParaRPr>
              <a:solidFill>
                <a:schemeClr val="accent6"/>
              </a:solidFill>
            </a:endParaRPr>
          </a:p>
        </p:txBody>
      </p:sp>
      <p:sp>
        <p:nvSpPr>
          <p:cNvPr id="740" name="Google Shape;740;p58"/>
          <p:cNvSpPr txBox="1"/>
          <p:nvPr/>
        </p:nvSpPr>
        <p:spPr>
          <a:xfrm>
            <a:off x="5540400" y="614325"/>
            <a:ext cx="867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Bob</a:t>
            </a:r>
            <a:br>
              <a:rPr lang="en">
                <a:solidFill>
                  <a:schemeClr val="dk1"/>
                </a:solidFill>
              </a:rPr>
            </a:br>
            <a:r>
              <a:rPr lang="en">
                <a:solidFill>
                  <a:schemeClr val="accent6"/>
                </a:solidFill>
              </a:rPr>
              <a:t>x = 2</a:t>
            </a:r>
            <a:endParaRPr>
              <a:solidFill>
                <a:schemeClr val="accent6"/>
              </a:solidFill>
            </a:endParaRPr>
          </a:p>
        </p:txBody>
      </p:sp>
      <p:pic>
        <p:nvPicPr>
          <p:cNvPr id="741" name="Google Shape;741;p5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107500" y="1106374"/>
            <a:ext cx="554125" cy="554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42" name="Google Shape;742;p5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697150" y="1106368"/>
            <a:ext cx="554130" cy="554131"/>
          </a:xfrm>
          <a:prstGeom prst="rect">
            <a:avLst/>
          </a:prstGeom>
          <a:noFill/>
          <a:ln>
            <a:noFill/>
          </a:ln>
        </p:spPr>
      </p:pic>
      <p:sp>
        <p:nvSpPr>
          <p:cNvPr id="743" name="Google Shape;743;p58"/>
          <p:cNvSpPr txBox="1"/>
          <p:nvPr/>
        </p:nvSpPr>
        <p:spPr>
          <a:xfrm>
            <a:off x="7941075" y="614325"/>
            <a:ext cx="867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Carlos</a:t>
            </a:r>
            <a:br>
              <a:rPr lang="en">
                <a:solidFill>
                  <a:schemeClr val="dk1"/>
                </a:solidFill>
              </a:rPr>
            </a:br>
            <a:r>
              <a:rPr lang="en">
                <a:solidFill>
                  <a:schemeClr val="accent4"/>
                </a:solidFill>
              </a:rPr>
              <a:t>y = 4</a:t>
            </a:r>
            <a:endParaRPr b="1">
              <a:solidFill>
                <a:schemeClr val="accent4"/>
              </a:solidFill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7" name="Shape 7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8" name="Google Shape;748;p59"/>
          <p:cNvSpPr txBox="1"/>
          <p:nvPr>
            <p:ph type="title"/>
          </p:nvPr>
        </p:nvSpPr>
        <p:spPr>
          <a:xfrm>
            <a:off x="0" y="0"/>
            <a:ext cx="914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Quick intro to multiplication</a:t>
            </a:r>
            <a:endParaRPr/>
          </a:p>
        </p:txBody>
      </p:sp>
      <p:sp>
        <p:nvSpPr>
          <p:cNvPr id="749" name="Google Shape;749;p59"/>
          <p:cNvSpPr txBox="1"/>
          <p:nvPr>
            <p:ph idx="1" type="body"/>
          </p:nvPr>
        </p:nvSpPr>
        <p:spPr>
          <a:xfrm>
            <a:off x="320050" y="1660500"/>
            <a:ext cx="8859300" cy="288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						</a:t>
            </a:r>
            <a:r>
              <a:rPr lang="en">
                <a:solidFill>
                  <a:schemeClr val="accent6"/>
                </a:solidFill>
              </a:rPr>
              <a:t>[x]</a:t>
            </a:r>
            <a:r>
              <a:rPr baseline="-25000" lang="en">
                <a:solidFill>
                  <a:schemeClr val="accent6"/>
                </a:solidFill>
              </a:rPr>
              <a:t>A</a:t>
            </a:r>
            <a:r>
              <a:rPr lang="en">
                <a:solidFill>
                  <a:schemeClr val="accent6"/>
                </a:solidFill>
              </a:rPr>
              <a:t>  =  2				   [x]</a:t>
            </a:r>
            <a:r>
              <a:rPr baseline="-25000" lang="en">
                <a:solidFill>
                  <a:schemeClr val="accent6"/>
                </a:solidFill>
              </a:rPr>
              <a:t>B</a:t>
            </a:r>
            <a:r>
              <a:rPr lang="en">
                <a:solidFill>
                  <a:schemeClr val="accent6"/>
                </a:solidFill>
              </a:rPr>
              <a:t>  = 3			     [x]</a:t>
            </a:r>
            <a:r>
              <a:rPr baseline="-25000" lang="en">
                <a:solidFill>
                  <a:schemeClr val="accent6"/>
                </a:solidFill>
              </a:rPr>
              <a:t>C</a:t>
            </a:r>
            <a:r>
              <a:rPr lang="en">
                <a:solidFill>
                  <a:schemeClr val="accent6"/>
                </a:solidFill>
              </a:rPr>
              <a:t>  = 2</a:t>
            </a:r>
            <a:br>
              <a:rPr lang="en">
                <a:solidFill>
                  <a:schemeClr val="accent6"/>
                </a:solidFill>
              </a:rPr>
            </a:br>
            <a:r>
              <a:rPr lang="en">
                <a:solidFill>
                  <a:schemeClr val="accent5"/>
                </a:solidFill>
              </a:rPr>
              <a:t>						</a:t>
            </a:r>
            <a:r>
              <a:rPr lang="en">
                <a:solidFill>
                  <a:schemeClr val="accent4"/>
                </a:solidFill>
              </a:rPr>
              <a:t>[y]</a:t>
            </a:r>
            <a:r>
              <a:rPr baseline="-25000" lang="en">
                <a:solidFill>
                  <a:schemeClr val="accent4"/>
                </a:solidFill>
              </a:rPr>
              <a:t>A</a:t>
            </a:r>
            <a:r>
              <a:rPr lang="en">
                <a:solidFill>
                  <a:schemeClr val="accent4"/>
                </a:solidFill>
              </a:rPr>
              <a:t>  =  2				   [y]</a:t>
            </a:r>
            <a:r>
              <a:rPr baseline="-25000" lang="en">
                <a:solidFill>
                  <a:schemeClr val="accent4"/>
                </a:solidFill>
              </a:rPr>
              <a:t>B</a:t>
            </a:r>
            <a:r>
              <a:rPr lang="en">
                <a:solidFill>
                  <a:schemeClr val="accent4"/>
                </a:solidFill>
              </a:rPr>
              <a:t>  = 2			     [y]</a:t>
            </a:r>
            <a:r>
              <a:rPr baseline="-25000" lang="en">
                <a:solidFill>
                  <a:schemeClr val="accent4"/>
                </a:solidFill>
              </a:rPr>
              <a:t>C</a:t>
            </a:r>
            <a:r>
              <a:rPr lang="en">
                <a:solidFill>
                  <a:schemeClr val="accent4"/>
                </a:solidFill>
              </a:rPr>
              <a:t>  = 0</a:t>
            </a:r>
            <a:endParaRPr>
              <a:solidFill>
                <a:schemeClr val="accent4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2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</a:rPr>
              <a:t>How do we compute [x*y] ?</a:t>
            </a:r>
            <a:endParaRPr>
              <a:solidFill>
                <a:schemeClr val="accent2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n">
                <a:solidFill>
                  <a:schemeClr val="accent2"/>
                </a:solidFill>
              </a:rPr>
              <a:t>Use a technique called </a:t>
            </a:r>
            <a:r>
              <a:rPr b="1" i="1" lang="en">
                <a:solidFill>
                  <a:schemeClr val="accent2"/>
                </a:solidFill>
              </a:rPr>
              <a:t>Beaver Triples</a:t>
            </a:r>
            <a:r>
              <a:rPr lang="en">
                <a:solidFill>
                  <a:schemeClr val="accent2"/>
                </a:solidFill>
              </a:rPr>
              <a:t> or </a:t>
            </a:r>
            <a:r>
              <a:rPr b="1" i="1" lang="en">
                <a:solidFill>
                  <a:schemeClr val="accent2"/>
                </a:solidFill>
              </a:rPr>
              <a:t>Multiplication Triples</a:t>
            </a:r>
            <a:endParaRPr>
              <a:solidFill>
                <a:schemeClr val="accent2"/>
              </a:solidFill>
            </a:endParaRPr>
          </a:p>
        </p:txBody>
      </p:sp>
      <p:pic>
        <p:nvPicPr>
          <p:cNvPr id="750" name="Google Shape;750;p5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02696" y="1106363"/>
            <a:ext cx="554130" cy="554131"/>
          </a:xfrm>
          <a:prstGeom prst="rect">
            <a:avLst/>
          </a:prstGeom>
          <a:noFill/>
          <a:ln>
            <a:noFill/>
          </a:ln>
        </p:spPr>
      </p:pic>
      <p:sp>
        <p:nvSpPr>
          <p:cNvPr id="751" name="Google Shape;751;p59"/>
          <p:cNvSpPr txBox="1"/>
          <p:nvPr/>
        </p:nvSpPr>
        <p:spPr>
          <a:xfrm>
            <a:off x="3048138" y="598475"/>
            <a:ext cx="867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Alice</a:t>
            </a:r>
            <a:endParaRPr>
              <a:solidFill>
                <a:schemeClr val="accent6"/>
              </a:solidFill>
            </a:endParaRPr>
          </a:p>
        </p:txBody>
      </p:sp>
      <p:sp>
        <p:nvSpPr>
          <p:cNvPr id="752" name="Google Shape;752;p59"/>
          <p:cNvSpPr txBox="1"/>
          <p:nvPr/>
        </p:nvSpPr>
        <p:spPr>
          <a:xfrm>
            <a:off x="5540400" y="614325"/>
            <a:ext cx="867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Bob</a:t>
            </a:r>
            <a:br>
              <a:rPr lang="en">
                <a:solidFill>
                  <a:schemeClr val="dk1"/>
                </a:solidFill>
              </a:rPr>
            </a:br>
            <a:r>
              <a:rPr lang="en">
                <a:solidFill>
                  <a:schemeClr val="accent6"/>
                </a:solidFill>
              </a:rPr>
              <a:t>x = 2</a:t>
            </a:r>
            <a:endParaRPr>
              <a:solidFill>
                <a:schemeClr val="accent6"/>
              </a:solidFill>
            </a:endParaRPr>
          </a:p>
        </p:txBody>
      </p:sp>
      <p:pic>
        <p:nvPicPr>
          <p:cNvPr id="753" name="Google Shape;753;p5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107500" y="1106374"/>
            <a:ext cx="554125" cy="554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54" name="Google Shape;754;p5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697150" y="1106368"/>
            <a:ext cx="554130" cy="554131"/>
          </a:xfrm>
          <a:prstGeom prst="rect">
            <a:avLst/>
          </a:prstGeom>
          <a:noFill/>
          <a:ln>
            <a:noFill/>
          </a:ln>
        </p:spPr>
      </p:pic>
      <p:sp>
        <p:nvSpPr>
          <p:cNvPr id="755" name="Google Shape;755;p59"/>
          <p:cNvSpPr txBox="1"/>
          <p:nvPr/>
        </p:nvSpPr>
        <p:spPr>
          <a:xfrm>
            <a:off x="7941075" y="614325"/>
            <a:ext cx="867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Carlos</a:t>
            </a:r>
            <a:br>
              <a:rPr lang="en">
                <a:solidFill>
                  <a:schemeClr val="dk1"/>
                </a:solidFill>
              </a:rPr>
            </a:br>
            <a:r>
              <a:rPr lang="en">
                <a:solidFill>
                  <a:schemeClr val="accent4"/>
                </a:solidFill>
              </a:rPr>
              <a:t>y = 4</a:t>
            </a:r>
            <a:endParaRPr b="1">
              <a:solidFill>
                <a:schemeClr val="accent4"/>
              </a:solidFill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9" name="Shape 7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0" name="Google Shape;760;p60"/>
          <p:cNvSpPr txBox="1"/>
          <p:nvPr>
            <p:ph type="title"/>
          </p:nvPr>
        </p:nvSpPr>
        <p:spPr>
          <a:xfrm>
            <a:off x="0" y="0"/>
            <a:ext cx="914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Quick intro to multiplication</a:t>
            </a:r>
            <a:endParaRPr/>
          </a:p>
        </p:txBody>
      </p:sp>
      <p:sp>
        <p:nvSpPr>
          <p:cNvPr id="761" name="Google Shape;761;p60"/>
          <p:cNvSpPr txBox="1"/>
          <p:nvPr>
            <p:ph idx="1" type="body"/>
          </p:nvPr>
        </p:nvSpPr>
        <p:spPr>
          <a:xfrm>
            <a:off x="305850" y="1660500"/>
            <a:ext cx="8859300" cy="288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						</a:t>
            </a:r>
            <a:r>
              <a:rPr lang="en">
                <a:solidFill>
                  <a:schemeClr val="accent6"/>
                </a:solidFill>
              </a:rPr>
              <a:t>[x]</a:t>
            </a:r>
            <a:r>
              <a:rPr baseline="-25000" lang="en">
                <a:solidFill>
                  <a:schemeClr val="accent6"/>
                </a:solidFill>
              </a:rPr>
              <a:t>A</a:t>
            </a:r>
            <a:r>
              <a:rPr lang="en">
                <a:solidFill>
                  <a:schemeClr val="accent6"/>
                </a:solidFill>
              </a:rPr>
              <a:t>  =  2		</a:t>
            </a:r>
            <a:r>
              <a:rPr lang="en">
                <a:solidFill>
                  <a:schemeClr val="accent5"/>
                </a:solidFill>
              </a:rPr>
              <a:t>	</a:t>
            </a:r>
            <a:r>
              <a:rPr lang="en">
                <a:solidFill>
                  <a:schemeClr val="accent6"/>
                </a:solidFill>
              </a:rPr>
              <a:t>	   [x]</a:t>
            </a:r>
            <a:r>
              <a:rPr baseline="-25000" lang="en">
                <a:solidFill>
                  <a:schemeClr val="accent6"/>
                </a:solidFill>
              </a:rPr>
              <a:t>B</a:t>
            </a:r>
            <a:r>
              <a:rPr lang="en">
                <a:solidFill>
                  <a:schemeClr val="accent6"/>
                </a:solidFill>
              </a:rPr>
              <a:t>  = 3			     [x]</a:t>
            </a:r>
            <a:r>
              <a:rPr baseline="-25000" lang="en">
                <a:solidFill>
                  <a:schemeClr val="accent6"/>
                </a:solidFill>
              </a:rPr>
              <a:t>C</a:t>
            </a:r>
            <a:r>
              <a:rPr lang="en">
                <a:solidFill>
                  <a:schemeClr val="accent6"/>
                </a:solidFill>
              </a:rPr>
              <a:t>  = 2</a:t>
            </a:r>
            <a:br>
              <a:rPr lang="en">
                <a:solidFill>
                  <a:schemeClr val="accent6"/>
                </a:solidFill>
              </a:rPr>
            </a:br>
            <a:r>
              <a:rPr lang="en">
                <a:solidFill>
                  <a:schemeClr val="accent6"/>
                </a:solidFill>
              </a:rPr>
              <a:t>						</a:t>
            </a:r>
            <a:r>
              <a:rPr lang="en">
                <a:solidFill>
                  <a:schemeClr val="accent4"/>
                </a:solidFill>
              </a:rPr>
              <a:t>[y]</a:t>
            </a:r>
            <a:r>
              <a:rPr baseline="-25000" lang="en">
                <a:solidFill>
                  <a:schemeClr val="accent4"/>
                </a:solidFill>
              </a:rPr>
              <a:t>A</a:t>
            </a:r>
            <a:r>
              <a:rPr lang="en">
                <a:solidFill>
                  <a:schemeClr val="accent4"/>
                </a:solidFill>
              </a:rPr>
              <a:t>  =  2				   [y]</a:t>
            </a:r>
            <a:r>
              <a:rPr baseline="-25000" lang="en">
                <a:solidFill>
                  <a:schemeClr val="accent4"/>
                </a:solidFill>
              </a:rPr>
              <a:t>B</a:t>
            </a:r>
            <a:r>
              <a:rPr lang="en">
                <a:solidFill>
                  <a:schemeClr val="accent4"/>
                </a:solidFill>
              </a:rPr>
              <a:t>  = 2			     [y]</a:t>
            </a:r>
            <a:r>
              <a:rPr baseline="-25000" lang="en">
                <a:solidFill>
                  <a:schemeClr val="accent4"/>
                </a:solidFill>
              </a:rPr>
              <a:t>C</a:t>
            </a:r>
            <a:r>
              <a:rPr lang="en">
                <a:solidFill>
                  <a:schemeClr val="accent4"/>
                </a:solidFill>
              </a:rPr>
              <a:t>  = 0					</a:t>
            </a:r>
            <a:endParaRPr>
              <a:solidFill>
                <a:srgbClr val="9FC5E8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>
              <a:solidFill>
                <a:schemeClr val="accent2"/>
              </a:solidFill>
            </a:endParaRPr>
          </a:p>
        </p:txBody>
      </p:sp>
      <p:pic>
        <p:nvPicPr>
          <p:cNvPr id="762" name="Google Shape;762;p6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02696" y="1106363"/>
            <a:ext cx="554130" cy="554131"/>
          </a:xfrm>
          <a:prstGeom prst="rect">
            <a:avLst/>
          </a:prstGeom>
          <a:noFill/>
          <a:ln>
            <a:noFill/>
          </a:ln>
        </p:spPr>
      </p:pic>
      <p:sp>
        <p:nvSpPr>
          <p:cNvPr id="763" name="Google Shape;763;p60"/>
          <p:cNvSpPr txBox="1"/>
          <p:nvPr/>
        </p:nvSpPr>
        <p:spPr>
          <a:xfrm>
            <a:off x="3048138" y="598475"/>
            <a:ext cx="867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Alice</a:t>
            </a:r>
            <a:endParaRPr>
              <a:solidFill>
                <a:schemeClr val="accent6"/>
              </a:solidFill>
            </a:endParaRPr>
          </a:p>
        </p:txBody>
      </p:sp>
      <p:sp>
        <p:nvSpPr>
          <p:cNvPr id="764" name="Google Shape;764;p60"/>
          <p:cNvSpPr txBox="1"/>
          <p:nvPr/>
        </p:nvSpPr>
        <p:spPr>
          <a:xfrm>
            <a:off x="5540400" y="614325"/>
            <a:ext cx="867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Bob</a:t>
            </a:r>
            <a:br>
              <a:rPr lang="en">
                <a:solidFill>
                  <a:schemeClr val="dk1"/>
                </a:solidFill>
              </a:rPr>
            </a:br>
            <a:r>
              <a:rPr lang="en">
                <a:solidFill>
                  <a:schemeClr val="accent6"/>
                </a:solidFill>
              </a:rPr>
              <a:t>x = 2</a:t>
            </a:r>
            <a:endParaRPr>
              <a:solidFill>
                <a:schemeClr val="accent6"/>
              </a:solidFill>
            </a:endParaRPr>
          </a:p>
        </p:txBody>
      </p:sp>
      <p:pic>
        <p:nvPicPr>
          <p:cNvPr id="765" name="Google Shape;765;p6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107500" y="1106374"/>
            <a:ext cx="554125" cy="554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66" name="Google Shape;766;p6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697150" y="1106368"/>
            <a:ext cx="554130" cy="554131"/>
          </a:xfrm>
          <a:prstGeom prst="rect">
            <a:avLst/>
          </a:prstGeom>
          <a:noFill/>
          <a:ln>
            <a:noFill/>
          </a:ln>
        </p:spPr>
      </p:pic>
      <p:sp>
        <p:nvSpPr>
          <p:cNvPr id="767" name="Google Shape;767;p60"/>
          <p:cNvSpPr txBox="1"/>
          <p:nvPr/>
        </p:nvSpPr>
        <p:spPr>
          <a:xfrm>
            <a:off x="7941075" y="614325"/>
            <a:ext cx="867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Carlos</a:t>
            </a:r>
            <a:br>
              <a:rPr lang="en">
                <a:solidFill>
                  <a:schemeClr val="dk1"/>
                </a:solidFill>
              </a:rPr>
            </a:br>
            <a:r>
              <a:rPr lang="en">
                <a:solidFill>
                  <a:schemeClr val="accent4"/>
                </a:solidFill>
              </a:rPr>
              <a:t>y = 4</a:t>
            </a:r>
            <a:endParaRPr b="1">
              <a:solidFill>
                <a:schemeClr val="accent4"/>
              </a:solidFill>
            </a:endParaRPr>
          </a:p>
        </p:txBody>
      </p:sp>
      <p:sp>
        <p:nvSpPr>
          <p:cNvPr id="768" name="Google Shape;768;p60"/>
          <p:cNvSpPr txBox="1"/>
          <p:nvPr/>
        </p:nvSpPr>
        <p:spPr>
          <a:xfrm>
            <a:off x="451500" y="1561700"/>
            <a:ext cx="1948200" cy="12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</a:rPr>
              <a:t>Suppose we already have a sharing of  &lt;a,b,c&gt; such that </a:t>
            </a:r>
            <a:br>
              <a:rPr lang="en">
                <a:solidFill>
                  <a:schemeClr val="accent2"/>
                </a:solidFill>
              </a:rPr>
            </a:br>
            <a:r>
              <a:rPr lang="en">
                <a:solidFill>
                  <a:schemeClr val="accent2"/>
                </a:solidFill>
              </a:rPr>
              <a:t>a*b = c</a:t>
            </a:r>
            <a:endParaRPr>
              <a:solidFill>
                <a:schemeClr val="accent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9FC5E8"/>
              </a:solidFill>
            </a:endParaRPr>
          </a:p>
        </p:txBody>
      </p:sp>
      <p:pic>
        <p:nvPicPr>
          <p:cNvPr id="769" name="Google Shape;769;p6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19175" y="1026850"/>
            <a:ext cx="554125" cy="554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3" name="Shape 7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4" name="Google Shape;774;p61"/>
          <p:cNvSpPr txBox="1"/>
          <p:nvPr>
            <p:ph type="title"/>
          </p:nvPr>
        </p:nvSpPr>
        <p:spPr>
          <a:xfrm>
            <a:off x="0" y="0"/>
            <a:ext cx="914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Quick intro to multiplication</a:t>
            </a:r>
            <a:endParaRPr/>
          </a:p>
        </p:txBody>
      </p:sp>
      <p:sp>
        <p:nvSpPr>
          <p:cNvPr id="775" name="Google Shape;775;p61"/>
          <p:cNvSpPr txBox="1"/>
          <p:nvPr>
            <p:ph idx="1" type="body"/>
          </p:nvPr>
        </p:nvSpPr>
        <p:spPr>
          <a:xfrm>
            <a:off x="305850" y="1660500"/>
            <a:ext cx="8859300" cy="288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						</a:t>
            </a:r>
            <a:r>
              <a:rPr lang="en">
                <a:solidFill>
                  <a:schemeClr val="accent6"/>
                </a:solidFill>
              </a:rPr>
              <a:t>[x]</a:t>
            </a:r>
            <a:r>
              <a:rPr baseline="-25000" lang="en">
                <a:solidFill>
                  <a:schemeClr val="accent6"/>
                </a:solidFill>
              </a:rPr>
              <a:t>A</a:t>
            </a:r>
            <a:r>
              <a:rPr lang="en">
                <a:solidFill>
                  <a:schemeClr val="accent6"/>
                </a:solidFill>
              </a:rPr>
              <a:t>  =  2		</a:t>
            </a:r>
            <a:r>
              <a:rPr lang="en">
                <a:solidFill>
                  <a:schemeClr val="accent5"/>
                </a:solidFill>
              </a:rPr>
              <a:t>	</a:t>
            </a:r>
            <a:r>
              <a:rPr lang="en">
                <a:solidFill>
                  <a:schemeClr val="accent6"/>
                </a:solidFill>
              </a:rPr>
              <a:t>	   [x]</a:t>
            </a:r>
            <a:r>
              <a:rPr baseline="-25000" lang="en">
                <a:solidFill>
                  <a:schemeClr val="accent6"/>
                </a:solidFill>
              </a:rPr>
              <a:t>B</a:t>
            </a:r>
            <a:r>
              <a:rPr lang="en">
                <a:solidFill>
                  <a:schemeClr val="accent6"/>
                </a:solidFill>
              </a:rPr>
              <a:t>  = 3			     [x]</a:t>
            </a:r>
            <a:r>
              <a:rPr baseline="-25000" lang="en">
                <a:solidFill>
                  <a:schemeClr val="accent6"/>
                </a:solidFill>
              </a:rPr>
              <a:t>C</a:t>
            </a:r>
            <a:r>
              <a:rPr lang="en">
                <a:solidFill>
                  <a:schemeClr val="accent6"/>
                </a:solidFill>
              </a:rPr>
              <a:t>  = 2</a:t>
            </a:r>
            <a:br>
              <a:rPr lang="en">
                <a:solidFill>
                  <a:schemeClr val="accent6"/>
                </a:solidFill>
              </a:rPr>
            </a:br>
            <a:r>
              <a:rPr lang="en">
                <a:solidFill>
                  <a:schemeClr val="accent6"/>
                </a:solidFill>
              </a:rPr>
              <a:t>						</a:t>
            </a:r>
            <a:r>
              <a:rPr lang="en">
                <a:solidFill>
                  <a:schemeClr val="accent4"/>
                </a:solidFill>
              </a:rPr>
              <a:t>[y]</a:t>
            </a:r>
            <a:r>
              <a:rPr baseline="-25000" lang="en">
                <a:solidFill>
                  <a:schemeClr val="accent4"/>
                </a:solidFill>
              </a:rPr>
              <a:t>A</a:t>
            </a:r>
            <a:r>
              <a:rPr lang="en">
                <a:solidFill>
                  <a:schemeClr val="accent4"/>
                </a:solidFill>
              </a:rPr>
              <a:t>  =  2				   [y]</a:t>
            </a:r>
            <a:r>
              <a:rPr baseline="-25000" lang="en">
                <a:solidFill>
                  <a:schemeClr val="accent4"/>
                </a:solidFill>
              </a:rPr>
              <a:t>B</a:t>
            </a:r>
            <a:r>
              <a:rPr lang="en">
                <a:solidFill>
                  <a:schemeClr val="accent4"/>
                </a:solidFill>
              </a:rPr>
              <a:t>  = 2			     [y]</a:t>
            </a:r>
            <a:r>
              <a:rPr baseline="-25000" lang="en">
                <a:solidFill>
                  <a:schemeClr val="accent4"/>
                </a:solidFill>
              </a:rPr>
              <a:t>C</a:t>
            </a:r>
            <a:r>
              <a:rPr lang="en">
                <a:solidFill>
                  <a:schemeClr val="accent4"/>
                </a:solidFill>
              </a:rPr>
              <a:t>  = 0						</a:t>
            </a:r>
            <a:r>
              <a:rPr lang="en">
                <a:solidFill>
                  <a:srgbClr val="B6D7A8"/>
                </a:solidFill>
              </a:rPr>
              <a:t>[a]</a:t>
            </a:r>
            <a:r>
              <a:rPr baseline="-25000" lang="en">
                <a:solidFill>
                  <a:srgbClr val="B6D7A8"/>
                </a:solidFill>
              </a:rPr>
              <a:t>A</a:t>
            </a:r>
            <a:r>
              <a:rPr lang="en">
                <a:solidFill>
                  <a:srgbClr val="B6D7A8"/>
                </a:solidFill>
              </a:rPr>
              <a:t>  =  0				   </a:t>
            </a:r>
            <a:r>
              <a:rPr lang="en">
                <a:solidFill>
                  <a:srgbClr val="B6D7A8"/>
                </a:solidFill>
              </a:rPr>
              <a:t>[a]</a:t>
            </a:r>
            <a:r>
              <a:rPr baseline="-25000" lang="en">
                <a:solidFill>
                  <a:srgbClr val="B6D7A8"/>
                </a:solidFill>
              </a:rPr>
              <a:t>B</a:t>
            </a:r>
            <a:r>
              <a:rPr lang="en">
                <a:solidFill>
                  <a:srgbClr val="B6D7A8"/>
                </a:solidFill>
              </a:rPr>
              <a:t>  =  4			     [a]</a:t>
            </a:r>
            <a:r>
              <a:rPr baseline="-25000" lang="en">
                <a:solidFill>
                  <a:srgbClr val="B6D7A8"/>
                </a:solidFill>
              </a:rPr>
              <a:t>C</a:t>
            </a:r>
            <a:r>
              <a:rPr lang="en">
                <a:solidFill>
                  <a:srgbClr val="B6D7A8"/>
                </a:solidFill>
              </a:rPr>
              <a:t>  =  4						</a:t>
            </a:r>
            <a:r>
              <a:rPr lang="en">
                <a:solidFill>
                  <a:srgbClr val="B4A7D6"/>
                </a:solidFill>
              </a:rPr>
              <a:t>[b]</a:t>
            </a:r>
            <a:r>
              <a:rPr baseline="-25000" lang="en">
                <a:solidFill>
                  <a:srgbClr val="B4A7D6"/>
                </a:solidFill>
              </a:rPr>
              <a:t>A</a:t>
            </a:r>
            <a:r>
              <a:rPr lang="en">
                <a:solidFill>
                  <a:srgbClr val="B4A7D6"/>
                </a:solidFill>
              </a:rPr>
              <a:t>  =  1				   [b]</a:t>
            </a:r>
            <a:r>
              <a:rPr baseline="-25000" lang="en">
                <a:solidFill>
                  <a:srgbClr val="B4A7D6"/>
                </a:solidFill>
              </a:rPr>
              <a:t>B</a:t>
            </a:r>
            <a:r>
              <a:rPr lang="en">
                <a:solidFill>
                  <a:srgbClr val="B4A7D6"/>
                </a:solidFill>
              </a:rPr>
              <a:t>  =  1			     [b]</a:t>
            </a:r>
            <a:r>
              <a:rPr baseline="-25000" lang="en">
                <a:solidFill>
                  <a:srgbClr val="B4A7D6"/>
                </a:solidFill>
              </a:rPr>
              <a:t>C</a:t>
            </a:r>
            <a:r>
              <a:rPr lang="en">
                <a:solidFill>
                  <a:srgbClr val="B4A7D6"/>
                </a:solidFill>
              </a:rPr>
              <a:t>  =  0</a:t>
            </a:r>
            <a:r>
              <a:rPr lang="en">
                <a:solidFill>
                  <a:schemeClr val="accent2"/>
                </a:solidFill>
              </a:rPr>
              <a:t>						</a:t>
            </a:r>
            <a:r>
              <a:rPr lang="en">
                <a:solidFill>
                  <a:srgbClr val="9FC5E8"/>
                </a:solidFill>
              </a:rPr>
              <a:t>[c]</a:t>
            </a:r>
            <a:r>
              <a:rPr baseline="-25000" lang="en">
                <a:solidFill>
                  <a:srgbClr val="9FC5E8"/>
                </a:solidFill>
              </a:rPr>
              <a:t>A</a:t>
            </a:r>
            <a:r>
              <a:rPr lang="en">
                <a:solidFill>
                  <a:srgbClr val="9FC5E8"/>
                </a:solidFill>
              </a:rPr>
              <a:t>  =  4				   [c]</a:t>
            </a:r>
            <a:r>
              <a:rPr baseline="-25000" lang="en">
                <a:solidFill>
                  <a:srgbClr val="9FC5E8"/>
                </a:solidFill>
              </a:rPr>
              <a:t>B</a:t>
            </a:r>
            <a:r>
              <a:rPr lang="en">
                <a:solidFill>
                  <a:srgbClr val="9FC5E8"/>
                </a:solidFill>
              </a:rPr>
              <a:t>  =  0			     [c]</a:t>
            </a:r>
            <a:r>
              <a:rPr baseline="-25000" lang="en">
                <a:solidFill>
                  <a:srgbClr val="9FC5E8"/>
                </a:solidFill>
              </a:rPr>
              <a:t>C</a:t>
            </a:r>
            <a:r>
              <a:rPr lang="en">
                <a:solidFill>
                  <a:srgbClr val="9FC5E8"/>
                </a:solidFill>
              </a:rPr>
              <a:t>  =  2</a:t>
            </a:r>
            <a:endParaRPr>
              <a:solidFill>
                <a:srgbClr val="9FC5E8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>
              <a:solidFill>
                <a:schemeClr val="accent2"/>
              </a:solidFill>
            </a:endParaRPr>
          </a:p>
        </p:txBody>
      </p:sp>
      <p:pic>
        <p:nvPicPr>
          <p:cNvPr id="776" name="Google Shape;776;p6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02696" y="1106363"/>
            <a:ext cx="554130" cy="554131"/>
          </a:xfrm>
          <a:prstGeom prst="rect">
            <a:avLst/>
          </a:prstGeom>
          <a:noFill/>
          <a:ln>
            <a:noFill/>
          </a:ln>
        </p:spPr>
      </p:pic>
      <p:sp>
        <p:nvSpPr>
          <p:cNvPr id="777" name="Google Shape;777;p61"/>
          <p:cNvSpPr txBox="1"/>
          <p:nvPr/>
        </p:nvSpPr>
        <p:spPr>
          <a:xfrm>
            <a:off x="3048138" y="598475"/>
            <a:ext cx="867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Alice</a:t>
            </a:r>
            <a:endParaRPr>
              <a:solidFill>
                <a:schemeClr val="accent6"/>
              </a:solidFill>
            </a:endParaRPr>
          </a:p>
        </p:txBody>
      </p:sp>
      <p:sp>
        <p:nvSpPr>
          <p:cNvPr id="778" name="Google Shape;778;p61"/>
          <p:cNvSpPr txBox="1"/>
          <p:nvPr/>
        </p:nvSpPr>
        <p:spPr>
          <a:xfrm>
            <a:off x="5540400" y="614325"/>
            <a:ext cx="867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Bob</a:t>
            </a:r>
            <a:br>
              <a:rPr lang="en">
                <a:solidFill>
                  <a:schemeClr val="dk1"/>
                </a:solidFill>
              </a:rPr>
            </a:br>
            <a:r>
              <a:rPr lang="en">
                <a:solidFill>
                  <a:schemeClr val="accent6"/>
                </a:solidFill>
              </a:rPr>
              <a:t>x = 2</a:t>
            </a:r>
            <a:endParaRPr>
              <a:solidFill>
                <a:schemeClr val="accent6"/>
              </a:solidFill>
            </a:endParaRPr>
          </a:p>
        </p:txBody>
      </p:sp>
      <p:pic>
        <p:nvPicPr>
          <p:cNvPr id="779" name="Google Shape;779;p6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107500" y="1106374"/>
            <a:ext cx="554125" cy="554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80" name="Google Shape;780;p6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697150" y="1106368"/>
            <a:ext cx="554130" cy="554131"/>
          </a:xfrm>
          <a:prstGeom prst="rect">
            <a:avLst/>
          </a:prstGeom>
          <a:noFill/>
          <a:ln>
            <a:noFill/>
          </a:ln>
        </p:spPr>
      </p:pic>
      <p:sp>
        <p:nvSpPr>
          <p:cNvPr id="781" name="Google Shape;781;p61"/>
          <p:cNvSpPr txBox="1"/>
          <p:nvPr/>
        </p:nvSpPr>
        <p:spPr>
          <a:xfrm>
            <a:off x="7941075" y="614325"/>
            <a:ext cx="867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Carlos</a:t>
            </a:r>
            <a:br>
              <a:rPr lang="en">
                <a:solidFill>
                  <a:schemeClr val="dk1"/>
                </a:solidFill>
              </a:rPr>
            </a:br>
            <a:r>
              <a:rPr lang="en">
                <a:solidFill>
                  <a:schemeClr val="accent4"/>
                </a:solidFill>
              </a:rPr>
              <a:t>y = 4</a:t>
            </a:r>
            <a:endParaRPr b="1">
              <a:solidFill>
                <a:schemeClr val="accent4"/>
              </a:solidFill>
            </a:endParaRPr>
          </a:p>
        </p:txBody>
      </p:sp>
      <p:sp>
        <p:nvSpPr>
          <p:cNvPr id="782" name="Google Shape;782;p61"/>
          <p:cNvSpPr txBox="1"/>
          <p:nvPr/>
        </p:nvSpPr>
        <p:spPr>
          <a:xfrm>
            <a:off x="451500" y="1561700"/>
            <a:ext cx="1948200" cy="190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</a:rPr>
              <a:t>Suppose we already have a sharing of  </a:t>
            </a:r>
            <a:r>
              <a:rPr lang="en">
                <a:solidFill>
                  <a:schemeClr val="accent2"/>
                </a:solidFill>
              </a:rPr>
              <a:t>&lt;a,b,c&gt; such that </a:t>
            </a:r>
            <a:br>
              <a:rPr lang="en">
                <a:solidFill>
                  <a:schemeClr val="accent2"/>
                </a:solidFill>
              </a:rPr>
            </a:br>
            <a:r>
              <a:rPr lang="en">
                <a:solidFill>
                  <a:schemeClr val="accent2"/>
                </a:solidFill>
              </a:rPr>
              <a:t>a*b = c</a:t>
            </a:r>
            <a:endParaRPr>
              <a:solidFill>
                <a:schemeClr val="accent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6D7A8"/>
                </a:solidFill>
              </a:rPr>
              <a:t>a</a:t>
            </a:r>
            <a:r>
              <a:rPr lang="en">
                <a:solidFill>
                  <a:srgbClr val="B6D7A8"/>
                </a:solidFill>
              </a:rPr>
              <a:t> = 3</a:t>
            </a:r>
            <a:endParaRPr>
              <a:solidFill>
                <a:srgbClr val="B6D7A8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4A7D6"/>
                </a:solidFill>
              </a:rPr>
              <a:t>b = 2</a:t>
            </a:r>
            <a:endParaRPr>
              <a:solidFill>
                <a:srgbClr val="B4A7D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9FC5E8"/>
                </a:solidFill>
              </a:rPr>
              <a:t>c</a:t>
            </a:r>
            <a:r>
              <a:rPr lang="en">
                <a:solidFill>
                  <a:srgbClr val="9FC5E8"/>
                </a:solidFill>
              </a:rPr>
              <a:t> = 1 = 3*2</a:t>
            </a:r>
            <a:endParaRPr>
              <a:solidFill>
                <a:srgbClr val="9FC5E8"/>
              </a:solidFill>
            </a:endParaRPr>
          </a:p>
        </p:txBody>
      </p:sp>
      <p:pic>
        <p:nvPicPr>
          <p:cNvPr id="783" name="Google Shape;783;p6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19175" y="1026850"/>
            <a:ext cx="554125" cy="554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7" name="Shape 7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" name="Google Shape;788;p62"/>
          <p:cNvSpPr txBox="1"/>
          <p:nvPr>
            <p:ph type="title"/>
          </p:nvPr>
        </p:nvSpPr>
        <p:spPr>
          <a:xfrm>
            <a:off x="0" y="0"/>
            <a:ext cx="914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Quick intro to multiplication</a:t>
            </a:r>
            <a:endParaRPr/>
          </a:p>
        </p:txBody>
      </p:sp>
      <p:sp>
        <p:nvSpPr>
          <p:cNvPr id="789" name="Google Shape;789;p62"/>
          <p:cNvSpPr txBox="1"/>
          <p:nvPr>
            <p:ph idx="1" type="body"/>
          </p:nvPr>
        </p:nvSpPr>
        <p:spPr>
          <a:xfrm>
            <a:off x="305850" y="1660500"/>
            <a:ext cx="8859300" cy="288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						</a:t>
            </a:r>
            <a:r>
              <a:rPr lang="en">
                <a:solidFill>
                  <a:schemeClr val="accent6"/>
                </a:solidFill>
              </a:rPr>
              <a:t>[x]</a:t>
            </a:r>
            <a:r>
              <a:rPr baseline="-25000" lang="en">
                <a:solidFill>
                  <a:schemeClr val="accent6"/>
                </a:solidFill>
              </a:rPr>
              <a:t>A</a:t>
            </a:r>
            <a:r>
              <a:rPr lang="en">
                <a:solidFill>
                  <a:schemeClr val="accent6"/>
                </a:solidFill>
              </a:rPr>
              <a:t>  =  2		</a:t>
            </a:r>
            <a:r>
              <a:rPr lang="en">
                <a:solidFill>
                  <a:schemeClr val="accent5"/>
                </a:solidFill>
              </a:rPr>
              <a:t>	</a:t>
            </a:r>
            <a:r>
              <a:rPr lang="en">
                <a:solidFill>
                  <a:schemeClr val="accent6"/>
                </a:solidFill>
              </a:rPr>
              <a:t>	   [x]</a:t>
            </a:r>
            <a:r>
              <a:rPr baseline="-25000" lang="en">
                <a:solidFill>
                  <a:schemeClr val="accent6"/>
                </a:solidFill>
              </a:rPr>
              <a:t>B</a:t>
            </a:r>
            <a:r>
              <a:rPr lang="en">
                <a:solidFill>
                  <a:schemeClr val="accent6"/>
                </a:solidFill>
              </a:rPr>
              <a:t>  = 3			     [x]</a:t>
            </a:r>
            <a:r>
              <a:rPr baseline="-25000" lang="en">
                <a:solidFill>
                  <a:schemeClr val="accent6"/>
                </a:solidFill>
              </a:rPr>
              <a:t>C</a:t>
            </a:r>
            <a:r>
              <a:rPr lang="en">
                <a:solidFill>
                  <a:schemeClr val="accent6"/>
                </a:solidFill>
              </a:rPr>
              <a:t>  = 2</a:t>
            </a:r>
            <a:br>
              <a:rPr lang="en">
                <a:solidFill>
                  <a:schemeClr val="accent6"/>
                </a:solidFill>
              </a:rPr>
            </a:br>
            <a:r>
              <a:rPr lang="en">
                <a:solidFill>
                  <a:schemeClr val="accent6"/>
                </a:solidFill>
              </a:rPr>
              <a:t>						</a:t>
            </a:r>
            <a:r>
              <a:rPr lang="en">
                <a:solidFill>
                  <a:schemeClr val="accent4"/>
                </a:solidFill>
              </a:rPr>
              <a:t>[y]</a:t>
            </a:r>
            <a:r>
              <a:rPr baseline="-25000" lang="en">
                <a:solidFill>
                  <a:schemeClr val="accent4"/>
                </a:solidFill>
              </a:rPr>
              <a:t>A</a:t>
            </a:r>
            <a:r>
              <a:rPr lang="en">
                <a:solidFill>
                  <a:schemeClr val="accent4"/>
                </a:solidFill>
              </a:rPr>
              <a:t>  =  2				   [y]</a:t>
            </a:r>
            <a:r>
              <a:rPr baseline="-25000" lang="en">
                <a:solidFill>
                  <a:schemeClr val="accent4"/>
                </a:solidFill>
              </a:rPr>
              <a:t>B</a:t>
            </a:r>
            <a:r>
              <a:rPr lang="en">
                <a:solidFill>
                  <a:schemeClr val="accent4"/>
                </a:solidFill>
              </a:rPr>
              <a:t>  = 2			     [y]</a:t>
            </a:r>
            <a:r>
              <a:rPr baseline="-25000" lang="en">
                <a:solidFill>
                  <a:schemeClr val="accent4"/>
                </a:solidFill>
              </a:rPr>
              <a:t>C</a:t>
            </a:r>
            <a:r>
              <a:rPr lang="en">
                <a:solidFill>
                  <a:schemeClr val="accent4"/>
                </a:solidFill>
              </a:rPr>
              <a:t>  = 0						</a:t>
            </a:r>
            <a:r>
              <a:rPr lang="en">
                <a:solidFill>
                  <a:srgbClr val="B6D7A8"/>
                </a:solidFill>
              </a:rPr>
              <a:t>[a]</a:t>
            </a:r>
            <a:r>
              <a:rPr baseline="-25000" lang="en">
                <a:solidFill>
                  <a:srgbClr val="B6D7A8"/>
                </a:solidFill>
              </a:rPr>
              <a:t>A</a:t>
            </a:r>
            <a:r>
              <a:rPr lang="en">
                <a:solidFill>
                  <a:srgbClr val="B6D7A8"/>
                </a:solidFill>
              </a:rPr>
              <a:t>  =  0				   [a]</a:t>
            </a:r>
            <a:r>
              <a:rPr baseline="-25000" lang="en">
                <a:solidFill>
                  <a:srgbClr val="B6D7A8"/>
                </a:solidFill>
              </a:rPr>
              <a:t>B</a:t>
            </a:r>
            <a:r>
              <a:rPr lang="en">
                <a:solidFill>
                  <a:srgbClr val="B6D7A8"/>
                </a:solidFill>
              </a:rPr>
              <a:t>  =  4			     [a]</a:t>
            </a:r>
            <a:r>
              <a:rPr baseline="-25000" lang="en">
                <a:solidFill>
                  <a:srgbClr val="B6D7A8"/>
                </a:solidFill>
              </a:rPr>
              <a:t>C</a:t>
            </a:r>
            <a:r>
              <a:rPr lang="en">
                <a:solidFill>
                  <a:srgbClr val="B6D7A8"/>
                </a:solidFill>
              </a:rPr>
              <a:t>  =  4						</a:t>
            </a:r>
            <a:r>
              <a:rPr lang="en">
                <a:solidFill>
                  <a:srgbClr val="B4A7D6"/>
                </a:solidFill>
              </a:rPr>
              <a:t>[b]</a:t>
            </a:r>
            <a:r>
              <a:rPr baseline="-25000" lang="en">
                <a:solidFill>
                  <a:srgbClr val="B4A7D6"/>
                </a:solidFill>
              </a:rPr>
              <a:t>A</a:t>
            </a:r>
            <a:r>
              <a:rPr lang="en">
                <a:solidFill>
                  <a:srgbClr val="B4A7D6"/>
                </a:solidFill>
              </a:rPr>
              <a:t>  =  1				   [b]</a:t>
            </a:r>
            <a:r>
              <a:rPr baseline="-25000" lang="en">
                <a:solidFill>
                  <a:srgbClr val="B4A7D6"/>
                </a:solidFill>
              </a:rPr>
              <a:t>B</a:t>
            </a:r>
            <a:r>
              <a:rPr lang="en">
                <a:solidFill>
                  <a:srgbClr val="B4A7D6"/>
                </a:solidFill>
              </a:rPr>
              <a:t>  =  1			     [b]</a:t>
            </a:r>
            <a:r>
              <a:rPr baseline="-25000" lang="en">
                <a:solidFill>
                  <a:srgbClr val="B4A7D6"/>
                </a:solidFill>
              </a:rPr>
              <a:t>C</a:t>
            </a:r>
            <a:r>
              <a:rPr lang="en">
                <a:solidFill>
                  <a:srgbClr val="B4A7D6"/>
                </a:solidFill>
              </a:rPr>
              <a:t>  =  0</a:t>
            </a:r>
            <a:r>
              <a:rPr lang="en">
                <a:solidFill>
                  <a:schemeClr val="accent2"/>
                </a:solidFill>
              </a:rPr>
              <a:t>						</a:t>
            </a:r>
            <a:r>
              <a:rPr lang="en">
                <a:solidFill>
                  <a:srgbClr val="9FC5E8"/>
                </a:solidFill>
              </a:rPr>
              <a:t>[c]</a:t>
            </a:r>
            <a:r>
              <a:rPr baseline="-25000" lang="en">
                <a:solidFill>
                  <a:srgbClr val="9FC5E8"/>
                </a:solidFill>
              </a:rPr>
              <a:t>A</a:t>
            </a:r>
            <a:r>
              <a:rPr lang="en">
                <a:solidFill>
                  <a:srgbClr val="9FC5E8"/>
                </a:solidFill>
              </a:rPr>
              <a:t>  =  4				   [c]</a:t>
            </a:r>
            <a:r>
              <a:rPr baseline="-25000" lang="en">
                <a:solidFill>
                  <a:srgbClr val="9FC5E8"/>
                </a:solidFill>
              </a:rPr>
              <a:t>B</a:t>
            </a:r>
            <a:r>
              <a:rPr lang="en">
                <a:solidFill>
                  <a:srgbClr val="9FC5E8"/>
                </a:solidFill>
              </a:rPr>
              <a:t>  =  0			     [c]</a:t>
            </a:r>
            <a:r>
              <a:rPr baseline="-25000" lang="en">
                <a:solidFill>
                  <a:srgbClr val="9FC5E8"/>
                </a:solidFill>
              </a:rPr>
              <a:t>C</a:t>
            </a:r>
            <a:r>
              <a:rPr lang="en">
                <a:solidFill>
                  <a:srgbClr val="9FC5E8"/>
                </a:solidFill>
              </a:rPr>
              <a:t>  =  2</a:t>
            </a:r>
            <a:endParaRPr>
              <a:solidFill>
                <a:srgbClr val="9FC5E8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>
              <a:solidFill>
                <a:schemeClr val="accent2"/>
              </a:solidFill>
            </a:endParaRPr>
          </a:p>
        </p:txBody>
      </p:sp>
      <p:pic>
        <p:nvPicPr>
          <p:cNvPr id="790" name="Google Shape;790;p6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02696" y="1106363"/>
            <a:ext cx="554130" cy="554131"/>
          </a:xfrm>
          <a:prstGeom prst="rect">
            <a:avLst/>
          </a:prstGeom>
          <a:noFill/>
          <a:ln>
            <a:noFill/>
          </a:ln>
        </p:spPr>
      </p:pic>
      <p:sp>
        <p:nvSpPr>
          <p:cNvPr id="791" name="Google Shape;791;p62"/>
          <p:cNvSpPr txBox="1"/>
          <p:nvPr/>
        </p:nvSpPr>
        <p:spPr>
          <a:xfrm>
            <a:off x="3048138" y="598475"/>
            <a:ext cx="867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Alice</a:t>
            </a:r>
            <a:endParaRPr>
              <a:solidFill>
                <a:schemeClr val="accent6"/>
              </a:solidFill>
            </a:endParaRPr>
          </a:p>
        </p:txBody>
      </p:sp>
      <p:sp>
        <p:nvSpPr>
          <p:cNvPr id="792" name="Google Shape;792;p62"/>
          <p:cNvSpPr txBox="1"/>
          <p:nvPr/>
        </p:nvSpPr>
        <p:spPr>
          <a:xfrm>
            <a:off x="5540400" y="614325"/>
            <a:ext cx="867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Bob</a:t>
            </a:r>
            <a:br>
              <a:rPr lang="en">
                <a:solidFill>
                  <a:schemeClr val="dk1"/>
                </a:solidFill>
              </a:rPr>
            </a:br>
            <a:r>
              <a:rPr lang="en">
                <a:solidFill>
                  <a:schemeClr val="accent6"/>
                </a:solidFill>
              </a:rPr>
              <a:t>x = 2</a:t>
            </a:r>
            <a:endParaRPr>
              <a:solidFill>
                <a:schemeClr val="accent6"/>
              </a:solidFill>
            </a:endParaRPr>
          </a:p>
        </p:txBody>
      </p:sp>
      <p:pic>
        <p:nvPicPr>
          <p:cNvPr id="793" name="Google Shape;793;p6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107500" y="1106374"/>
            <a:ext cx="554125" cy="554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94" name="Google Shape;794;p6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697150" y="1106368"/>
            <a:ext cx="554130" cy="554131"/>
          </a:xfrm>
          <a:prstGeom prst="rect">
            <a:avLst/>
          </a:prstGeom>
          <a:noFill/>
          <a:ln>
            <a:noFill/>
          </a:ln>
        </p:spPr>
      </p:pic>
      <p:sp>
        <p:nvSpPr>
          <p:cNvPr id="795" name="Google Shape;795;p62"/>
          <p:cNvSpPr txBox="1"/>
          <p:nvPr/>
        </p:nvSpPr>
        <p:spPr>
          <a:xfrm>
            <a:off x="7941075" y="614325"/>
            <a:ext cx="867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Carlos</a:t>
            </a:r>
            <a:br>
              <a:rPr lang="en">
                <a:solidFill>
                  <a:schemeClr val="dk1"/>
                </a:solidFill>
              </a:rPr>
            </a:br>
            <a:r>
              <a:rPr lang="en">
                <a:solidFill>
                  <a:schemeClr val="accent4"/>
                </a:solidFill>
              </a:rPr>
              <a:t>y = 4</a:t>
            </a:r>
            <a:endParaRPr b="1">
              <a:solidFill>
                <a:schemeClr val="accent4"/>
              </a:solidFill>
            </a:endParaRPr>
          </a:p>
        </p:txBody>
      </p:sp>
      <p:sp>
        <p:nvSpPr>
          <p:cNvPr id="796" name="Google Shape;796;p62"/>
          <p:cNvSpPr txBox="1"/>
          <p:nvPr/>
        </p:nvSpPr>
        <p:spPr>
          <a:xfrm>
            <a:off x="451500" y="1561700"/>
            <a:ext cx="1948200" cy="190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</a:rPr>
              <a:t>Suppose we already have a sharing of  &lt;a,b,c&gt; such that </a:t>
            </a:r>
            <a:br>
              <a:rPr lang="en">
                <a:solidFill>
                  <a:schemeClr val="accent2"/>
                </a:solidFill>
              </a:rPr>
            </a:br>
            <a:r>
              <a:rPr lang="en">
                <a:solidFill>
                  <a:schemeClr val="accent2"/>
                </a:solidFill>
              </a:rPr>
              <a:t>a*b = c</a:t>
            </a:r>
            <a:endParaRPr>
              <a:solidFill>
                <a:schemeClr val="accent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6D7A8"/>
                </a:solidFill>
              </a:rPr>
              <a:t>a = 3</a:t>
            </a:r>
            <a:endParaRPr>
              <a:solidFill>
                <a:srgbClr val="B6D7A8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4A7D6"/>
                </a:solidFill>
              </a:rPr>
              <a:t>b = 2</a:t>
            </a:r>
            <a:endParaRPr>
              <a:solidFill>
                <a:srgbClr val="B4A7D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9FC5E8"/>
                </a:solidFill>
              </a:rPr>
              <a:t>c = 1 = 3*2</a:t>
            </a:r>
            <a:endParaRPr>
              <a:solidFill>
                <a:srgbClr val="9FC5E8"/>
              </a:solidFill>
            </a:endParaRPr>
          </a:p>
        </p:txBody>
      </p:sp>
      <p:pic>
        <p:nvPicPr>
          <p:cNvPr id="797" name="Google Shape;797;p6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19175" y="1026850"/>
            <a:ext cx="554125" cy="554125"/>
          </a:xfrm>
          <a:prstGeom prst="rect">
            <a:avLst/>
          </a:prstGeom>
          <a:noFill/>
          <a:ln>
            <a:noFill/>
          </a:ln>
        </p:spPr>
      </p:pic>
      <p:sp>
        <p:nvSpPr>
          <p:cNvPr id="798" name="Google Shape;798;p62"/>
          <p:cNvSpPr txBox="1"/>
          <p:nvPr>
            <p:ph idx="1" type="body"/>
          </p:nvPr>
        </p:nvSpPr>
        <p:spPr>
          <a:xfrm>
            <a:off x="311700" y="3524125"/>
            <a:ext cx="8520600" cy="146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"/>
              <a:t>Observe the following: x * y = (x + a - a)*(y + b - b)			(add 0)</a:t>
            </a:r>
            <a:br>
              <a:rPr lang="en"/>
            </a:br>
            <a:r>
              <a:rPr lang="en"/>
              <a:t>						 = (d - a)(e - b)					(let d=x+a, e=y+b)</a:t>
            </a:r>
            <a:br>
              <a:rPr lang="en"/>
            </a:br>
            <a:r>
              <a:rPr lang="en"/>
              <a:t>						 = de - db - ea + ab				(FOIL)</a:t>
            </a:r>
            <a:br>
              <a:rPr lang="en"/>
            </a:br>
            <a:r>
              <a:rPr lang="en"/>
              <a:t>						 = de - db - ea + c					(c = ab)</a:t>
            </a:r>
            <a:endParaRPr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2" name="Shape 8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3" name="Google Shape;803;p63"/>
          <p:cNvSpPr txBox="1"/>
          <p:nvPr>
            <p:ph type="title"/>
          </p:nvPr>
        </p:nvSpPr>
        <p:spPr>
          <a:xfrm>
            <a:off x="0" y="0"/>
            <a:ext cx="914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Quick intro to multiplication</a:t>
            </a:r>
            <a:endParaRPr/>
          </a:p>
        </p:txBody>
      </p:sp>
      <p:sp>
        <p:nvSpPr>
          <p:cNvPr id="804" name="Google Shape;804;p63"/>
          <p:cNvSpPr txBox="1"/>
          <p:nvPr>
            <p:ph idx="1" type="body"/>
          </p:nvPr>
        </p:nvSpPr>
        <p:spPr>
          <a:xfrm>
            <a:off x="305850" y="1660500"/>
            <a:ext cx="8859300" cy="288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						</a:t>
            </a:r>
            <a:r>
              <a:rPr lang="en">
                <a:solidFill>
                  <a:schemeClr val="accent6"/>
                </a:solidFill>
              </a:rPr>
              <a:t>[x]</a:t>
            </a:r>
            <a:r>
              <a:rPr baseline="-25000" lang="en">
                <a:solidFill>
                  <a:schemeClr val="accent6"/>
                </a:solidFill>
              </a:rPr>
              <a:t>A</a:t>
            </a:r>
            <a:r>
              <a:rPr lang="en">
                <a:solidFill>
                  <a:schemeClr val="accent6"/>
                </a:solidFill>
              </a:rPr>
              <a:t>  =  2		</a:t>
            </a:r>
            <a:r>
              <a:rPr lang="en">
                <a:solidFill>
                  <a:schemeClr val="accent5"/>
                </a:solidFill>
              </a:rPr>
              <a:t>	</a:t>
            </a:r>
            <a:r>
              <a:rPr lang="en">
                <a:solidFill>
                  <a:schemeClr val="accent6"/>
                </a:solidFill>
              </a:rPr>
              <a:t>	   [x]</a:t>
            </a:r>
            <a:r>
              <a:rPr baseline="-25000" lang="en">
                <a:solidFill>
                  <a:schemeClr val="accent6"/>
                </a:solidFill>
              </a:rPr>
              <a:t>B</a:t>
            </a:r>
            <a:r>
              <a:rPr lang="en">
                <a:solidFill>
                  <a:schemeClr val="accent6"/>
                </a:solidFill>
              </a:rPr>
              <a:t>  = 3			     [x]</a:t>
            </a:r>
            <a:r>
              <a:rPr baseline="-25000" lang="en">
                <a:solidFill>
                  <a:schemeClr val="accent6"/>
                </a:solidFill>
              </a:rPr>
              <a:t>C</a:t>
            </a:r>
            <a:r>
              <a:rPr lang="en">
                <a:solidFill>
                  <a:schemeClr val="accent6"/>
                </a:solidFill>
              </a:rPr>
              <a:t>  = 2</a:t>
            </a:r>
            <a:br>
              <a:rPr lang="en">
                <a:solidFill>
                  <a:schemeClr val="accent6"/>
                </a:solidFill>
              </a:rPr>
            </a:br>
            <a:r>
              <a:rPr lang="en">
                <a:solidFill>
                  <a:schemeClr val="accent6"/>
                </a:solidFill>
              </a:rPr>
              <a:t>						</a:t>
            </a:r>
            <a:r>
              <a:rPr lang="en">
                <a:solidFill>
                  <a:schemeClr val="accent4"/>
                </a:solidFill>
              </a:rPr>
              <a:t>[y]</a:t>
            </a:r>
            <a:r>
              <a:rPr baseline="-25000" lang="en">
                <a:solidFill>
                  <a:schemeClr val="accent4"/>
                </a:solidFill>
              </a:rPr>
              <a:t>A</a:t>
            </a:r>
            <a:r>
              <a:rPr lang="en">
                <a:solidFill>
                  <a:schemeClr val="accent4"/>
                </a:solidFill>
              </a:rPr>
              <a:t>  =  2				   [y]</a:t>
            </a:r>
            <a:r>
              <a:rPr baseline="-25000" lang="en">
                <a:solidFill>
                  <a:schemeClr val="accent4"/>
                </a:solidFill>
              </a:rPr>
              <a:t>B</a:t>
            </a:r>
            <a:r>
              <a:rPr lang="en">
                <a:solidFill>
                  <a:schemeClr val="accent4"/>
                </a:solidFill>
              </a:rPr>
              <a:t>  = 2			     [y]</a:t>
            </a:r>
            <a:r>
              <a:rPr baseline="-25000" lang="en">
                <a:solidFill>
                  <a:schemeClr val="accent4"/>
                </a:solidFill>
              </a:rPr>
              <a:t>C</a:t>
            </a:r>
            <a:r>
              <a:rPr lang="en">
                <a:solidFill>
                  <a:schemeClr val="accent4"/>
                </a:solidFill>
              </a:rPr>
              <a:t>  = 0						</a:t>
            </a:r>
            <a:r>
              <a:rPr lang="en">
                <a:solidFill>
                  <a:srgbClr val="B6D7A8"/>
                </a:solidFill>
              </a:rPr>
              <a:t>[a]</a:t>
            </a:r>
            <a:r>
              <a:rPr baseline="-25000" lang="en">
                <a:solidFill>
                  <a:srgbClr val="B6D7A8"/>
                </a:solidFill>
              </a:rPr>
              <a:t>A</a:t>
            </a:r>
            <a:r>
              <a:rPr lang="en">
                <a:solidFill>
                  <a:srgbClr val="B6D7A8"/>
                </a:solidFill>
              </a:rPr>
              <a:t>  =  0				   [a]</a:t>
            </a:r>
            <a:r>
              <a:rPr baseline="-25000" lang="en">
                <a:solidFill>
                  <a:srgbClr val="B6D7A8"/>
                </a:solidFill>
              </a:rPr>
              <a:t>B</a:t>
            </a:r>
            <a:r>
              <a:rPr lang="en">
                <a:solidFill>
                  <a:srgbClr val="B6D7A8"/>
                </a:solidFill>
              </a:rPr>
              <a:t>  =  4			     [a]</a:t>
            </a:r>
            <a:r>
              <a:rPr baseline="-25000" lang="en">
                <a:solidFill>
                  <a:srgbClr val="B6D7A8"/>
                </a:solidFill>
              </a:rPr>
              <a:t>C</a:t>
            </a:r>
            <a:r>
              <a:rPr lang="en">
                <a:solidFill>
                  <a:srgbClr val="B6D7A8"/>
                </a:solidFill>
              </a:rPr>
              <a:t>  =  4						</a:t>
            </a:r>
            <a:r>
              <a:rPr lang="en">
                <a:solidFill>
                  <a:srgbClr val="B4A7D6"/>
                </a:solidFill>
              </a:rPr>
              <a:t>[b]</a:t>
            </a:r>
            <a:r>
              <a:rPr baseline="-25000" lang="en">
                <a:solidFill>
                  <a:srgbClr val="B4A7D6"/>
                </a:solidFill>
              </a:rPr>
              <a:t>A</a:t>
            </a:r>
            <a:r>
              <a:rPr lang="en">
                <a:solidFill>
                  <a:srgbClr val="B4A7D6"/>
                </a:solidFill>
              </a:rPr>
              <a:t>  =  1				   [b]</a:t>
            </a:r>
            <a:r>
              <a:rPr baseline="-25000" lang="en">
                <a:solidFill>
                  <a:srgbClr val="B4A7D6"/>
                </a:solidFill>
              </a:rPr>
              <a:t>B</a:t>
            </a:r>
            <a:r>
              <a:rPr lang="en">
                <a:solidFill>
                  <a:srgbClr val="B4A7D6"/>
                </a:solidFill>
              </a:rPr>
              <a:t>  =  1			     [b]</a:t>
            </a:r>
            <a:r>
              <a:rPr baseline="-25000" lang="en">
                <a:solidFill>
                  <a:srgbClr val="B4A7D6"/>
                </a:solidFill>
              </a:rPr>
              <a:t>C</a:t>
            </a:r>
            <a:r>
              <a:rPr lang="en">
                <a:solidFill>
                  <a:srgbClr val="B4A7D6"/>
                </a:solidFill>
              </a:rPr>
              <a:t>  =  0</a:t>
            </a:r>
            <a:r>
              <a:rPr lang="en">
                <a:solidFill>
                  <a:schemeClr val="accent2"/>
                </a:solidFill>
              </a:rPr>
              <a:t>						</a:t>
            </a:r>
            <a:r>
              <a:rPr lang="en">
                <a:solidFill>
                  <a:srgbClr val="9FC5E8"/>
                </a:solidFill>
              </a:rPr>
              <a:t>[c]</a:t>
            </a:r>
            <a:r>
              <a:rPr baseline="-25000" lang="en">
                <a:solidFill>
                  <a:srgbClr val="9FC5E8"/>
                </a:solidFill>
              </a:rPr>
              <a:t>A</a:t>
            </a:r>
            <a:r>
              <a:rPr lang="en">
                <a:solidFill>
                  <a:srgbClr val="9FC5E8"/>
                </a:solidFill>
              </a:rPr>
              <a:t>  =  4				   [c]</a:t>
            </a:r>
            <a:r>
              <a:rPr baseline="-25000" lang="en">
                <a:solidFill>
                  <a:srgbClr val="9FC5E8"/>
                </a:solidFill>
              </a:rPr>
              <a:t>B</a:t>
            </a:r>
            <a:r>
              <a:rPr lang="en">
                <a:solidFill>
                  <a:srgbClr val="9FC5E8"/>
                </a:solidFill>
              </a:rPr>
              <a:t>  =  0			     [c]</a:t>
            </a:r>
            <a:r>
              <a:rPr baseline="-25000" lang="en">
                <a:solidFill>
                  <a:srgbClr val="9FC5E8"/>
                </a:solidFill>
              </a:rPr>
              <a:t>C</a:t>
            </a:r>
            <a:r>
              <a:rPr lang="en">
                <a:solidFill>
                  <a:srgbClr val="9FC5E8"/>
                </a:solidFill>
              </a:rPr>
              <a:t>  =  2</a:t>
            </a:r>
            <a:endParaRPr>
              <a:solidFill>
                <a:srgbClr val="9FC5E8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>
              <a:solidFill>
                <a:schemeClr val="accent2"/>
              </a:solidFill>
            </a:endParaRPr>
          </a:p>
        </p:txBody>
      </p:sp>
      <p:pic>
        <p:nvPicPr>
          <p:cNvPr id="805" name="Google Shape;805;p6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02696" y="1106363"/>
            <a:ext cx="554130" cy="554131"/>
          </a:xfrm>
          <a:prstGeom prst="rect">
            <a:avLst/>
          </a:prstGeom>
          <a:noFill/>
          <a:ln>
            <a:noFill/>
          </a:ln>
        </p:spPr>
      </p:pic>
      <p:sp>
        <p:nvSpPr>
          <p:cNvPr id="806" name="Google Shape;806;p63"/>
          <p:cNvSpPr txBox="1"/>
          <p:nvPr/>
        </p:nvSpPr>
        <p:spPr>
          <a:xfrm>
            <a:off x="3048138" y="598475"/>
            <a:ext cx="867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Alice</a:t>
            </a:r>
            <a:endParaRPr>
              <a:solidFill>
                <a:schemeClr val="accent6"/>
              </a:solidFill>
            </a:endParaRPr>
          </a:p>
        </p:txBody>
      </p:sp>
      <p:sp>
        <p:nvSpPr>
          <p:cNvPr id="807" name="Google Shape;807;p63"/>
          <p:cNvSpPr txBox="1"/>
          <p:nvPr/>
        </p:nvSpPr>
        <p:spPr>
          <a:xfrm>
            <a:off x="5540400" y="614325"/>
            <a:ext cx="867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Bob</a:t>
            </a:r>
            <a:br>
              <a:rPr lang="en">
                <a:solidFill>
                  <a:schemeClr val="dk1"/>
                </a:solidFill>
              </a:rPr>
            </a:br>
            <a:r>
              <a:rPr lang="en">
                <a:solidFill>
                  <a:schemeClr val="accent6"/>
                </a:solidFill>
              </a:rPr>
              <a:t>x = 2</a:t>
            </a:r>
            <a:endParaRPr>
              <a:solidFill>
                <a:schemeClr val="accent6"/>
              </a:solidFill>
            </a:endParaRPr>
          </a:p>
        </p:txBody>
      </p:sp>
      <p:pic>
        <p:nvPicPr>
          <p:cNvPr id="808" name="Google Shape;808;p6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107500" y="1106374"/>
            <a:ext cx="554125" cy="554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09" name="Google Shape;809;p6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697150" y="1106368"/>
            <a:ext cx="554130" cy="554131"/>
          </a:xfrm>
          <a:prstGeom prst="rect">
            <a:avLst/>
          </a:prstGeom>
          <a:noFill/>
          <a:ln>
            <a:noFill/>
          </a:ln>
        </p:spPr>
      </p:pic>
      <p:sp>
        <p:nvSpPr>
          <p:cNvPr id="810" name="Google Shape;810;p63"/>
          <p:cNvSpPr txBox="1"/>
          <p:nvPr/>
        </p:nvSpPr>
        <p:spPr>
          <a:xfrm>
            <a:off x="7941075" y="614325"/>
            <a:ext cx="867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Carlos</a:t>
            </a:r>
            <a:br>
              <a:rPr lang="en">
                <a:solidFill>
                  <a:schemeClr val="dk1"/>
                </a:solidFill>
              </a:rPr>
            </a:br>
            <a:r>
              <a:rPr lang="en">
                <a:solidFill>
                  <a:schemeClr val="accent4"/>
                </a:solidFill>
              </a:rPr>
              <a:t>y = 4</a:t>
            </a:r>
            <a:endParaRPr b="1">
              <a:solidFill>
                <a:schemeClr val="accent4"/>
              </a:solidFill>
            </a:endParaRPr>
          </a:p>
        </p:txBody>
      </p:sp>
      <p:sp>
        <p:nvSpPr>
          <p:cNvPr id="811" name="Google Shape;811;p63"/>
          <p:cNvSpPr txBox="1"/>
          <p:nvPr/>
        </p:nvSpPr>
        <p:spPr>
          <a:xfrm>
            <a:off x="451500" y="1561700"/>
            <a:ext cx="1948200" cy="190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</a:rPr>
              <a:t>Suppose we already have a sharing of  &lt;a,b,c&gt; such that </a:t>
            </a:r>
            <a:br>
              <a:rPr lang="en">
                <a:solidFill>
                  <a:schemeClr val="accent2"/>
                </a:solidFill>
              </a:rPr>
            </a:br>
            <a:r>
              <a:rPr lang="en">
                <a:solidFill>
                  <a:schemeClr val="accent2"/>
                </a:solidFill>
              </a:rPr>
              <a:t>a*b = c</a:t>
            </a:r>
            <a:endParaRPr>
              <a:solidFill>
                <a:schemeClr val="accent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6D7A8"/>
                </a:solidFill>
              </a:rPr>
              <a:t>a = 3</a:t>
            </a:r>
            <a:endParaRPr>
              <a:solidFill>
                <a:srgbClr val="B6D7A8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4A7D6"/>
                </a:solidFill>
              </a:rPr>
              <a:t>b = 2</a:t>
            </a:r>
            <a:endParaRPr>
              <a:solidFill>
                <a:srgbClr val="B4A7D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9FC5E8"/>
                </a:solidFill>
              </a:rPr>
              <a:t>c = 1 = 3*2</a:t>
            </a:r>
            <a:endParaRPr>
              <a:solidFill>
                <a:srgbClr val="9FC5E8"/>
              </a:solidFill>
            </a:endParaRPr>
          </a:p>
        </p:txBody>
      </p:sp>
      <p:pic>
        <p:nvPicPr>
          <p:cNvPr id="812" name="Google Shape;812;p6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19175" y="1026850"/>
            <a:ext cx="554125" cy="554125"/>
          </a:xfrm>
          <a:prstGeom prst="rect">
            <a:avLst/>
          </a:prstGeom>
          <a:noFill/>
          <a:ln>
            <a:noFill/>
          </a:ln>
        </p:spPr>
      </p:pic>
      <p:sp>
        <p:nvSpPr>
          <p:cNvPr id="813" name="Google Shape;813;p63"/>
          <p:cNvSpPr txBox="1"/>
          <p:nvPr>
            <p:ph idx="1" type="body"/>
          </p:nvPr>
        </p:nvSpPr>
        <p:spPr>
          <a:xfrm>
            <a:off x="311700" y="3379300"/>
            <a:ext cx="8520600" cy="16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 have: </a:t>
            </a:r>
            <a:r>
              <a:rPr lang="en"/>
              <a:t>x * y = de - db - ea + c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So, to compute [x * y], </a:t>
            </a:r>
            <a:r>
              <a:rPr b="1" lang="en"/>
              <a:t>reconstruct</a:t>
            </a:r>
            <a:r>
              <a:rPr lang="en"/>
              <a:t> d = x+a and e = y+b (by revealing all [d], [e])</a:t>
            </a:r>
            <a:br>
              <a:rPr lang="en"/>
            </a:br>
            <a:r>
              <a:rPr lang="en"/>
              <a:t>Then compute: [x * y] = de - d[b] - e[a] + [c]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n"/>
              <a:t>This requires </a:t>
            </a:r>
            <a:r>
              <a:rPr b="1" lang="en"/>
              <a:t>communicating</a:t>
            </a:r>
            <a:r>
              <a:rPr lang="en"/>
              <a:t> two elements. (i.e. * is “more expensive” than +.)</a:t>
            </a:r>
            <a:endParaRPr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7" name="Shape 8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8" name="Google Shape;818;p64"/>
          <p:cNvSpPr txBox="1"/>
          <p:nvPr>
            <p:ph type="title"/>
          </p:nvPr>
        </p:nvSpPr>
        <p:spPr>
          <a:xfrm>
            <a:off x="0" y="0"/>
            <a:ext cx="914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to expect on Thursday</a:t>
            </a:r>
            <a:endParaRPr/>
          </a:p>
        </p:txBody>
      </p:sp>
      <p:sp>
        <p:nvSpPr>
          <p:cNvPr id="819" name="Google Shape;819;p64"/>
          <p:cNvSpPr txBox="1"/>
          <p:nvPr>
            <p:ph idx="1" type="body"/>
          </p:nvPr>
        </p:nvSpPr>
        <p:spPr>
          <a:xfrm>
            <a:off x="311700" y="822075"/>
            <a:ext cx="8520600" cy="416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 will be using a fork of an educational MPC system called tinysmpc</a:t>
            </a:r>
            <a:br>
              <a:rPr lang="en"/>
            </a:br>
            <a:r>
              <a:rPr lang="en"/>
              <a:t>	Original: </a:t>
            </a:r>
            <a:r>
              <a:rPr lang="en" u="sng">
                <a:solidFill>
                  <a:schemeClr val="hlink"/>
                </a:solidFill>
                <a:hlinkClick r:id="rId3"/>
              </a:rPr>
              <a:t>https://github.com/kennysong/tinysmpc</a:t>
            </a:r>
            <a:r>
              <a:rPr lang="en"/>
              <a:t> </a:t>
            </a:r>
            <a:br>
              <a:rPr lang="en"/>
            </a:br>
            <a:r>
              <a:rPr lang="en"/>
              <a:t>	Fork (has &gt; implemented): </a:t>
            </a:r>
            <a:r>
              <a:rPr lang="en" u="sng">
                <a:solidFill>
                  <a:schemeClr val="hlink"/>
                </a:solidFill>
                <a:hlinkClick r:id="rId4"/>
              </a:rPr>
              <a:t>https://github.com/sarahscheffler/tinysmpc</a:t>
            </a:r>
            <a:r>
              <a:rPr lang="en"/>
              <a:t> 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Ideally, come with an idea of something cool to implement using only +, -, *, &gt;.</a:t>
            </a:r>
            <a:br>
              <a:rPr lang="en"/>
            </a:br>
            <a:r>
              <a:rPr lang="en"/>
              <a:t>But if your idea requires more work, we’ll try it anyway.</a:t>
            </a:r>
            <a:br>
              <a:rPr lang="en"/>
            </a:br>
            <a:r>
              <a:rPr lang="en"/>
              <a:t>And I will also have some sample projects to work on to just learn the ropes.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br>
              <a:rPr lang="en"/>
            </a:br>
            <a:endParaRPr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3" name="Shape 8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4" name="Google Shape;824;p65"/>
          <p:cNvSpPr txBox="1"/>
          <p:nvPr>
            <p:ph type="title"/>
          </p:nvPr>
        </p:nvSpPr>
        <p:spPr>
          <a:xfrm>
            <a:off x="0" y="0"/>
            <a:ext cx="914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Other MPC frameworks</a:t>
            </a:r>
            <a:endParaRPr/>
          </a:p>
        </p:txBody>
      </p:sp>
      <p:sp>
        <p:nvSpPr>
          <p:cNvPr id="825" name="Google Shape;825;p65"/>
          <p:cNvSpPr txBox="1"/>
          <p:nvPr>
            <p:ph idx="1" type="body"/>
          </p:nvPr>
        </p:nvSpPr>
        <p:spPr>
          <a:xfrm>
            <a:off x="311700" y="822075"/>
            <a:ext cx="8520600" cy="416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Other MPC frameworks with “</a:t>
            </a:r>
            <a:r>
              <a:rPr lang="en"/>
              <a:t>real” security (will also be on resource doc):</a:t>
            </a:r>
            <a:endParaRPr/>
          </a:p>
          <a:p>
            <a:pPr indent="-342900" lvl="0" marL="457200" rtl="0" algn="l">
              <a:spcBef>
                <a:spcPts val="1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Emp-toolkit (malicious-secure C++ garbled circuits)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Jiff (semi-honest Javascript secret sharing)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SCALE-MAMBA (malicious-secure C++... everything)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… and many more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n"/>
              <a:t>Great list at </a:t>
            </a:r>
            <a:r>
              <a:rPr lang="en" u="sng">
                <a:solidFill>
                  <a:schemeClr val="hlink"/>
                </a:solidFill>
                <a:hlinkClick r:id="rId3"/>
              </a:rPr>
              <a:t>https://github.com/rdragos/awesome-mpc</a:t>
            </a:r>
            <a:r>
              <a:rPr lang="en"/>
              <a:t> </a:t>
            </a:r>
            <a:endParaRPr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9" name="Shape 8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0" name="Google Shape;830;p66"/>
          <p:cNvSpPr txBox="1"/>
          <p:nvPr>
            <p:ph type="title"/>
          </p:nvPr>
        </p:nvSpPr>
        <p:spPr>
          <a:xfrm>
            <a:off x="0" y="0"/>
            <a:ext cx="914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MPC Frameworks</a:t>
            </a:r>
            <a:endParaRPr/>
          </a:p>
        </p:txBody>
      </p:sp>
      <p:sp>
        <p:nvSpPr>
          <p:cNvPr id="831" name="Google Shape;831;p66"/>
          <p:cNvSpPr txBox="1"/>
          <p:nvPr>
            <p:ph idx="1" type="body"/>
          </p:nvPr>
        </p:nvSpPr>
        <p:spPr>
          <a:xfrm>
            <a:off x="311700" y="822075"/>
            <a:ext cx="8520600" cy="416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Secret-sharing based:</a:t>
            </a:r>
            <a:endParaRPr/>
          </a:p>
          <a:p>
            <a:pPr indent="-342900" lvl="0" marL="457200" rtl="0" algn="l">
              <a:spcBef>
                <a:spcPts val="1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Jiff (Javascript-based, DSL)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Garbled-circuit based:</a:t>
            </a:r>
            <a:endParaRPr/>
          </a:p>
          <a:p>
            <a:pPr indent="-342900" lvl="0" marL="457200" rtl="0" algn="l">
              <a:spcBef>
                <a:spcPts val="1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EMP-toolkit (C++ and uses circuits.  </a:t>
            </a:r>
            <a:r>
              <a:rPr b="1" lang="en"/>
              <a:t>Very</a:t>
            </a:r>
            <a:r>
              <a:rPr lang="en"/>
              <a:t> fast! </a:t>
            </a:r>
            <a:r>
              <a:rPr lang="en"/>
              <a:t>High-quality and actively maintained codebase!  My personal go-to for anything non-secret-sharing related)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A mix / other:</a:t>
            </a:r>
            <a:endParaRPr/>
          </a:p>
          <a:p>
            <a:pPr indent="-342900" lvl="0" marL="457200" rtl="0" algn="l">
              <a:spcBef>
                <a:spcPts val="1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SCALE-MAMBA (successor to SPDZ aka “speeds”, DSL or circuit)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More lists: awesome-mpc, MPC-SoK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5" name="Shape 8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6" name="Google Shape;836;p67"/>
          <p:cNvSpPr txBox="1"/>
          <p:nvPr>
            <p:ph type="title"/>
          </p:nvPr>
        </p:nvSpPr>
        <p:spPr>
          <a:xfrm>
            <a:off x="0" y="0"/>
            <a:ext cx="914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7" name="Google Shape;837;p67"/>
          <p:cNvSpPr txBox="1"/>
          <p:nvPr>
            <p:ph idx="1" type="body"/>
          </p:nvPr>
        </p:nvSpPr>
        <p:spPr>
          <a:xfrm>
            <a:off x="311700" y="822075"/>
            <a:ext cx="8520600" cy="416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838" name="Google Shape;838;p6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052946" y="2290931"/>
            <a:ext cx="554130" cy="554131"/>
          </a:xfrm>
          <a:prstGeom prst="rect">
            <a:avLst/>
          </a:prstGeom>
          <a:noFill/>
          <a:ln>
            <a:noFill/>
          </a:ln>
        </p:spPr>
      </p:pic>
      <p:pic>
        <p:nvPicPr>
          <p:cNvPr id="839" name="Google Shape;839;p6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91975" y="1961916"/>
            <a:ext cx="554130" cy="554131"/>
          </a:xfrm>
          <a:prstGeom prst="rect">
            <a:avLst/>
          </a:prstGeom>
          <a:noFill/>
          <a:ln>
            <a:noFill/>
          </a:ln>
        </p:spPr>
      </p:pic>
      <p:pic>
        <p:nvPicPr>
          <p:cNvPr id="840" name="Google Shape;840;p6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586971" y="3411963"/>
            <a:ext cx="554130" cy="554131"/>
          </a:xfrm>
          <a:prstGeom prst="rect">
            <a:avLst/>
          </a:prstGeom>
          <a:noFill/>
          <a:ln>
            <a:noFill/>
          </a:ln>
        </p:spPr>
      </p:pic>
      <p:pic>
        <p:nvPicPr>
          <p:cNvPr id="841" name="Google Shape;841;p6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583746" y="3411975"/>
            <a:ext cx="554125" cy="554132"/>
          </a:xfrm>
          <a:prstGeom prst="rect">
            <a:avLst/>
          </a:prstGeom>
          <a:noFill/>
          <a:ln>
            <a:noFill/>
          </a:ln>
        </p:spPr>
      </p:pic>
      <p:pic>
        <p:nvPicPr>
          <p:cNvPr id="842" name="Google Shape;842;p67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413175" y="3411974"/>
            <a:ext cx="554125" cy="554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43" name="Google Shape;843;p67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7291550" y="1154743"/>
            <a:ext cx="554130" cy="55413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Dark">
  <a:themeElements>
    <a:clrScheme name="Simple Dark">
      <a:dk1>
        <a:srgbClr val="FFFFFF"/>
      </a:dk1>
      <a:lt1>
        <a:srgbClr val="212121"/>
      </a:lt1>
      <a:dk2>
        <a:srgbClr val="303030"/>
      </a:dk2>
      <a:lt2>
        <a:srgbClr val="ADADAD"/>
      </a:lt2>
      <a:accent1>
        <a:srgbClr val="009688"/>
      </a:accent1>
      <a:accent2>
        <a:srgbClr val="EEEEEE"/>
      </a:accent2>
      <a:accent3>
        <a:srgbClr val="78909C"/>
      </a:accent3>
      <a:accent4>
        <a:srgbClr val="FFAB40"/>
      </a:accent4>
      <a:accent5>
        <a:srgbClr val="4DD0E1"/>
      </a:accent5>
      <a:accent6>
        <a:srgbClr val="EEFF41"/>
      </a:accent6>
      <a:hlink>
        <a:srgbClr val="4DD0E1"/>
      </a:hlink>
      <a:folHlink>
        <a:srgbClr val="4DD0E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